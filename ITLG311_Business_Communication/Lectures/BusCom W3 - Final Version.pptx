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79" r:id="rId2"/>
    <p:sldId id="258" r:id="rId3"/>
    <p:sldId id="276" r:id="rId4"/>
    <p:sldId id="259" r:id="rId5"/>
    <p:sldId id="257" r:id="rId6"/>
    <p:sldId id="260" r:id="rId7"/>
    <p:sldId id="281" r:id="rId8"/>
    <p:sldId id="290" r:id="rId9"/>
    <p:sldId id="282" r:id="rId10"/>
    <p:sldId id="263" r:id="rId11"/>
    <p:sldId id="289" r:id="rId12"/>
    <p:sldId id="305" r:id="rId13"/>
    <p:sldId id="265" r:id="rId14"/>
    <p:sldId id="266" r:id="rId15"/>
    <p:sldId id="267" r:id="rId16"/>
    <p:sldId id="268" r:id="rId17"/>
    <p:sldId id="306" r:id="rId18"/>
    <p:sldId id="271" r:id="rId19"/>
    <p:sldId id="272" r:id="rId20"/>
    <p:sldId id="273" r:id="rId21"/>
    <p:sldId id="286" r:id="rId22"/>
    <p:sldId id="287" r:id="rId23"/>
    <p:sldId id="288" r:id="rId24"/>
    <p:sldId id="291" r:id="rId25"/>
    <p:sldId id="277" r:id="rId26"/>
    <p:sldId id="275" r:id="rId27"/>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2" autoAdjust="0"/>
    <p:restoredTop sz="89673" autoAdjust="0"/>
  </p:normalViewPr>
  <p:slideViewPr>
    <p:cSldViewPr snapToGrid="0">
      <p:cViewPr varScale="1">
        <p:scale>
          <a:sx n="71" d="100"/>
          <a:sy n="71" d="100"/>
        </p:scale>
        <p:origin x="77"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20A1B539-8EC9-4ECD-809B-0D7D35D9AEB3}" type="datetimeFigureOut">
              <a:rPr lang="en-GB" smtClean="0"/>
              <a:t>17/08/2026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663AE00-3350-4EBE-914D-FCAF678A3391}" type="slidenum">
              <a:rPr lang="en-GB" smtClean="0"/>
              <a:t>‹#›</a:t>
            </a:fld>
            <a:endParaRPr lang="en-GB"/>
          </a:p>
        </p:txBody>
      </p:sp>
    </p:spTree>
    <p:extLst>
      <p:ext uri="{BB962C8B-B14F-4D97-AF65-F5344CB8AC3E}">
        <p14:creationId xmlns:p14="http://schemas.microsoft.com/office/powerpoint/2010/main" val="1140703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7:notes"/>
          <p:cNvSpPr txBox="1">
            <a:spLocks noGrp="1"/>
          </p:cNvSpPr>
          <p:nvPr>
            <p:ph type="body" idx="1"/>
          </p:nvPr>
        </p:nvSpPr>
        <p:spPr>
          <a:xfrm>
            <a:off x="983918" y="3505237"/>
            <a:ext cx="7871447" cy="3320765"/>
          </a:xfrm>
          <a:prstGeom prst="rect">
            <a:avLst/>
          </a:prstGeom>
          <a:noFill/>
          <a:ln>
            <a:noFill/>
          </a:ln>
        </p:spPr>
        <p:txBody>
          <a:bodyPr spcFirstLastPara="1" wrap="square" lIns="91405" tIns="91405" rIns="91405" bIns="91405" anchor="t" anchorCtr="0">
            <a:noAutofit/>
          </a:bodyPr>
          <a:lstStyle/>
          <a:p>
            <a:pPr marL="0" indent="0">
              <a:buNone/>
            </a:pPr>
            <a:endParaRPr/>
          </a:p>
        </p:txBody>
      </p:sp>
      <p:sp>
        <p:nvSpPr>
          <p:cNvPr id="60" name="Google Shape;60;p37:notes"/>
          <p:cNvSpPr>
            <a:spLocks noGrp="1" noRot="1" noChangeAspect="1"/>
          </p:cNvSpPr>
          <p:nvPr>
            <p:ph type="sldImg" idx="2"/>
          </p:nvPr>
        </p:nvSpPr>
        <p:spPr>
          <a:xfrm>
            <a:off x="2457450" y="550863"/>
            <a:ext cx="4924425" cy="27701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3181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8:notes"/>
          <p:cNvSpPr txBox="1">
            <a:spLocks noGrp="1"/>
          </p:cNvSpPr>
          <p:nvPr>
            <p:ph type="body" idx="1"/>
          </p:nvPr>
        </p:nvSpPr>
        <p:spPr>
          <a:xfrm>
            <a:off x="983918" y="3505237"/>
            <a:ext cx="7871447" cy="3320765"/>
          </a:xfrm>
          <a:prstGeom prst="rect">
            <a:avLst/>
          </a:prstGeom>
        </p:spPr>
        <p:txBody>
          <a:bodyPr spcFirstLastPara="1" wrap="square" lIns="91405" tIns="91405" rIns="91405" bIns="91405" anchor="t" anchorCtr="0">
            <a:noAutofit/>
          </a:bodyPr>
          <a:lstStyle/>
          <a:p>
            <a:pPr marL="0" indent="0">
              <a:buNone/>
            </a:pPr>
            <a:endParaRPr/>
          </a:p>
        </p:txBody>
      </p:sp>
      <p:sp>
        <p:nvSpPr>
          <p:cNvPr id="66" name="Google Shape;66;p38:notes"/>
          <p:cNvSpPr>
            <a:spLocks noGrp="1" noRot="1" noChangeAspect="1"/>
          </p:cNvSpPr>
          <p:nvPr>
            <p:ph type="sldImg" idx="2"/>
          </p:nvPr>
        </p:nvSpPr>
        <p:spPr>
          <a:xfrm>
            <a:off x="2457450" y="550863"/>
            <a:ext cx="4924425" cy="27701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6831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r>
              <a:rPr lang="en-US" b="1" dirty="0"/>
              <a:t>Bring back the Week 2 framework:</a:t>
            </a:r>
          </a:p>
          <a:p>
            <a:endParaRPr lang="en-US" b="1" dirty="0"/>
          </a:p>
          <a:p>
            <a:r>
              <a:rPr lang="en-US" b="1" dirty="0"/>
              <a:t>AUDIENCE</a:t>
            </a:r>
            <a:br>
              <a:rPr lang="en-US" dirty="0"/>
            </a:br>
            <a:r>
              <a:rPr lang="en-US" dirty="0"/>
              <a:t>Who am I communicating with?</a:t>
            </a:r>
          </a:p>
          <a:p>
            <a:endParaRPr lang="en-US" b="1" dirty="0"/>
          </a:p>
          <a:p>
            <a:r>
              <a:rPr lang="en-US" b="1" dirty="0"/>
              <a:t>PURPOSE</a:t>
            </a:r>
            <a:br>
              <a:rPr lang="en-US" dirty="0"/>
            </a:br>
            <a:r>
              <a:rPr lang="en-US" dirty="0"/>
              <a:t>Why am I communicating?</a:t>
            </a:r>
          </a:p>
          <a:p>
            <a:endParaRPr lang="en-US" b="1" dirty="0"/>
          </a:p>
          <a:p>
            <a:r>
              <a:rPr lang="en-US" b="1" dirty="0"/>
              <a:t>INFORMATION</a:t>
            </a:r>
            <a:br>
              <a:rPr lang="en-US" dirty="0"/>
            </a:br>
            <a:r>
              <a:rPr lang="en-US" dirty="0"/>
              <a:t>What does the reader need to know?</a:t>
            </a:r>
          </a:p>
          <a:p>
            <a:endParaRPr lang="en-US" b="1" dirty="0"/>
          </a:p>
          <a:p>
            <a:r>
              <a:rPr lang="en-US" b="1" dirty="0"/>
              <a:t>TONE</a:t>
            </a:r>
            <a:br>
              <a:rPr lang="en-US" dirty="0"/>
            </a:br>
            <a:r>
              <a:rPr lang="en-US" dirty="0"/>
              <a:t>How should I communicate it?</a:t>
            </a:r>
          </a:p>
          <a:p>
            <a:endParaRPr lang="en-US" b="1" dirty="0"/>
          </a:p>
          <a:p>
            <a:r>
              <a:rPr lang="en-US" b="1" dirty="0"/>
              <a:t>ACTION</a:t>
            </a:r>
            <a:br>
              <a:rPr lang="en-US" dirty="0"/>
            </a:br>
            <a:r>
              <a:rPr lang="en-US" dirty="0"/>
              <a:t>What should the reader do?</a:t>
            </a:r>
          </a:p>
          <a:p>
            <a:endParaRPr lang="en-US" dirty="0"/>
          </a:p>
          <a:p>
            <a:r>
              <a:rPr lang="en-US" dirty="0"/>
              <a:t>This is a direct continuation of Week 2, where you already taught audience, tone, function and internal/external messaging.</a:t>
            </a:r>
          </a:p>
          <a:p>
            <a:endParaRPr lang="en-US" dirty="0"/>
          </a:p>
        </p:txBody>
      </p:sp>
    </p:spTree>
    <p:extLst>
      <p:ext uri="{BB962C8B-B14F-4D97-AF65-F5344CB8AC3E}">
        <p14:creationId xmlns:p14="http://schemas.microsoft.com/office/powerpoint/2010/main" val="1702720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OK information,</a:t>
            </a:r>
            <a:r>
              <a:rPr lang="en-US" b="1" baseline="0" dirty="0"/>
              <a:t> but poorly formatted</a:t>
            </a:r>
          </a:p>
          <a:p>
            <a:endParaRPr lang="en-US" b="1" baseline="0" dirty="0"/>
          </a:p>
          <a:p>
            <a:r>
              <a:rPr lang="en-US" b="1" baseline="0" dirty="0"/>
              <a:t>Partially fixed</a:t>
            </a:r>
            <a:endParaRPr lang="en-GB" b="1" dirty="0"/>
          </a:p>
        </p:txBody>
      </p:sp>
      <p:sp>
        <p:nvSpPr>
          <p:cNvPr id="4" name="Slide Number Placeholder 3"/>
          <p:cNvSpPr>
            <a:spLocks noGrp="1"/>
          </p:cNvSpPr>
          <p:nvPr>
            <p:ph type="sldNum" sz="quarter" idx="10"/>
          </p:nvPr>
        </p:nvSpPr>
        <p:spPr/>
        <p:txBody>
          <a:bodyPr/>
          <a:lstStyle/>
          <a:p>
            <a:fld id="{7663AE00-3350-4EBE-914D-FCAF678A3391}" type="slidenum">
              <a:rPr lang="en-GB" smtClean="0"/>
              <a:t>7</a:t>
            </a:fld>
            <a:endParaRPr lang="en-GB"/>
          </a:p>
        </p:txBody>
      </p:sp>
    </p:spTree>
    <p:extLst>
      <p:ext uri="{BB962C8B-B14F-4D97-AF65-F5344CB8AC3E}">
        <p14:creationId xmlns:p14="http://schemas.microsoft.com/office/powerpoint/2010/main" val="1446179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Message Functions include:</a:t>
            </a:r>
          </a:p>
          <a:p>
            <a:endParaRPr lang="en-US" dirty="0"/>
          </a:p>
          <a:p>
            <a:r>
              <a:rPr lang="en-US" dirty="0"/>
              <a:t>Making a request</a:t>
            </a:r>
            <a:r>
              <a:rPr lang="en-US" baseline="0" dirty="0"/>
              <a:t> – asking for information or an action</a:t>
            </a:r>
          </a:p>
          <a:p>
            <a:r>
              <a:rPr lang="en-US" baseline="0" dirty="0"/>
              <a:t>Responding to a request – providing information or acknowledging action</a:t>
            </a:r>
          </a:p>
          <a:p>
            <a:endParaRPr lang="en-US" baseline="0" dirty="0"/>
          </a:p>
          <a:p>
            <a:r>
              <a:rPr lang="en-US" baseline="0" dirty="0"/>
              <a:t>Making a complaint – identifying and expressing a problem</a:t>
            </a:r>
          </a:p>
          <a:p>
            <a:r>
              <a:rPr lang="en-US" baseline="0" dirty="0"/>
              <a:t>Responding to a complaint – apologizing and attempting to provide a solution</a:t>
            </a:r>
          </a:p>
          <a:p>
            <a:endParaRPr lang="en-US" baseline="0" dirty="0"/>
          </a:p>
          <a:p>
            <a:endParaRPr lang="en-US" baseline="0" dirty="0"/>
          </a:p>
          <a:p>
            <a:r>
              <a:rPr lang="en-US" b="1" baseline="0" dirty="0"/>
              <a:t>Beyond that, also different tones:</a:t>
            </a:r>
          </a:p>
          <a:p>
            <a:r>
              <a:rPr lang="en-US" baseline="0" dirty="0"/>
              <a:t>Delivering good news</a:t>
            </a:r>
          </a:p>
          <a:p>
            <a:r>
              <a:rPr lang="en-US" baseline="0" dirty="0"/>
              <a:t>Delivering bad news</a:t>
            </a:r>
          </a:p>
          <a:p>
            <a:r>
              <a:rPr lang="en-US" baseline="0" dirty="0" err="1"/>
              <a:t>Etc</a:t>
            </a:r>
            <a:r>
              <a:rPr lang="en-US" baseline="0" dirty="0"/>
              <a:t>…</a:t>
            </a:r>
          </a:p>
          <a:p>
            <a:endParaRPr lang="en-US" baseline="0" dirty="0"/>
          </a:p>
          <a:p>
            <a:r>
              <a:rPr lang="en-US" b="1" baseline="0" dirty="0"/>
              <a:t>Email Section 2 – Key Phrases Worksheet</a:t>
            </a:r>
          </a:p>
          <a:p>
            <a:r>
              <a:rPr lang="en-US" baseline="0" dirty="0"/>
              <a:t>Write a subject Line</a:t>
            </a:r>
          </a:p>
          <a:p>
            <a:r>
              <a:rPr lang="en-US" baseline="0" dirty="0"/>
              <a:t>Complete Task B – phrases that indicate message focus/purpose</a:t>
            </a:r>
          </a:p>
        </p:txBody>
      </p:sp>
      <p:sp>
        <p:nvSpPr>
          <p:cNvPr id="4" name="Slide Number Placeholder 3"/>
          <p:cNvSpPr>
            <a:spLocks noGrp="1"/>
          </p:cNvSpPr>
          <p:nvPr>
            <p:ph type="sldNum" sz="quarter" idx="10"/>
          </p:nvPr>
        </p:nvSpPr>
        <p:spPr/>
        <p:txBody>
          <a:bodyPr/>
          <a:lstStyle/>
          <a:p>
            <a:fld id="{7663AE00-3350-4EBE-914D-FCAF678A3391}" type="slidenum">
              <a:rPr lang="en-GB" smtClean="0"/>
              <a:t>8</a:t>
            </a:fld>
            <a:endParaRPr lang="en-GB"/>
          </a:p>
        </p:txBody>
      </p:sp>
    </p:spTree>
    <p:extLst>
      <p:ext uri="{BB962C8B-B14F-4D97-AF65-F5344CB8AC3E}">
        <p14:creationId xmlns:p14="http://schemas.microsoft.com/office/powerpoint/2010/main" val="988050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1:notes"/>
          <p:cNvSpPr>
            <a:spLocks noGrp="1" noRot="1" noChangeAspect="1"/>
          </p:cNvSpPr>
          <p:nvPr>
            <p:ph type="sldImg" idx="2"/>
          </p:nvPr>
        </p:nvSpPr>
        <p:spPr>
          <a:xfrm>
            <a:off x="2459038" y="552450"/>
            <a:ext cx="4921250" cy="2768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1:notes"/>
          <p:cNvSpPr txBox="1">
            <a:spLocks noGrp="1"/>
          </p:cNvSpPr>
          <p:nvPr>
            <p:ph type="body" idx="1"/>
          </p:nvPr>
        </p:nvSpPr>
        <p:spPr>
          <a:xfrm>
            <a:off x="983918" y="3505235"/>
            <a:ext cx="7871446" cy="3320767"/>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n-US" b="1" dirty="0"/>
              <a:t>Review the Common Structure of an Email</a:t>
            </a:r>
            <a:endParaRPr dirty="0"/>
          </a:p>
          <a:p>
            <a:pPr marL="158750" lvl="0" indent="0" algn="l" rtl="0">
              <a:lnSpc>
                <a:spcPct val="100000"/>
              </a:lnSpc>
              <a:spcBef>
                <a:spcPts val="0"/>
              </a:spcBef>
              <a:spcAft>
                <a:spcPts val="0"/>
              </a:spcAft>
              <a:buSzPts val="1100"/>
              <a:buNone/>
            </a:pPr>
            <a:r>
              <a:rPr lang="en-US" dirty="0"/>
              <a:t>Note: Students should already know the majority of this information, but it is important that they recognize the terms we are going to use: </a:t>
            </a:r>
            <a:endParaRPr dirty="0"/>
          </a:p>
          <a:p>
            <a:pPr marL="457200" lvl="0" indent="-298450" algn="l" rtl="0">
              <a:lnSpc>
                <a:spcPct val="100000"/>
              </a:lnSpc>
              <a:spcBef>
                <a:spcPts val="0"/>
              </a:spcBef>
              <a:spcAft>
                <a:spcPts val="0"/>
              </a:spcAft>
              <a:buSzPts val="1100"/>
              <a:buChar char="●"/>
            </a:pPr>
            <a:r>
              <a:rPr lang="en-US" dirty="0"/>
              <a:t>Header Details</a:t>
            </a:r>
            <a:endParaRPr dirty="0"/>
          </a:p>
          <a:p>
            <a:pPr marL="457200" lvl="0" indent="-298450" algn="l" rtl="0">
              <a:lnSpc>
                <a:spcPct val="100000"/>
              </a:lnSpc>
              <a:spcBef>
                <a:spcPts val="0"/>
              </a:spcBef>
              <a:spcAft>
                <a:spcPts val="0"/>
              </a:spcAft>
              <a:buSzPts val="1100"/>
              <a:buChar char="●"/>
            </a:pPr>
            <a:r>
              <a:rPr lang="en-US" dirty="0"/>
              <a:t>Salutation (targeting the receiver)</a:t>
            </a:r>
            <a:endParaRPr dirty="0"/>
          </a:p>
          <a:p>
            <a:pPr marL="457200" lvl="0" indent="-298450" algn="l" rtl="0">
              <a:lnSpc>
                <a:spcPct val="100000"/>
              </a:lnSpc>
              <a:spcBef>
                <a:spcPts val="0"/>
              </a:spcBef>
              <a:spcAft>
                <a:spcPts val="0"/>
              </a:spcAft>
              <a:buSzPts val="1100"/>
              <a:buChar char="●"/>
            </a:pPr>
            <a:r>
              <a:rPr lang="en-US" dirty="0"/>
              <a:t>Opening: purpose of the message – no flowery waffle such as ‘I hope this email finds you well”</a:t>
            </a:r>
            <a:endParaRPr dirty="0"/>
          </a:p>
          <a:p>
            <a:pPr marL="457200" lvl="0" indent="-298450" algn="l" rtl="0">
              <a:lnSpc>
                <a:spcPct val="100000"/>
              </a:lnSpc>
              <a:spcBef>
                <a:spcPts val="0"/>
              </a:spcBef>
              <a:spcAft>
                <a:spcPts val="0"/>
              </a:spcAft>
              <a:buSzPts val="1100"/>
              <a:buChar char="●"/>
            </a:pPr>
            <a:r>
              <a:rPr lang="en-US" dirty="0"/>
              <a:t>Focus: the main part of the message – the specific detail that is to be communicated</a:t>
            </a:r>
            <a:endParaRPr dirty="0"/>
          </a:p>
          <a:p>
            <a:pPr marL="457200" lvl="0" indent="-298450" algn="l" rtl="0">
              <a:lnSpc>
                <a:spcPct val="100000"/>
              </a:lnSpc>
              <a:spcBef>
                <a:spcPts val="0"/>
              </a:spcBef>
              <a:spcAft>
                <a:spcPts val="0"/>
              </a:spcAft>
              <a:buSzPts val="1100"/>
              <a:buChar char="●"/>
            </a:pPr>
            <a:r>
              <a:rPr lang="en-US" dirty="0"/>
              <a:t>Closing: Wrap up and clarify next step</a:t>
            </a:r>
            <a:endParaRPr dirty="0"/>
          </a:p>
          <a:p>
            <a:pPr marL="457200" lvl="0" indent="-298450" algn="l" rtl="0">
              <a:lnSpc>
                <a:spcPct val="100000"/>
              </a:lnSpc>
              <a:spcBef>
                <a:spcPts val="0"/>
              </a:spcBef>
              <a:spcAft>
                <a:spcPts val="0"/>
              </a:spcAft>
              <a:buSzPts val="1100"/>
              <a:buChar char="●"/>
            </a:pPr>
            <a:r>
              <a:rPr lang="en-US" dirty="0"/>
              <a:t>Valediction</a:t>
            </a:r>
            <a:endParaRPr dirty="0"/>
          </a:p>
          <a:p>
            <a:pPr marL="457200" lvl="0" indent="-228600" algn="l" rtl="0">
              <a:lnSpc>
                <a:spcPct val="100000"/>
              </a:lnSpc>
              <a:spcBef>
                <a:spcPts val="0"/>
              </a:spcBef>
              <a:spcAft>
                <a:spcPts val="0"/>
              </a:spcAft>
              <a:buSzPts val="1100"/>
              <a:buNone/>
            </a:pPr>
            <a:endParaRPr dirty="0"/>
          </a:p>
          <a:p>
            <a:pPr marL="457200" lvl="0" indent="-298450" algn="l" rtl="0">
              <a:lnSpc>
                <a:spcPct val="100000"/>
              </a:lnSpc>
              <a:spcBef>
                <a:spcPts val="0"/>
              </a:spcBef>
              <a:spcAft>
                <a:spcPts val="0"/>
              </a:spcAft>
              <a:buSzPts val="1100"/>
              <a:buChar char="●"/>
            </a:pPr>
            <a:r>
              <a:rPr lang="en-US" dirty="0"/>
              <a:t>Work through template and reference guides:</a:t>
            </a:r>
            <a:endParaRPr dirty="0"/>
          </a:p>
          <a:p>
            <a:pPr marL="457200" lvl="0" indent="-228600" algn="l" rtl="0">
              <a:lnSpc>
                <a:spcPct val="100000"/>
              </a:lnSpc>
              <a:spcBef>
                <a:spcPts val="0"/>
              </a:spcBef>
              <a:spcAft>
                <a:spcPts val="0"/>
              </a:spcAft>
              <a:buSzPts val="1100"/>
              <a:buNone/>
            </a:pPr>
            <a:endParaRPr dirty="0"/>
          </a:p>
          <a:p>
            <a:pPr marL="158750" lvl="0" indent="0" algn="l" rtl="0">
              <a:lnSpc>
                <a:spcPct val="100000"/>
              </a:lnSpc>
              <a:spcBef>
                <a:spcPts val="0"/>
              </a:spcBef>
              <a:spcAft>
                <a:spcPts val="0"/>
              </a:spcAft>
              <a:buSzPts val="1100"/>
              <a:buNone/>
            </a:pPr>
            <a:r>
              <a:rPr lang="en-US" b="1" dirty="0"/>
              <a:t>Example:</a:t>
            </a:r>
            <a:endParaRPr dirty="0"/>
          </a:p>
          <a:p>
            <a:pPr marL="457200" lvl="0" indent="-298450" algn="l" rtl="0">
              <a:lnSpc>
                <a:spcPct val="100000"/>
              </a:lnSpc>
              <a:spcBef>
                <a:spcPts val="0"/>
              </a:spcBef>
              <a:spcAft>
                <a:spcPts val="0"/>
              </a:spcAft>
              <a:buSzPts val="1100"/>
              <a:buChar char="●"/>
            </a:pPr>
            <a:r>
              <a:rPr lang="en-US" dirty="0"/>
              <a:t>Ideally try to demonstrate an example email good/bad</a:t>
            </a:r>
            <a:endParaRPr dirty="0"/>
          </a:p>
          <a:p>
            <a:pPr marL="457200" lvl="0" indent="-298450" algn="l" rtl="0">
              <a:lnSpc>
                <a:spcPct val="100000"/>
              </a:lnSpc>
              <a:spcBef>
                <a:spcPts val="0"/>
              </a:spcBef>
              <a:spcAft>
                <a:spcPts val="0"/>
              </a:spcAft>
              <a:buSzPts val="1100"/>
              <a:buChar char="●"/>
            </a:pPr>
            <a:r>
              <a:rPr lang="en-US" dirty="0"/>
              <a:t>I suggest a chat-GPT sample email, which you break down, evaluate, and explain how to improve</a:t>
            </a:r>
            <a:endParaRPr dirty="0"/>
          </a:p>
          <a:p>
            <a:pPr marL="457200" lvl="0" indent="-228600" algn="l" rtl="0">
              <a:lnSpc>
                <a:spcPct val="100000"/>
              </a:lnSpc>
              <a:spcBef>
                <a:spcPts val="0"/>
              </a:spcBef>
              <a:spcAft>
                <a:spcPts val="0"/>
              </a:spcAft>
              <a:buSzPts val="1100"/>
              <a:buNone/>
            </a:pPr>
            <a:endParaRPr dirty="0"/>
          </a:p>
          <a:p>
            <a:pPr marL="158750" lvl="0" indent="0" algn="l" rtl="0">
              <a:lnSpc>
                <a:spcPct val="100000"/>
              </a:lnSpc>
              <a:spcBef>
                <a:spcPts val="0"/>
              </a:spcBef>
              <a:spcAft>
                <a:spcPts val="0"/>
              </a:spcAft>
              <a:buSzPts val="1100"/>
              <a:buNone/>
            </a:pPr>
            <a:r>
              <a:rPr lang="en-US" b="1" dirty="0"/>
              <a:t>Application:  If (time allows)</a:t>
            </a:r>
            <a:endParaRPr dirty="0"/>
          </a:p>
          <a:p>
            <a:pPr marL="457200" lvl="0" indent="-298450" algn="l" rtl="0">
              <a:lnSpc>
                <a:spcPct val="100000"/>
              </a:lnSpc>
              <a:spcBef>
                <a:spcPts val="0"/>
              </a:spcBef>
              <a:spcAft>
                <a:spcPts val="0"/>
              </a:spcAft>
              <a:buSzPts val="1100"/>
              <a:buChar char="●"/>
            </a:pPr>
            <a:r>
              <a:rPr lang="en-US" dirty="0"/>
              <a:t>Ask students to draft their own example email  (AI brainstorming permitted)</a:t>
            </a:r>
            <a:endParaRPr dirty="0"/>
          </a:p>
          <a:p>
            <a:pPr marL="457200" lvl="0" indent="-298450" algn="l" rtl="0">
              <a:lnSpc>
                <a:spcPct val="100000"/>
              </a:lnSpc>
              <a:spcBef>
                <a:spcPts val="0"/>
              </a:spcBef>
              <a:spcAft>
                <a:spcPts val="0"/>
              </a:spcAft>
              <a:buSzPts val="1100"/>
              <a:buChar char="●"/>
            </a:pPr>
            <a:r>
              <a:rPr lang="en-US" dirty="0"/>
              <a:t>Share with partners/peers</a:t>
            </a:r>
            <a:endParaRPr dirty="0"/>
          </a:p>
          <a:p>
            <a:pPr marL="457200" lvl="0" indent="-298450" algn="l" rtl="0">
              <a:lnSpc>
                <a:spcPct val="100000"/>
              </a:lnSpc>
              <a:spcBef>
                <a:spcPts val="0"/>
              </a:spcBef>
              <a:spcAft>
                <a:spcPts val="0"/>
              </a:spcAft>
              <a:buSzPts val="1100"/>
              <a:buChar char="●"/>
            </a:pPr>
            <a:r>
              <a:rPr lang="en-US" dirty="0"/>
              <a:t>Refer to the email grade rubric to help determine overall qualities</a:t>
            </a:r>
            <a:endParaRPr dirty="0"/>
          </a:p>
          <a:p>
            <a:pPr marL="158750" lvl="0" indent="0" algn="l" rtl="0">
              <a:lnSpc>
                <a:spcPct val="100000"/>
              </a:lnSpc>
              <a:spcBef>
                <a:spcPts val="0"/>
              </a:spcBef>
              <a:spcAft>
                <a:spcPts val="0"/>
              </a:spcAft>
              <a:buSzPts val="1100"/>
              <a:buNone/>
            </a:pPr>
            <a:endParaRPr dirty="0"/>
          </a:p>
          <a:p>
            <a:pPr marL="158750" lvl="0" indent="0" algn="l" rtl="0">
              <a:lnSpc>
                <a:spcPct val="100000"/>
              </a:lnSpc>
              <a:spcBef>
                <a:spcPts val="0"/>
              </a:spcBef>
              <a:spcAft>
                <a:spcPts val="0"/>
              </a:spcAft>
              <a:buSzPts val="1100"/>
              <a:buNone/>
            </a:pPr>
            <a:endParaRPr dirty="0"/>
          </a:p>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8566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9:notes"/>
          <p:cNvSpPr txBox="1">
            <a:spLocks noGrp="1"/>
          </p:cNvSpPr>
          <p:nvPr>
            <p:ph type="body" idx="1"/>
          </p:nvPr>
        </p:nvSpPr>
        <p:spPr>
          <a:xfrm>
            <a:off x="983918" y="3505237"/>
            <a:ext cx="7871447" cy="3320765"/>
          </a:xfrm>
          <a:prstGeom prst="rect">
            <a:avLst/>
          </a:prstGeom>
        </p:spPr>
        <p:txBody>
          <a:bodyPr spcFirstLastPara="1" wrap="square" lIns="91405" tIns="91405" rIns="91405" bIns="91405" anchor="t" anchorCtr="0">
            <a:noAutofit/>
          </a:bodyPr>
          <a:lstStyle/>
          <a:p>
            <a:pPr marL="0" indent="0">
              <a:buNone/>
            </a:pPr>
            <a:endParaRPr/>
          </a:p>
        </p:txBody>
      </p:sp>
      <p:sp>
        <p:nvSpPr>
          <p:cNvPr id="143" name="Google Shape;143;p49:notes"/>
          <p:cNvSpPr>
            <a:spLocks noGrp="1" noRot="1" noChangeAspect="1"/>
          </p:cNvSpPr>
          <p:nvPr>
            <p:ph type="sldImg" idx="2"/>
          </p:nvPr>
        </p:nvSpPr>
        <p:spPr>
          <a:xfrm>
            <a:off x="2457450" y="550863"/>
            <a:ext cx="4924425" cy="27701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6901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50:notes"/>
          <p:cNvSpPr txBox="1">
            <a:spLocks noGrp="1"/>
          </p:cNvSpPr>
          <p:nvPr>
            <p:ph type="body" idx="1"/>
          </p:nvPr>
        </p:nvSpPr>
        <p:spPr>
          <a:xfrm>
            <a:off x="679758" y="4715123"/>
            <a:ext cx="5438133" cy="4466982"/>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51:notes"/>
          <p:cNvSpPr>
            <a:spLocks noGrp="1" noRot="1" noChangeAspect="1"/>
          </p:cNvSpPr>
          <p:nvPr>
            <p:ph type="sldImg" idx="2"/>
          </p:nvPr>
        </p:nvSpPr>
        <p:spPr>
          <a:xfrm>
            <a:off x="2457450" y="550863"/>
            <a:ext cx="4924425" cy="27701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51:notes"/>
          <p:cNvSpPr txBox="1">
            <a:spLocks noGrp="1"/>
          </p:cNvSpPr>
          <p:nvPr>
            <p:ph type="body" idx="1"/>
          </p:nvPr>
        </p:nvSpPr>
        <p:spPr>
          <a:xfrm>
            <a:off x="983918" y="3505237"/>
            <a:ext cx="7871447" cy="3320765"/>
          </a:xfrm>
          <a:prstGeom prst="rect">
            <a:avLst/>
          </a:prstGeom>
          <a:noFill/>
          <a:ln>
            <a:noFill/>
          </a:ln>
        </p:spPr>
        <p:txBody>
          <a:bodyPr spcFirstLastPara="1" wrap="square" lIns="91405" tIns="91405" rIns="91405" bIns="91405" anchor="t" anchorCtr="0">
            <a:noAutofit/>
          </a:bodyPr>
          <a:lstStyle/>
          <a:p>
            <a:pPr marL="158716" indent="0">
              <a:buNone/>
            </a:pPr>
            <a:r>
              <a:rPr lang="en-US" b="1" dirty="0"/>
              <a:t>1. Clarity and Precision: </a:t>
            </a:r>
            <a:endParaRPr dirty="0"/>
          </a:p>
          <a:p>
            <a:pPr marL="158716" indent="0">
              <a:buNone/>
            </a:pPr>
            <a:r>
              <a:rPr lang="en-US" dirty="0"/>
              <a:t>Ensure the message is clear and to the point, avoiding unnecessary details. Every word counts.</a:t>
            </a:r>
            <a:endParaRPr dirty="0"/>
          </a:p>
          <a:p>
            <a:pPr marL="158716" indent="0">
              <a:buNone/>
            </a:pPr>
            <a:endParaRPr dirty="0"/>
          </a:p>
          <a:p>
            <a:pPr marL="158716" indent="0">
              <a:buNone/>
            </a:pPr>
            <a:r>
              <a:rPr lang="en-US" b="1" dirty="0"/>
              <a:t>2. Brevity:</a:t>
            </a:r>
            <a:endParaRPr dirty="0"/>
          </a:p>
          <a:p>
            <a:pPr marL="158716" indent="0">
              <a:buNone/>
            </a:pPr>
            <a:r>
              <a:rPr lang="en-US" dirty="0"/>
              <a:t>Keep the message concise, using as few words as possible to convey the main idea. </a:t>
            </a:r>
            <a:endParaRPr dirty="0"/>
          </a:p>
          <a:p>
            <a:pPr marL="158716" indent="0">
              <a:buNone/>
            </a:pPr>
            <a:endParaRPr dirty="0"/>
          </a:p>
          <a:p>
            <a:pPr marL="158716" indent="0">
              <a:buNone/>
            </a:pPr>
            <a:r>
              <a:rPr lang="en-US" b="1" dirty="0"/>
              <a:t>3. Tone</a:t>
            </a:r>
            <a:endParaRPr dirty="0"/>
          </a:p>
          <a:p>
            <a:pPr marL="158716" indent="0">
              <a:buNone/>
            </a:pPr>
            <a:r>
              <a:rPr lang="en-US" dirty="0"/>
              <a:t>Maintain an appropriate tone, as short messages can easily come across as abrupt or rude. Use of emojis or punctuation can help convey emotion when necessary.</a:t>
            </a:r>
            <a:endParaRPr dirty="0"/>
          </a:p>
          <a:p>
            <a:pPr marL="158716" indent="0">
              <a:buNone/>
            </a:pPr>
            <a:endParaRPr dirty="0"/>
          </a:p>
          <a:p>
            <a:pPr marL="158716" indent="0">
              <a:buNone/>
            </a:pPr>
            <a:r>
              <a:rPr lang="en-US" b="1" dirty="0"/>
              <a:t>4. Audience Awareness: </a:t>
            </a:r>
            <a:endParaRPr dirty="0"/>
          </a:p>
          <a:p>
            <a:pPr marL="158716" indent="0">
              <a:buNone/>
            </a:pPr>
            <a:r>
              <a:rPr lang="en-US" dirty="0"/>
              <a:t>Tailor the message to the recipient's expectations and the platform's norms, considering the informality or formality required.</a:t>
            </a:r>
            <a:endParaRPr dirty="0"/>
          </a:p>
          <a:p>
            <a:pPr marL="158716" indent="0">
              <a:buNone/>
            </a:pPr>
            <a:endParaRPr dirty="0"/>
          </a:p>
          <a:p>
            <a:pPr marL="158716" indent="0">
              <a:buNone/>
            </a:pPr>
            <a:r>
              <a:rPr lang="en-US" b="1" dirty="0"/>
              <a:t>5. Immediate Purpose: </a:t>
            </a:r>
            <a:endParaRPr dirty="0"/>
          </a:p>
          <a:p>
            <a:pPr marL="158716" indent="0">
              <a:buNone/>
            </a:pPr>
            <a:r>
              <a:rPr lang="en-US" dirty="0"/>
              <a:t>Focus on the immediate action or response needed. Short messages often serve to prompt quick decisions or convey urgent information.</a:t>
            </a:r>
            <a:endParaRPr dirty="0"/>
          </a:p>
          <a:p>
            <a:pPr marL="158716" indent="0">
              <a:buNone/>
            </a:pPr>
            <a:endParaRPr dirty="0"/>
          </a:p>
        </p:txBody>
      </p:sp>
    </p:spTree>
    <p:extLst>
      <p:ext uri="{BB962C8B-B14F-4D97-AF65-F5344CB8AC3E}">
        <p14:creationId xmlns:p14="http://schemas.microsoft.com/office/powerpoint/2010/main" val="1970152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52:notes"/>
          <p:cNvSpPr>
            <a:spLocks noGrp="1" noRot="1" noChangeAspect="1"/>
          </p:cNvSpPr>
          <p:nvPr>
            <p:ph type="sldImg" idx="2"/>
          </p:nvPr>
        </p:nvSpPr>
        <p:spPr>
          <a:xfrm>
            <a:off x="2457450" y="550863"/>
            <a:ext cx="4924425" cy="27701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52:notes"/>
          <p:cNvSpPr txBox="1">
            <a:spLocks noGrp="1"/>
          </p:cNvSpPr>
          <p:nvPr>
            <p:ph type="body" idx="1"/>
          </p:nvPr>
        </p:nvSpPr>
        <p:spPr>
          <a:xfrm>
            <a:off x="983918" y="3505237"/>
            <a:ext cx="7871447" cy="3320765"/>
          </a:xfrm>
          <a:prstGeom prst="rect">
            <a:avLst/>
          </a:prstGeom>
          <a:noFill/>
          <a:ln>
            <a:noFill/>
          </a:ln>
        </p:spPr>
        <p:txBody>
          <a:bodyPr spcFirstLastPara="1" wrap="square" lIns="91405" tIns="91405" rIns="91405" bIns="91405" anchor="t" anchorCtr="0">
            <a:noAutofit/>
          </a:bodyPr>
          <a:lstStyle/>
          <a:p>
            <a:pPr marL="158716" indent="0">
              <a:buNone/>
            </a:pPr>
            <a:r>
              <a:rPr lang="en-US" b="1" dirty="0"/>
              <a:t>1. Structure and Organization: </a:t>
            </a:r>
            <a:endParaRPr dirty="0"/>
          </a:p>
          <a:p>
            <a:pPr marL="158716" indent="0">
              <a:buNone/>
            </a:pPr>
            <a:r>
              <a:rPr lang="en-US" dirty="0"/>
              <a:t>Organize the content with clear sections, headings, or paragraphs to guide the reader through the message.</a:t>
            </a:r>
            <a:endParaRPr dirty="0"/>
          </a:p>
          <a:p>
            <a:pPr marL="158716" indent="0">
              <a:buNone/>
            </a:pPr>
            <a:endParaRPr dirty="0"/>
          </a:p>
          <a:p>
            <a:pPr marL="158716" indent="0">
              <a:buNone/>
            </a:pPr>
            <a:r>
              <a:rPr lang="en-US" b="1" dirty="0"/>
              <a:t>2. Detail and Explanation: </a:t>
            </a:r>
            <a:endParaRPr dirty="0"/>
          </a:p>
          <a:p>
            <a:pPr marL="158716" indent="0">
              <a:buNone/>
            </a:pPr>
            <a:r>
              <a:rPr lang="en-US" dirty="0"/>
              <a:t>Provide enough detail to fully explain the topic, including background information or supporting arguments where necessary.</a:t>
            </a:r>
            <a:endParaRPr dirty="0"/>
          </a:p>
          <a:p>
            <a:pPr marL="158716" indent="0">
              <a:buNone/>
            </a:pPr>
            <a:endParaRPr dirty="0"/>
          </a:p>
          <a:p>
            <a:pPr marL="158716" indent="0">
              <a:buNone/>
            </a:pPr>
            <a:r>
              <a:rPr lang="en-US" b="1" dirty="0"/>
              <a:t>3. Tone and Professionalism: </a:t>
            </a:r>
            <a:endParaRPr dirty="0"/>
          </a:p>
          <a:p>
            <a:pPr marL="158716" indent="0">
              <a:buNone/>
            </a:pPr>
            <a:r>
              <a:rPr lang="en-US" dirty="0"/>
              <a:t>Adopt a tone that reflects the formality of the situation. In longer messages, you have more space to nuance your tone and ensure it matches the purpose.</a:t>
            </a:r>
            <a:endParaRPr dirty="0"/>
          </a:p>
          <a:p>
            <a:pPr marL="158716" indent="0">
              <a:buNone/>
            </a:pPr>
            <a:endParaRPr dirty="0"/>
          </a:p>
          <a:p>
            <a:pPr marL="158716" indent="0">
              <a:buNone/>
            </a:pPr>
            <a:r>
              <a:rPr lang="en-US" b="1" dirty="0"/>
              <a:t>4. Purpose and Relevance: </a:t>
            </a:r>
            <a:endParaRPr dirty="0"/>
          </a:p>
          <a:p>
            <a:pPr marL="158716" indent="0">
              <a:buNone/>
            </a:pPr>
            <a:r>
              <a:rPr lang="en-US" dirty="0"/>
              <a:t>Ensure that every section or paragraph serves the overall purpose of the message and remains relevant to the main topic.</a:t>
            </a:r>
            <a:endParaRPr dirty="0"/>
          </a:p>
          <a:p>
            <a:pPr marL="158716" indent="0">
              <a:buNone/>
            </a:pPr>
            <a:endParaRPr dirty="0"/>
          </a:p>
          <a:p>
            <a:pPr marL="158716" indent="0">
              <a:buNone/>
            </a:pPr>
            <a:r>
              <a:rPr lang="en-US" b="1" dirty="0"/>
              <a:t>5. Call to Action or Conclusion: </a:t>
            </a:r>
            <a:endParaRPr dirty="0"/>
          </a:p>
          <a:p>
            <a:pPr marL="158716" indent="0">
              <a:buNone/>
            </a:pPr>
            <a:r>
              <a:rPr lang="en-US" dirty="0"/>
              <a:t>Conclude with a clear call to action or summary, providing the reader with a next step or takeaway from the message.</a:t>
            </a:r>
            <a:endParaRPr dirty="0"/>
          </a:p>
        </p:txBody>
      </p:sp>
    </p:spTree>
    <p:extLst>
      <p:ext uri="{BB962C8B-B14F-4D97-AF65-F5344CB8AC3E}">
        <p14:creationId xmlns:p14="http://schemas.microsoft.com/office/powerpoint/2010/main" val="567442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3:notes"/>
          <p:cNvSpPr txBox="1">
            <a:spLocks noGrp="1"/>
          </p:cNvSpPr>
          <p:nvPr>
            <p:ph type="body" idx="1"/>
          </p:nvPr>
        </p:nvSpPr>
        <p:spPr>
          <a:xfrm>
            <a:off x="983918" y="3505237"/>
            <a:ext cx="7871447" cy="3320765"/>
          </a:xfrm>
          <a:prstGeom prst="rect">
            <a:avLst/>
          </a:prstGeom>
        </p:spPr>
        <p:txBody>
          <a:bodyPr spcFirstLastPara="1" wrap="square" lIns="91405" tIns="91405" rIns="91405" bIns="91405" anchor="t" anchorCtr="0">
            <a:noAutofit/>
          </a:bodyPr>
          <a:lstStyle/>
          <a:p>
            <a:pPr marL="0" indent="0">
              <a:buNone/>
            </a:pPr>
            <a:endParaRPr/>
          </a:p>
        </p:txBody>
      </p:sp>
      <p:sp>
        <p:nvSpPr>
          <p:cNvPr id="167" name="Google Shape;167;p53:notes"/>
          <p:cNvSpPr>
            <a:spLocks noGrp="1" noRot="1" noChangeAspect="1"/>
          </p:cNvSpPr>
          <p:nvPr>
            <p:ph type="sldImg" idx="2"/>
          </p:nvPr>
        </p:nvSpPr>
        <p:spPr>
          <a:xfrm>
            <a:off x="2457450" y="550863"/>
            <a:ext cx="4924425" cy="27701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5609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4:notes"/>
          <p:cNvSpPr>
            <a:spLocks noGrp="1" noRot="1" noChangeAspect="1"/>
          </p:cNvSpPr>
          <p:nvPr>
            <p:ph type="sldImg" idx="2"/>
          </p:nvPr>
        </p:nvSpPr>
        <p:spPr>
          <a:xfrm>
            <a:off x="2457450" y="550863"/>
            <a:ext cx="4924425" cy="27701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54:notes"/>
          <p:cNvSpPr txBox="1">
            <a:spLocks noGrp="1"/>
          </p:cNvSpPr>
          <p:nvPr>
            <p:ph type="body" idx="1"/>
          </p:nvPr>
        </p:nvSpPr>
        <p:spPr>
          <a:xfrm>
            <a:off x="983918" y="3505237"/>
            <a:ext cx="7871447" cy="3320765"/>
          </a:xfrm>
          <a:prstGeom prst="rect">
            <a:avLst/>
          </a:prstGeom>
          <a:noFill/>
          <a:ln>
            <a:noFill/>
          </a:ln>
        </p:spPr>
        <p:txBody>
          <a:bodyPr spcFirstLastPara="1" wrap="square" lIns="91405" tIns="91405" rIns="91405" bIns="91405" anchor="t" anchorCtr="0">
            <a:noAutofit/>
          </a:bodyPr>
          <a:lstStyle/>
          <a:p>
            <a:pPr marL="158716" indent="0">
              <a:buNone/>
            </a:pPr>
            <a:r>
              <a:rPr lang="en-US" b="1" dirty="0"/>
              <a:t>ASAP (As Soon As Possible)</a:t>
            </a:r>
            <a:endParaRPr dirty="0"/>
          </a:p>
          <a:p>
            <a:pPr marL="457103" indent="-298387">
              <a:spcBef>
                <a:spcPts val="600"/>
              </a:spcBef>
            </a:pPr>
            <a:r>
              <a:rPr lang="en-US" dirty="0"/>
              <a:t>Definition: A request or indication that something should be done immediately or with urgency.</a:t>
            </a:r>
            <a:endParaRPr dirty="0"/>
          </a:p>
          <a:p>
            <a:pPr marL="457103" indent="-298387">
              <a:spcBef>
                <a:spcPts val="600"/>
              </a:spcBef>
            </a:pPr>
            <a:r>
              <a:rPr lang="en-US" dirty="0"/>
              <a:t>Usage Example: "Please send the report ASAP so we can review it before the meeting."</a:t>
            </a:r>
            <a:endParaRPr dirty="0"/>
          </a:p>
          <a:p>
            <a:pPr marL="158716" indent="0">
              <a:spcBef>
                <a:spcPts val="600"/>
              </a:spcBef>
              <a:buNone/>
            </a:pPr>
            <a:endParaRPr dirty="0"/>
          </a:p>
          <a:p>
            <a:pPr marL="158716" indent="0">
              <a:spcBef>
                <a:spcPts val="600"/>
              </a:spcBef>
              <a:buNone/>
            </a:pPr>
            <a:r>
              <a:rPr lang="en-US" b="1" dirty="0"/>
              <a:t>BTW (By The Way)</a:t>
            </a:r>
            <a:endParaRPr dirty="0"/>
          </a:p>
          <a:p>
            <a:pPr marL="457103" indent="-298387">
              <a:spcBef>
                <a:spcPts val="600"/>
              </a:spcBef>
            </a:pPr>
            <a:r>
              <a:rPr lang="en-US" dirty="0"/>
              <a:t>Definition: A phrase used to introduce an additional comment or piece of information that is related but not the main point of the conversation.</a:t>
            </a:r>
            <a:endParaRPr dirty="0"/>
          </a:p>
          <a:p>
            <a:pPr marL="457103" indent="-298387">
              <a:spcBef>
                <a:spcPts val="600"/>
              </a:spcBef>
            </a:pPr>
            <a:r>
              <a:rPr lang="en-US" dirty="0"/>
              <a:t>Usage Example: "BTW, did you hear about the new policy change?"</a:t>
            </a:r>
            <a:endParaRPr dirty="0"/>
          </a:p>
          <a:p>
            <a:pPr marL="158716" indent="0">
              <a:spcBef>
                <a:spcPts val="600"/>
              </a:spcBef>
              <a:buNone/>
            </a:pPr>
            <a:endParaRPr dirty="0"/>
          </a:p>
          <a:p>
            <a:pPr marL="158716" indent="0">
              <a:spcBef>
                <a:spcPts val="600"/>
              </a:spcBef>
              <a:buNone/>
            </a:pPr>
            <a:r>
              <a:rPr lang="en-US" b="1" dirty="0"/>
              <a:t>FYI (For Your Information)</a:t>
            </a:r>
            <a:endParaRPr dirty="0"/>
          </a:p>
          <a:p>
            <a:pPr marL="457103" indent="-298387">
              <a:spcBef>
                <a:spcPts val="600"/>
              </a:spcBef>
            </a:pPr>
            <a:r>
              <a:rPr lang="en-US" dirty="0"/>
              <a:t>Definition: Used to indicate that the information being shared is for the recipient’s knowledge, without necessarily requiring action.</a:t>
            </a:r>
            <a:endParaRPr dirty="0"/>
          </a:p>
          <a:p>
            <a:pPr marL="457103" indent="-298387">
              <a:spcBef>
                <a:spcPts val="600"/>
              </a:spcBef>
            </a:pPr>
            <a:r>
              <a:rPr lang="en-US" dirty="0"/>
              <a:t>Usage Example: "FYI, the client meeting has been rescheduled to 3 PM."</a:t>
            </a:r>
            <a:endParaRPr dirty="0"/>
          </a:p>
          <a:p>
            <a:pPr marL="457103" indent="-228553">
              <a:spcBef>
                <a:spcPts val="600"/>
              </a:spcBef>
              <a:buNone/>
            </a:pPr>
            <a:endParaRPr dirty="0"/>
          </a:p>
          <a:p>
            <a:pPr marL="158716" indent="0">
              <a:spcBef>
                <a:spcPts val="600"/>
              </a:spcBef>
              <a:buNone/>
            </a:pPr>
            <a:r>
              <a:rPr lang="en-US" b="1" dirty="0"/>
              <a:t>OTOH (On The Other Hand)</a:t>
            </a:r>
            <a:endParaRPr dirty="0"/>
          </a:p>
          <a:p>
            <a:pPr marL="457103" indent="-298387">
              <a:spcBef>
                <a:spcPts val="600"/>
              </a:spcBef>
            </a:pPr>
            <a:r>
              <a:rPr lang="en-US" dirty="0"/>
              <a:t>Definition: Used to present an alternative viewpoint or counterargument.</a:t>
            </a:r>
            <a:endParaRPr dirty="0"/>
          </a:p>
          <a:p>
            <a:pPr marL="457103" indent="-298387">
              <a:spcBef>
                <a:spcPts val="600"/>
              </a:spcBef>
            </a:pPr>
            <a:r>
              <a:rPr lang="en-US" dirty="0"/>
              <a:t>Usage Example: "I like the idea of expanding, but OTOH, it might be too costly right now."</a:t>
            </a:r>
            <a:endParaRPr dirty="0"/>
          </a:p>
          <a:p>
            <a:pPr marL="158716" indent="0">
              <a:spcBef>
                <a:spcPts val="600"/>
              </a:spcBef>
              <a:buNone/>
            </a:pPr>
            <a:endParaRPr dirty="0"/>
          </a:p>
          <a:p>
            <a:pPr marL="158716" indent="0">
              <a:spcBef>
                <a:spcPts val="600"/>
              </a:spcBef>
              <a:buNone/>
            </a:pPr>
            <a:r>
              <a:rPr lang="en-US" b="1" dirty="0"/>
              <a:t>TIA (Thanks In Advance)</a:t>
            </a:r>
            <a:endParaRPr dirty="0"/>
          </a:p>
          <a:p>
            <a:pPr marL="457103" indent="-298387">
              <a:spcBef>
                <a:spcPts val="600"/>
              </a:spcBef>
            </a:pPr>
            <a:r>
              <a:rPr lang="en-US" dirty="0"/>
              <a:t>Definition: A polite way to express gratitude before a favor or action has been completed.</a:t>
            </a:r>
            <a:endParaRPr dirty="0"/>
          </a:p>
          <a:p>
            <a:pPr marL="457103" indent="-298387">
              <a:spcBef>
                <a:spcPts val="600"/>
              </a:spcBef>
            </a:pPr>
            <a:r>
              <a:rPr lang="en-US" dirty="0"/>
              <a:t>Usage Example: "Could you review this document by tomorrow? TIA!“</a:t>
            </a:r>
          </a:p>
          <a:p>
            <a:pPr marL="457103" indent="-298387">
              <a:spcBef>
                <a:spcPts val="600"/>
              </a:spcBef>
            </a:pPr>
            <a:endParaRPr lang="en-US" dirty="0"/>
          </a:p>
          <a:p>
            <a:pPr marL="158716" indent="0">
              <a:spcBef>
                <a:spcPts val="600"/>
              </a:spcBef>
              <a:buNone/>
            </a:pPr>
            <a:r>
              <a:rPr lang="en-US" b="1" dirty="0"/>
              <a:t>FWIW (For What It’s Worth)</a:t>
            </a:r>
          </a:p>
          <a:p>
            <a:pPr marL="457103" indent="-298387">
              <a:spcBef>
                <a:spcPts val="600"/>
              </a:spcBef>
            </a:pPr>
            <a:r>
              <a:rPr lang="en-US" dirty="0"/>
              <a:t>Definition: when you are giving someone a piece of information and you are not certain if that information is useful or important</a:t>
            </a:r>
          </a:p>
          <a:p>
            <a:pPr marL="457103" indent="-298387">
              <a:spcBef>
                <a:spcPts val="600"/>
              </a:spcBef>
            </a:pPr>
            <a:r>
              <a:rPr lang="en-US" dirty="0"/>
              <a:t>Usage:  For what it's worth, I think he may be right.</a:t>
            </a:r>
          </a:p>
          <a:p>
            <a:pPr marL="457103" indent="-298387">
              <a:spcBef>
                <a:spcPts val="600"/>
              </a:spcBef>
            </a:pPr>
            <a:endParaRPr lang="en-US" dirty="0"/>
          </a:p>
          <a:p>
            <a:pPr marL="457103" indent="-298387">
              <a:spcBef>
                <a:spcPts val="600"/>
              </a:spcBef>
            </a:pPr>
            <a:endParaRPr dirty="0"/>
          </a:p>
          <a:p>
            <a:pPr marL="158716" indent="0">
              <a:spcBef>
                <a:spcPts val="600"/>
              </a:spcBef>
              <a:buNone/>
            </a:pPr>
            <a:r>
              <a:rPr lang="en-US" b="1" dirty="0"/>
              <a:t>NP (No Problem)</a:t>
            </a:r>
            <a:endParaRPr dirty="0"/>
          </a:p>
          <a:p>
            <a:pPr marL="457103" indent="-298387">
              <a:spcBef>
                <a:spcPts val="600"/>
              </a:spcBef>
            </a:pPr>
            <a:r>
              <a:rPr lang="en-US" dirty="0"/>
              <a:t>Definition: A casual way of saying that a request is easy or that you’re happy to help.</a:t>
            </a:r>
            <a:endParaRPr dirty="0"/>
          </a:p>
          <a:p>
            <a:pPr marL="457103" indent="-298387">
              <a:spcBef>
                <a:spcPts val="600"/>
              </a:spcBef>
            </a:pPr>
            <a:r>
              <a:rPr lang="en-US" dirty="0"/>
              <a:t>Usage Example: "Thanks for the help today!" - "NP, happy to assist."</a:t>
            </a:r>
            <a:endParaRPr dirty="0"/>
          </a:p>
          <a:p>
            <a:pPr marL="158716" indent="0">
              <a:spcBef>
                <a:spcPts val="600"/>
              </a:spcBef>
              <a:buNone/>
            </a:pPr>
            <a:endParaRPr dirty="0"/>
          </a:p>
          <a:p>
            <a:pPr marL="158716" indent="0">
              <a:spcBef>
                <a:spcPts val="600"/>
              </a:spcBef>
              <a:buNone/>
            </a:pPr>
            <a:r>
              <a:rPr lang="en-US" b="1" dirty="0"/>
              <a:t>IMHO (In My Humble Opinion)</a:t>
            </a:r>
            <a:endParaRPr dirty="0"/>
          </a:p>
          <a:p>
            <a:pPr marL="457103" indent="-298387">
              <a:spcBef>
                <a:spcPts val="600"/>
              </a:spcBef>
            </a:pPr>
            <a:r>
              <a:rPr lang="en-US" dirty="0"/>
              <a:t>Definition: A phrase used to express that the following statement is the speaker's personal opinion, often implying modesty or a desire not to be overly assertive.</a:t>
            </a:r>
            <a:endParaRPr dirty="0"/>
          </a:p>
          <a:p>
            <a:pPr marL="457103" indent="-298387">
              <a:spcBef>
                <a:spcPts val="600"/>
              </a:spcBef>
            </a:pPr>
            <a:r>
              <a:rPr lang="en-US" dirty="0"/>
              <a:t>Usage Example: "IMHO, we should prioritize customer feedback in the next update."</a:t>
            </a:r>
            <a:endParaRPr dirty="0"/>
          </a:p>
          <a:p>
            <a:pPr marL="158716" indent="0">
              <a:spcBef>
                <a:spcPts val="600"/>
              </a:spcBef>
              <a:buNone/>
            </a:pPr>
            <a:endParaRPr dirty="0"/>
          </a:p>
          <a:p>
            <a:pPr marL="158716" indent="0">
              <a:spcBef>
                <a:spcPts val="600"/>
              </a:spcBef>
              <a:buNone/>
            </a:pPr>
            <a:r>
              <a:rPr lang="en-US" b="1" dirty="0"/>
              <a:t>AFAIK (As Far As I Know)</a:t>
            </a:r>
            <a:endParaRPr dirty="0"/>
          </a:p>
          <a:p>
            <a:pPr marL="457103" indent="-298387">
              <a:spcBef>
                <a:spcPts val="600"/>
              </a:spcBef>
            </a:pPr>
            <a:r>
              <a:rPr lang="en-US" dirty="0"/>
              <a:t>Definition: A phrase used to indicate that the information being provided is to the best of the speaker's knowledge, but they acknowledge that it might not be complete or fully accurate.</a:t>
            </a:r>
            <a:endParaRPr dirty="0"/>
          </a:p>
          <a:p>
            <a:pPr marL="457103" indent="-298387">
              <a:spcBef>
                <a:spcPts val="600"/>
              </a:spcBef>
            </a:pPr>
            <a:r>
              <a:rPr lang="en-US" dirty="0"/>
              <a:t>Usage Example: "AFAIK, the project deadline is still next Friday."</a:t>
            </a:r>
            <a:endParaRPr dirty="0"/>
          </a:p>
          <a:p>
            <a:pPr marL="158716" indent="0">
              <a:spcBef>
                <a:spcPts val="600"/>
              </a:spcBef>
              <a:buNone/>
            </a:pPr>
            <a:endParaRPr dirty="0"/>
          </a:p>
          <a:p>
            <a:pPr marL="158716" indent="0">
              <a:spcBef>
                <a:spcPts val="600"/>
              </a:spcBef>
              <a:buNone/>
            </a:pPr>
            <a:r>
              <a:rPr lang="en-US" b="1" dirty="0"/>
              <a:t>LOL (Laughing Out Loud)</a:t>
            </a:r>
            <a:endParaRPr dirty="0"/>
          </a:p>
          <a:p>
            <a:pPr marL="158716" indent="0">
              <a:spcBef>
                <a:spcPts val="600"/>
              </a:spcBef>
              <a:buNone/>
            </a:pPr>
            <a:r>
              <a:rPr lang="en-US" dirty="0"/>
              <a:t>Definition: A way to express amusement or indicate that something is funny.</a:t>
            </a:r>
            <a:endParaRPr dirty="0"/>
          </a:p>
          <a:p>
            <a:pPr marL="457103" indent="-298387">
              <a:spcBef>
                <a:spcPts val="600"/>
              </a:spcBef>
            </a:pPr>
            <a:r>
              <a:rPr lang="en-US" dirty="0"/>
              <a:t>Usage Example: "That joke was hilarious, LOL!"</a:t>
            </a:r>
            <a:endParaRPr dirty="0"/>
          </a:p>
          <a:p>
            <a:pPr marL="457103" indent="-298387">
              <a:spcBef>
                <a:spcPts val="600"/>
              </a:spcBef>
            </a:pPr>
            <a:r>
              <a:rPr lang="en-US" dirty="0"/>
              <a:t>These abbreviations are commonly used in digital communication to save time and convey tone quickly.</a:t>
            </a:r>
          </a:p>
          <a:p>
            <a:pPr marL="457103" indent="-298387">
              <a:spcBef>
                <a:spcPts val="600"/>
              </a:spcBef>
            </a:pPr>
            <a:endParaRPr lang="en-US" dirty="0"/>
          </a:p>
          <a:p>
            <a:pPr marL="158716" indent="0">
              <a:spcBef>
                <a:spcPts val="600"/>
              </a:spcBef>
              <a:buNone/>
            </a:pPr>
            <a:r>
              <a:rPr lang="en-US" b="1" dirty="0"/>
              <a:t>TLDR (Too Long, Didn’t Read)</a:t>
            </a:r>
          </a:p>
          <a:p>
            <a:pPr marL="457103" indent="-298387">
              <a:spcBef>
                <a:spcPts val="600"/>
              </a:spcBef>
            </a:pPr>
            <a:r>
              <a:rPr lang="en-US" dirty="0"/>
              <a:t>Usage example: “The</a:t>
            </a:r>
            <a:r>
              <a:rPr lang="en-US" baseline="0" dirty="0"/>
              <a:t> report you sent was TLDR. Can you please summarize it for me?”</a:t>
            </a:r>
          </a:p>
          <a:p>
            <a:pPr marL="457103" indent="-298387">
              <a:spcBef>
                <a:spcPts val="600"/>
              </a:spcBef>
            </a:pPr>
            <a:r>
              <a:rPr lang="en-US" baseline="0" dirty="0"/>
              <a:t>Obviously very informal and borderline jokey - should only be used in a setting where there is an extremely good relationship between parties, as if used in the wrong way will appear dismissive and disrespectful</a:t>
            </a:r>
          </a:p>
          <a:p>
            <a:pPr marL="457103" indent="-298387">
              <a:spcBef>
                <a:spcPts val="600"/>
              </a:spcBef>
            </a:pPr>
            <a:endParaRPr lang="en-US" baseline="0" dirty="0"/>
          </a:p>
          <a:p>
            <a:pPr marL="158716" indent="0">
              <a:spcBef>
                <a:spcPts val="600"/>
              </a:spcBef>
              <a:buNone/>
            </a:pPr>
            <a:r>
              <a:rPr lang="en-US" b="1" dirty="0"/>
              <a:t>TBD/TBA</a:t>
            </a:r>
          </a:p>
          <a:p>
            <a:pPr marL="457103" indent="-298387">
              <a:spcBef>
                <a:spcPts val="600"/>
              </a:spcBef>
            </a:pPr>
            <a:r>
              <a:rPr lang="en-US" dirty="0"/>
              <a:t>Variations: To be Determined/To Be Decided</a:t>
            </a:r>
          </a:p>
          <a:p>
            <a:pPr marL="457103" indent="-298387">
              <a:spcBef>
                <a:spcPts val="600"/>
              </a:spcBef>
            </a:pPr>
            <a:r>
              <a:rPr lang="en-US" dirty="0"/>
              <a:t>Variations: To Be Agreed/To Be Announced</a:t>
            </a:r>
          </a:p>
          <a:p>
            <a:pPr marL="457103" indent="-298387">
              <a:spcBef>
                <a:spcPts val="600"/>
              </a:spcBef>
            </a:pPr>
            <a:r>
              <a:rPr lang="en-US" dirty="0"/>
              <a:t>Context</a:t>
            </a:r>
            <a:r>
              <a:rPr lang="en-US" baseline="0" dirty="0"/>
              <a:t> of usage usually helps determine exact meaning </a:t>
            </a:r>
            <a:endParaRPr dirty="0"/>
          </a:p>
          <a:p>
            <a:pPr marL="457103" indent="-228553">
              <a:spcBef>
                <a:spcPts val="600"/>
              </a:spcBef>
              <a:buNone/>
            </a:pPr>
            <a:endParaRPr dirty="0"/>
          </a:p>
          <a:p>
            <a:pPr marL="158716" indent="0">
              <a:spcBef>
                <a:spcPts val="600"/>
              </a:spcBef>
              <a:spcAft>
                <a:spcPts val="600"/>
              </a:spcAft>
              <a:buNone/>
            </a:pPr>
            <a:r>
              <a:rPr lang="en-US" b="1" i="1" dirty="0">
                <a:solidFill>
                  <a:srgbClr val="FF0000"/>
                </a:solidFill>
              </a:rPr>
              <a:t>NOTE: LOL is an example of common INFORMAL language and would not really be used in Business Purposes…. But is just a point of reference of how these terms can be used</a:t>
            </a:r>
            <a:endParaRPr b="1" i="1" dirty="0">
              <a:solidFill>
                <a:srgbClr val="FF0000"/>
              </a:solidFill>
            </a:endParaRPr>
          </a:p>
        </p:txBody>
      </p:sp>
    </p:spTree>
    <p:extLst>
      <p:ext uri="{BB962C8B-B14F-4D97-AF65-F5344CB8AC3E}">
        <p14:creationId xmlns:p14="http://schemas.microsoft.com/office/powerpoint/2010/main" val="3284192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8:notes"/>
          <p:cNvSpPr txBox="1">
            <a:spLocks noGrp="1"/>
          </p:cNvSpPr>
          <p:nvPr>
            <p:ph type="body" idx="1"/>
          </p:nvPr>
        </p:nvSpPr>
        <p:spPr>
          <a:xfrm>
            <a:off x="983918" y="3505235"/>
            <a:ext cx="7871446" cy="33207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6" name="Google Shape;236;p38:notes"/>
          <p:cNvSpPr>
            <a:spLocks noGrp="1" noRot="1" noChangeAspect="1"/>
          </p:cNvSpPr>
          <p:nvPr>
            <p:ph type="sldImg" idx="2"/>
          </p:nvPr>
        </p:nvSpPr>
        <p:spPr>
          <a:xfrm>
            <a:off x="2459038" y="552450"/>
            <a:ext cx="4921250" cy="2768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0048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39:notes"/>
          <p:cNvSpPr>
            <a:spLocks noGrp="1" noRot="1" noChangeAspect="1"/>
          </p:cNvSpPr>
          <p:nvPr>
            <p:ph type="sldImg" idx="2"/>
          </p:nvPr>
        </p:nvSpPr>
        <p:spPr>
          <a:xfrm>
            <a:off x="2449513" y="558800"/>
            <a:ext cx="4960937" cy="27908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39:notes"/>
          <p:cNvSpPr txBox="1">
            <a:spLocks noGrp="1"/>
          </p:cNvSpPr>
          <p:nvPr>
            <p:ph type="body" idx="1"/>
          </p:nvPr>
        </p:nvSpPr>
        <p:spPr>
          <a:xfrm>
            <a:off x="983918" y="3505235"/>
            <a:ext cx="7871446" cy="3320767"/>
          </a:xfrm>
          <a:prstGeom prst="rect">
            <a:avLst/>
          </a:prstGeom>
          <a:noFill/>
          <a:ln>
            <a:noFill/>
          </a:ln>
        </p:spPr>
        <p:txBody>
          <a:bodyPr spcFirstLastPara="1" wrap="square" lIns="91425" tIns="91425" rIns="91425" bIns="91425" anchor="t" anchorCtr="0">
            <a:noAutofit/>
          </a:bodyPr>
          <a:lstStyle/>
          <a:p>
            <a:pPr marL="159512" lvl="0" indent="0" algn="l" rtl="0">
              <a:lnSpc>
                <a:spcPct val="100000"/>
              </a:lnSpc>
              <a:spcBef>
                <a:spcPts val="0"/>
              </a:spcBef>
              <a:spcAft>
                <a:spcPts val="0"/>
              </a:spcAft>
              <a:buSzPts val="1100"/>
              <a:buNone/>
            </a:pPr>
            <a:r>
              <a:rPr lang="en-US" b="1" dirty="0"/>
              <a:t>Reasons for Bad Readability</a:t>
            </a:r>
            <a:endParaRPr dirty="0"/>
          </a:p>
          <a:p>
            <a:pPr marL="457200" lvl="0" indent="-298450" algn="l" rtl="0">
              <a:lnSpc>
                <a:spcPct val="100000"/>
              </a:lnSpc>
              <a:spcBef>
                <a:spcPts val="0"/>
              </a:spcBef>
              <a:spcAft>
                <a:spcPts val="0"/>
              </a:spcAft>
              <a:buSzPts val="1100"/>
              <a:buChar char="●"/>
            </a:pPr>
            <a:r>
              <a:rPr lang="en-US" b="1" dirty="0"/>
              <a:t>Wordiness</a:t>
            </a:r>
            <a:r>
              <a:rPr lang="en-US" dirty="0"/>
              <a:t>: The message is overly long and includes unnecessary details.</a:t>
            </a:r>
            <a:endParaRPr dirty="0"/>
          </a:p>
          <a:p>
            <a:pPr marL="457200" lvl="0" indent="-298450" algn="l" rtl="0">
              <a:lnSpc>
                <a:spcPct val="100000"/>
              </a:lnSpc>
              <a:spcBef>
                <a:spcPts val="0"/>
              </a:spcBef>
              <a:spcAft>
                <a:spcPts val="0"/>
              </a:spcAft>
              <a:buSzPts val="1100"/>
              <a:buChar char="●"/>
            </a:pPr>
            <a:r>
              <a:rPr lang="en-US" b="1" dirty="0"/>
              <a:t>Complex Sentences</a:t>
            </a:r>
            <a:r>
              <a:rPr lang="en-US" dirty="0"/>
              <a:t>: Use of lengthy, complex sentences that are harder to follow.</a:t>
            </a:r>
            <a:endParaRPr dirty="0"/>
          </a:p>
          <a:p>
            <a:pPr marL="457200" lvl="0" indent="-298450" algn="l" rtl="0">
              <a:lnSpc>
                <a:spcPct val="100000"/>
              </a:lnSpc>
              <a:spcBef>
                <a:spcPts val="0"/>
              </a:spcBef>
              <a:spcAft>
                <a:spcPts val="0"/>
              </a:spcAft>
              <a:buSzPts val="1100"/>
              <a:buChar char="●"/>
            </a:pPr>
            <a:r>
              <a:rPr lang="en-US" b="1" dirty="0"/>
              <a:t>Redundancy</a:t>
            </a:r>
            <a:r>
              <a:rPr lang="en-US" dirty="0"/>
              <a:t>: Repeating information and providing excessive suggestions.</a:t>
            </a:r>
            <a:endParaRPr dirty="0"/>
          </a:p>
          <a:p>
            <a:pPr marL="457200" lvl="0" indent="-298450" algn="l" rtl="0">
              <a:lnSpc>
                <a:spcPct val="100000"/>
              </a:lnSpc>
              <a:spcBef>
                <a:spcPts val="0"/>
              </a:spcBef>
              <a:spcAft>
                <a:spcPts val="0"/>
              </a:spcAft>
              <a:buSzPts val="1100"/>
              <a:buChar char="●"/>
            </a:pPr>
            <a:r>
              <a:rPr lang="en-US" b="1" dirty="0"/>
              <a:t>Lack of Focus</a:t>
            </a:r>
            <a:r>
              <a:rPr lang="en-US" dirty="0"/>
              <a:t>: Including too much background information and multiple suggestions disrupts the main message.</a:t>
            </a:r>
            <a:endParaRPr dirty="0"/>
          </a:p>
          <a:p>
            <a:pPr marL="457200" lvl="0" indent="-298450" algn="l" rtl="0">
              <a:lnSpc>
                <a:spcPct val="100000"/>
              </a:lnSpc>
              <a:spcBef>
                <a:spcPts val="0"/>
              </a:spcBef>
              <a:spcAft>
                <a:spcPts val="0"/>
              </a:spcAft>
              <a:buSzPts val="1100"/>
              <a:buChar char="●"/>
            </a:pPr>
            <a:r>
              <a:rPr lang="en-US" b="1" dirty="0"/>
              <a:t>Formality</a:t>
            </a:r>
            <a:r>
              <a:rPr lang="en-US" dirty="0"/>
              <a:t>: Excessive formality can make the message feel stiff and less engaging.</a:t>
            </a:r>
            <a:endParaRPr dirty="0"/>
          </a:p>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15450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9:notes"/>
          <p:cNvSpPr txBox="1">
            <a:spLocks noGrp="1"/>
          </p:cNvSpPr>
          <p:nvPr>
            <p:ph type="body" idx="1"/>
          </p:nvPr>
        </p:nvSpPr>
        <p:spPr>
          <a:xfrm>
            <a:off x="983918" y="3505235"/>
            <a:ext cx="7871446" cy="332076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34" name="Google Shape;334;p39:notes"/>
          <p:cNvSpPr>
            <a:spLocks noGrp="1" noRot="1" noChangeAspect="1"/>
          </p:cNvSpPr>
          <p:nvPr>
            <p:ph type="sldImg" idx="2"/>
          </p:nvPr>
        </p:nvSpPr>
        <p:spPr>
          <a:xfrm>
            <a:off x="2459038" y="552450"/>
            <a:ext cx="4921250" cy="2768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3867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0:notes"/>
          <p:cNvSpPr txBox="1">
            <a:spLocks noGrp="1"/>
          </p:cNvSpPr>
          <p:nvPr>
            <p:ph type="body" idx="1"/>
          </p:nvPr>
        </p:nvSpPr>
        <p:spPr>
          <a:xfrm>
            <a:off x="983918" y="3505235"/>
            <a:ext cx="7871446" cy="332076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40" name="Google Shape;340;p40:notes"/>
          <p:cNvSpPr>
            <a:spLocks noGrp="1" noRot="1" noChangeAspect="1"/>
          </p:cNvSpPr>
          <p:nvPr>
            <p:ph type="sldImg" idx="2"/>
          </p:nvPr>
        </p:nvSpPr>
        <p:spPr>
          <a:xfrm>
            <a:off x="2459038" y="552450"/>
            <a:ext cx="4921250" cy="2768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5349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1:notes"/>
          <p:cNvSpPr txBox="1">
            <a:spLocks noGrp="1"/>
          </p:cNvSpPr>
          <p:nvPr>
            <p:ph type="body" idx="1"/>
          </p:nvPr>
        </p:nvSpPr>
        <p:spPr>
          <a:xfrm>
            <a:off x="983918" y="3505235"/>
            <a:ext cx="7871446" cy="332076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46" name="Google Shape;346;p41:notes"/>
          <p:cNvSpPr>
            <a:spLocks noGrp="1" noRot="1" noChangeAspect="1"/>
          </p:cNvSpPr>
          <p:nvPr>
            <p:ph type="sldImg" idx="2"/>
          </p:nvPr>
        </p:nvSpPr>
        <p:spPr>
          <a:xfrm>
            <a:off x="2459038" y="552450"/>
            <a:ext cx="4921250" cy="2768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8455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63AE00-3350-4EBE-914D-FCAF678A3391}" type="slidenum">
              <a:rPr lang="en-GB" smtClean="0"/>
              <a:t>25</a:t>
            </a:fld>
            <a:endParaRPr lang="en-GB"/>
          </a:p>
        </p:txBody>
      </p:sp>
    </p:spTree>
    <p:extLst>
      <p:ext uri="{BB962C8B-B14F-4D97-AF65-F5344CB8AC3E}">
        <p14:creationId xmlns:p14="http://schemas.microsoft.com/office/powerpoint/2010/main" val="938944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4:notes"/>
          <p:cNvSpPr txBox="1">
            <a:spLocks noGrp="1"/>
          </p:cNvSpPr>
          <p:nvPr>
            <p:ph type="body" idx="1"/>
          </p:nvPr>
        </p:nvSpPr>
        <p:spPr>
          <a:xfrm>
            <a:off x="679758" y="4715123"/>
            <a:ext cx="5438133" cy="446698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p2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CB23E59-C84C-4706-B79F-9A26EFFFD5CE}"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3869945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CB23E59-C84C-4706-B79F-9A26EFFFD5CE}"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285347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23E59-C84C-4706-B79F-9A26EFFFD5CE}"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1682449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CB23E59-C84C-4706-B79F-9A26EFFFD5CE}" type="datetimeFigureOut">
              <a:rPr lang="en-GB" smtClean="0"/>
              <a:t>17/08/2026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2781555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CB23E59-C84C-4706-B79F-9A26EFFFD5CE}" type="datetimeFigureOut">
              <a:rPr lang="en-GB" smtClean="0"/>
              <a:t>17/08/2026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2249413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CB23E59-C84C-4706-B79F-9A26EFFFD5CE}" type="datetimeFigureOut">
              <a:rPr lang="en-GB" smtClean="0"/>
              <a:t>17/08/2026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3934288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B23E59-C84C-4706-B79F-9A26EFFFD5CE}" type="datetimeFigureOut">
              <a:rPr lang="en-GB" smtClean="0"/>
              <a:t>17/08/2026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55435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B23E59-C84C-4706-B79F-9A26EFFFD5CE}" type="datetimeFigureOut">
              <a:rPr lang="en-GB" smtClean="0"/>
              <a:t>17/08/2026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1480713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B23E59-C84C-4706-B79F-9A26EFFFD5CE}" type="datetimeFigureOut">
              <a:rPr lang="en-GB" smtClean="0"/>
              <a:t>17/08/2026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3630621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CB23E59-C84C-4706-B79F-9A26EFFFD5CE}"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2816331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CB23E59-C84C-4706-B79F-9A26EFFFD5CE}"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F67EA44-45AD-43B0-9A62-804C9E79BA3E}" type="slidenum">
              <a:rPr lang="en-GB" smtClean="0"/>
              <a:t>‹#›</a:t>
            </a:fld>
            <a:endParaRPr lang="en-GB"/>
          </a:p>
        </p:txBody>
      </p:sp>
    </p:spTree>
    <p:extLst>
      <p:ext uri="{BB962C8B-B14F-4D97-AF65-F5344CB8AC3E}">
        <p14:creationId xmlns:p14="http://schemas.microsoft.com/office/powerpoint/2010/main" val="3222050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B23E59-C84C-4706-B79F-9A26EFFFD5CE}" type="datetimeFigureOut">
              <a:rPr lang="en-GB" smtClean="0"/>
              <a:t>17/08/2026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67EA44-45AD-43B0-9A62-804C9E79BA3E}" type="slidenum">
              <a:rPr lang="en-GB" smtClean="0"/>
              <a:t>‹#›</a:t>
            </a:fld>
            <a:endParaRPr lang="en-GB"/>
          </a:p>
        </p:txBody>
      </p:sp>
    </p:spTree>
    <p:extLst>
      <p:ext uri="{BB962C8B-B14F-4D97-AF65-F5344CB8AC3E}">
        <p14:creationId xmlns:p14="http://schemas.microsoft.com/office/powerpoint/2010/main" val="199000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37"/>
          <p:cNvSpPr txBox="1">
            <a:spLocks noGrp="1"/>
          </p:cNvSpPr>
          <p:nvPr>
            <p:ph type="ctrTitle"/>
          </p:nvPr>
        </p:nvSpPr>
        <p:spPr>
          <a:xfrm>
            <a:off x="0" y="1122364"/>
            <a:ext cx="12192000" cy="13160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5"/>
              </a:buClr>
              <a:buSzPts val="6000"/>
              <a:buFont typeface="Calibri"/>
              <a:buNone/>
            </a:pPr>
            <a:r>
              <a:rPr lang="en-US" sz="6000" b="1" dirty="0">
                <a:solidFill>
                  <a:schemeClr val="accent5"/>
                </a:solidFill>
                <a:latin typeface="Calibri"/>
                <a:ea typeface="Calibri"/>
                <a:cs typeface="Calibri"/>
                <a:sym typeface="Calibri"/>
              </a:rPr>
              <a:t>ITLG311 - Business Communication</a:t>
            </a:r>
            <a:endParaRPr dirty="0"/>
          </a:p>
        </p:txBody>
      </p:sp>
      <p:sp>
        <p:nvSpPr>
          <p:cNvPr id="63" name="Google Shape;63;p37"/>
          <p:cNvSpPr txBox="1">
            <a:spLocks noGrp="1"/>
          </p:cNvSpPr>
          <p:nvPr>
            <p:ph type="subTitle" idx="1"/>
          </p:nvPr>
        </p:nvSpPr>
        <p:spPr>
          <a:xfrm>
            <a:off x="0" y="3353680"/>
            <a:ext cx="12192000" cy="165576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800"/>
              <a:buNone/>
            </a:pPr>
            <a:r>
              <a:rPr lang="en-US" sz="2800" b="1" dirty="0"/>
              <a:t>Faculty of ICT, </a:t>
            </a:r>
            <a:r>
              <a:rPr lang="en-US" sz="2800" b="1" dirty="0" err="1"/>
              <a:t>Mahidol</a:t>
            </a:r>
            <a:r>
              <a:rPr lang="en-US" sz="2800" b="1" dirty="0"/>
              <a:t> University</a:t>
            </a:r>
            <a:endParaRPr dirty="0"/>
          </a:p>
          <a:p>
            <a:pPr marL="0" lvl="0" indent="0" algn="ctr" rtl="0">
              <a:lnSpc>
                <a:spcPct val="90000"/>
              </a:lnSpc>
              <a:spcBef>
                <a:spcPts val="1000"/>
              </a:spcBef>
              <a:spcAft>
                <a:spcPts val="0"/>
              </a:spcAft>
              <a:buClr>
                <a:schemeClr val="dk1"/>
              </a:buClr>
              <a:buSzPts val="2800"/>
              <a:buNone/>
            </a:pPr>
            <a:r>
              <a:rPr lang="en-US" sz="2800" b="1" dirty="0"/>
              <a:t>Semester 1, 2026-27</a:t>
            </a:r>
            <a:endParaRPr dirty="0"/>
          </a:p>
          <a:p>
            <a:pPr marL="0" lvl="0" indent="0" algn="ctr" rtl="0">
              <a:lnSpc>
                <a:spcPct val="90000"/>
              </a:lnSpc>
              <a:spcBef>
                <a:spcPts val="1000"/>
              </a:spcBef>
              <a:spcAft>
                <a:spcPts val="0"/>
              </a:spcAft>
              <a:buClr>
                <a:schemeClr val="dk1"/>
              </a:buClr>
              <a:buSzPts val="2800"/>
              <a:buNone/>
            </a:pPr>
            <a:endParaRPr dirty="0"/>
          </a:p>
          <a:p>
            <a:pPr marL="0" lvl="0" indent="0" algn="ctr" rtl="0">
              <a:lnSpc>
                <a:spcPct val="90000"/>
              </a:lnSpc>
              <a:spcBef>
                <a:spcPts val="1000"/>
              </a:spcBef>
              <a:spcAft>
                <a:spcPts val="0"/>
              </a:spcAft>
              <a:buClr>
                <a:schemeClr val="dk1"/>
              </a:buClr>
              <a:buSzPts val="2800"/>
              <a:buNone/>
            </a:pPr>
            <a:r>
              <a:rPr lang="en-US" sz="2800" b="1" dirty="0">
                <a:solidFill>
                  <a:schemeClr val="dk1"/>
                </a:solidFill>
              </a:rPr>
              <a:t>Session 03: Adapting The Message</a:t>
            </a:r>
            <a:endParaRPr sz="2800" b="1" dirty="0">
              <a:solidFill>
                <a:schemeClr val="dk1"/>
              </a:solidFill>
            </a:endParaRPr>
          </a:p>
        </p:txBody>
      </p:sp>
    </p:spTree>
    <p:extLst>
      <p:ext uri="{BB962C8B-B14F-4D97-AF65-F5344CB8AC3E}">
        <p14:creationId xmlns:p14="http://schemas.microsoft.com/office/powerpoint/2010/main" val="2577337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Previously:</a:t>
            </a:r>
            <a:endParaRPr b="1" dirty="0">
              <a:solidFill>
                <a:schemeClr val="accent5"/>
              </a:solidFill>
              <a:latin typeface="+mn-lt"/>
            </a:endParaRPr>
          </a:p>
        </p:txBody>
      </p:sp>
      <p:sp>
        <p:nvSpPr>
          <p:cNvPr id="69" name="Google Shape;69;p38"/>
          <p:cNvSpPr txBox="1">
            <a:spLocks noGrp="1"/>
          </p:cNvSpPr>
          <p:nvPr>
            <p:ph type="body" idx="1"/>
          </p:nvPr>
        </p:nvSpPr>
        <p:spPr>
          <a:xfrm>
            <a:off x="838200" y="1825624"/>
            <a:ext cx="11197856" cy="4872887"/>
          </a:xfrm>
          <a:prstGeom prst="rect">
            <a:avLst/>
          </a:prstGeom>
          <a:noFill/>
          <a:ln>
            <a:noFill/>
          </a:ln>
        </p:spPr>
        <p:txBody>
          <a:bodyPr spcFirstLastPara="1" wrap="square" lIns="91425" tIns="45700" rIns="91425" bIns="45700" anchor="t" anchorCtr="0">
            <a:normAutofit fontScale="85000" lnSpcReduction="20000"/>
          </a:bodyPr>
          <a:lstStyle/>
          <a:p>
            <a:pPr marL="114300" lvl="0" indent="0" algn="l" rtl="0">
              <a:lnSpc>
                <a:spcPct val="120000"/>
              </a:lnSpc>
              <a:spcBef>
                <a:spcPts val="0"/>
              </a:spcBef>
              <a:spcAft>
                <a:spcPts val="0"/>
              </a:spcAft>
              <a:buSzPct val="75630"/>
              <a:buNone/>
            </a:pPr>
            <a:r>
              <a:rPr lang="en-US" b="1" dirty="0">
                <a:solidFill>
                  <a:schemeClr val="accent5"/>
                </a:solidFill>
              </a:rPr>
              <a:t>Unit 1: Getting Started: What Is Business Communication?</a:t>
            </a:r>
            <a:endParaRPr dirty="0"/>
          </a:p>
          <a:p>
            <a:pPr marL="457200" lvl="0" indent="-228600" algn="l" rtl="0">
              <a:lnSpc>
                <a:spcPct val="120000"/>
              </a:lnSpc>
              <a:spcBef>
                <a:spcPts val="0"/>
              </a:spcBef>
              <a:spcAft>
                <a:spcPts val="0"/>
              </a:spcAft>
              <a:buSzPct val="75630"/>
              <a:buNone/>
            </a:pPr>
            <a:endParaRPr b="1" dirty="0"/>
          </a:p>
          <a:p>
            <a:pPr marL="114300" lvl="0" indent="0" algn="l" rtl="0">
              <a:lnSpc>
                <a:spcPct val="120000"/>
              </a:lnSpc>
              <a:spcBef>
                <a:spcPts val="0"/>
              </a:spcBef>
              <a:spcAft>
                <a:spcPts val="0"/>
              </a:spcAft>
              <a:buSzPct val="75630"/>
              <a:buNone/>
            </a:pPr>
            <a:r>
              <a:rPr lang="en-US" b="1" dirty="0"/>
              <a:t>Fundamentals of Writing for Business Purposes:</a:t>
            </a:r>
            <a:endParaRPr b="1" dirty="0"/>
          </a:p>
          <a:p>
            <a:pPr marL="457200" lvl="0" indent="-342900" algn="l" rtl="0">
              <a:lnSpc>
                <a:spcPct val="120000"/>
              </a:lnSpc>
              <a:spcBef>
                <a:spcPts val="0"/>
              </a:spcBef>
              <a:spcAft>
                <a:spcPts val="0"/>
              </a:spcAft>
              <a:buSzPct val="75630"/>
              <a:buChar char="•"/>
            </a:pPr>
            <a:r>
              <a:rPr lang="en-US" dirty="0"/>
              <a:t>Understand the purpose and goals of the course, lesson/unit structures, and evaluation formats</a:t>
            </a:r>
            <a:endParaRPr dirty="0"/>
          </a:p>
          <a:p>
            <a:pPr marL="457200" lvl="0" indent="-342900" algn="l" rtl="0">
              <a:lnSpc>
                <a:spcPct val="120000"/>
              </a:lnSpc>
              <a:spcBef>
                <a:spcPts val="0"/>
              </a:spcBef>
              <a:spcAft>
                <a:spcPts val="0"/>
              </a:spcAft>
              <a:buSzPct val="75630"/>
              <a:buChar char="•"/>
            </a:pPr>
            <a:r>
              <a:rPr lang="en-US" dirty="0"/>
              <a:t>Recognize basics of writing for business purposes, and how it differs from other purposes of communication</a:t>
            </a:r>
            <a:endParaRPr dirty="0"/>
          </a:p>
          <a:p>
            <a:pPr marL="457200" lvl="0" indent="-228600" algn="l" rtl="0">
              <a:lnSpc>
                <a:spcPct val="120000"/>
              </a:lnSpc>
              <a:spcBef>
                <a:spcPts val="0"/>
              </a:spcBef>
              <a:spcAft>
                <a:spcPts val="0"/>
              </a:spcAft>
              <a:buSzPct val="75630"/>
              <a:buNone/>
            </a:pPr>
            <a:endParaRPr dirty="0"/>
          </a:p>
          <a:p>
            <a:pPr marL="114300" lvl="0" indent="0" algn="l" rtl="0">
              <a:lnSpc>
                <a:spcPct val="120000"/>
              </a:lnSpc>
              <a:spcBef>
                <a:spcPts val="0"/>
              </a:spcBef>
              <a:spcAft>
                <a:spcPts val="0"/>
              </a:spcAft>
              <a:buSzPct val="75630"/>
              <a:buNone/>
            </a:pPr>
            <a:r>
              <a:rPr lang="en-US" b="1" dirty="0"/>
              <a:t>Focus On Audience, Tone and Function</a:t>
            </a:r>
            <a:endParaRPr dirty="0"/>
          </a:p>
          <a:p>
            <a:pPr marL="457200" lvl="0" indent="-342900" algn="l" rtl="0">
              <a:lnSpc>
                <a:spcPct val="120000"/>
              </a:lnSpc>
              <a:spcBef>
                <a:spcPts val="0"/>
              </a:spcBef>
              <a:spcAft>
                <a:spcPts val="0"/>
              </a:spcAft>
              <a:buSzPct val="75630"/>
              <a:buChar char="•"/>
            </a:pPr>
            <a:r>
              <a:rPr lang="en-US" dirty="0"/>
              <a:t>Understanding incoming messages and forming responses that match the purpose and focus</a:t>
            </a:r>
            <a:endParaRPr dirty="0"/>
          </a:p>
          <a:p>
            <a:pPr marL="457200" lvl="0" indent="-342900" algn="l" rtl="0">
              <a:lnSpc>
                <a:spcPct val="120000"/>
              </a:lnSpc>
              <a:spcBef>
                <a:spcPts val="0"/>
              </a:spcBef>
              <a:spcAft>
                <a:spcPts val="0"/>
              </a:spcAft>
              <a:buSzPct val="75630"/>
              <a:buChar char="•"/>
            </a:pPr>
            <a:r>
              <a:rPr lang="en-US" dirty="0"/>
              <a:t>Understand Internal vs External messaging </a:t>
            </a:r>
            <a:endParaRPr dirty="0"/>
          </a:p>
          <a:p>
            <a:pPr marL="457200" lvl="0" indent="-342900" algn="l" rtl="0">
              <a:lnSpc>
                <a:spcPct val="120000"/>
              </a:lnSpc>
              <a:spcBef>
                <a:spcPts val="0"/>
              </a:spcBef>
              <a:spcAft>
                <a:spcPts val="0"/>
              </a:spcAft>
              <a:buSzPct val="75630"/>
              <a:buChar char="•"/>
            </a:pPr>
            <a:r>
              <a:rPr lang="en-US" dirty="0"/>
              <a:t>Recognize the importance of accuracy and readability</a:t>
            </a:r>
            <a:endParaRPr dirty="0"/>
          </a:p>
        </p:txBody>
      </p:sp>
    </p:spTree>
    <p:extLst>
      <p:ext uri="{BB962C8B-B14F-4D97-AF65-F5344CB8AC3E}">
        <p14:creationId xmlns:p14="http://schemas.microsoft.com/office/powerpoint/2010/main" val="292068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85FF-EE0D-5AE7-B2F0-E16DE2627813}"/>
              </a:ext>
            </a:extLst>
          </p:cNvPr>
          <p:cNvSpPr>
            <a:spLocks noGrp="1"/>
          </p:cNvSpPr>
          <p:nvPr>
            <p:ph type="title"/>
          </p:nvPr>
        </p:nvSpPr>
        <p:spPr/>
        <p:txBody>
          <a:bodyPr/>
          <a:lstStyle/>
          <a:p>
            <a:r>
              <a:rPr lang="en-US" b="1" dirty="0">
                <a:solidFill>
                  <a:schemeClr val="accent5"/>
                </a:solidFill>
                <a:latin typeface="+mn-lt"/>
              </a:rPr>
              <a:t>What Makes a Business Message Effective?</a:t>
            </a:r>
            <a:endParaRPr lang="en-US" dirty="0">
              <a:latin typeface="+mn-lt"/>
            </a:endParaRPr>
          </a:p>
        </p:txBody>
      </p:sp>
      <p:sp>
        <p:nvSpPr>
          <p:cNvPr id="3" name="Text Placeholder 2">
            <a:extLst>
              <a:ext uri="{FF2B5EF4-FFF2-40B4-BE49-F238E27FC236}">
                <a16:creationId xmlns:a16="http://schemas.microsoft.com/office/drawing/2014/main" id="{2332A33E-F367-57EB-9F07-9485DE9191E3}"/>
              </a:ext>
            </a:extLst>
          </p:cNvPr>
          <p:cNvSpPr>
            <a:spLocks noGrp="1"/>
          </p:cNvSpPr>
          <p:nvPr>
            <p:ph type="body" idx="1"/>
          </p:nvPr>
        </p:nvSpPr>
        <p:spPr/>
        <p:txBody>
          <a:bodyPr>
            <a:normAutofit/>
          </a:bodyPr>
          <a:lstStyle/>
          <a:p>
            <a:pPr marL="114300" indent="0">
              <a:buNone/>
            </a:pPr>
            <a:endParaRPr lang="en-US" dirty="0"/>
          </a:p>
        </p:txBody>
      </p:sp>
    </p:spTree>
    <p:extLst>
      <p:ext uri="{BB962C8B-B14F-4D97-AF65-F5344CB8AC3E}">
        <p14:creationId xmlns:p14="http://schemas.microsoft.com/office/powerpoint/2010/main" val="2407087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Homework/Feedback:</a:t>
            </a:r>
          </a:p>
        </p:txBody>
      </p:sp>
    </p:spTree>
    <p:extLst>
      <p:ext uri="{BB962C8B-B14F-4D97-AF65-F5344CB8AC3E}">
        <p14:creationId xmlns:p14="http://schemas.microsoft.com/office/powerpoint/2010/main" val="903495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This Week:</a:t>
            </a:r>
            <a:endParaRPr lang="en-GB" dirty="0">
              <a:latin typeface="+mn-lt"/>
            </a:endParaRPr>
          </a:p>
        </p:txBody>
      </p:sp>
      <p:sp>
        <p:nvSpPr>
          <p:cNvPr id="3" name="Content Placeholder 2"/>
          <p:cNvSpPr>
            <a:spLocks noGrp="1"/>
          </p:cNvSpPr>
          <p:nvPr>
            <p:ph idx="1"/>
          </p:nvPr>
        </p:nvSpPr>
        <p:spPr/>
        <p:txBody>
          <a:bodyPr>
            <a:normAutofit/>
          </a:bodyPr>
          <a:lstStyle/>
          <a:p>
            <a:pPr marL="324000" lvl="0" indent="-360000">
              <a:lnSpc>
                <a:spcPct val="100000"/>
              </a:lnSpc>
              <a:spcBef>
                <a:spcPts val="0"/>
              </a:spcBef>
            </a:pPr>
            <a:r>
              <a:rPr lang="en-US" sz="2400" b="1" dirty="0"/>
              <a:t>Recognize </a:t>
            </a:r>
            <a:r>
              <a:rPr lang="en-US" sz="2400" dirty="0"/>
              <a:t>the purpose, audience and key information in business messages. </a:t>
            </a:r>
          </a:p>
          <a:p>
            <a:pPr marL="324000" lvl="0" indent="-360000">
              <a:lnSpc>
                <a:spcPct val="100000"/>
              </a:lnSpc>
              <a:spcBef>
                <a:spcPts val="0"/>
              </a:spcBef>
            </a:pPr>
            <a:endParaRPr lang="en-US" sz="2400" b="1" dirty="0"/>
          </a:p>
          <a:p>
            <a:pPr marL="324000" lvl="0" indent="-360000">
              <a:lnSpc>
                <a:spcPct val="100000"/>
              </a:lnSpc>
              <a:spcBef>
                <a:spcPts val="0"/>
              </a:spcBef>
            </a:pPr>
            <a:r>
              <a:rPr lang="en-US" sz="2400" b="1" dirty="0"/>
              <a:t>Adapt</a:t>
            </a:r>
            <a:r>
              <a:rPr lang="en-US" sz="2400" dirty="0"/>
              <a:t> the amount of information, tone and language for different audiences. </a:t>
            </a:r>
          </a:p>
          <a:p>
            <a:pPr marL="324000" lvl="0" indent="-360000">
              <a:lnSpc>
                <a:spcPct val="100000"/>
              </a:lnSpc>
              <a:spcBef>
                <a:spcPts val="0"/>
              </a:spcBef>
            </a:pPr>
            <a:endParaRPr lang="en-US" sz="2400" b="1" dirty="0"/>
          </a:p>
          <a:p>
            <a:pPr marL="324000" lvl="0" indent="-360000">
              <a:lnSpc>
                <a:spcPct val="100000"/>
              </a:lnSpc>
              <a:spcBef>
                <a:spcPts val="0"/>
              </a:spcBef>
            </a:pPr>
            <a:r>
              <a:rPr lang="en-US" sz="2400" b="1" dirty="0"/>
              <a:t>Structure</a:t>
            </a:r>
            <a:r>
              <a:rPr lang="en-US" sz="2400" dirty="0"/>
              <a:t> a professional business email using appropriate structures and functional language. </a:t>
            </a:r>
          </a:p>
          <a:p>
            <a:pPr marL="324000" lvl="0" indent="-360000">
              <a:lnSpc>
                <a:spcPct val="100000"/>
              </a:lnSpc>
              <a:spcBef>
                <a:spcPts val="0"/>
              </a:spcBef>
            </a:pPr>
            <a:endParaRPr lang="en-US" sz="2400" b="1" dirty="0"/>
          </a:p>
          <a:p>
            <a:pPr marL="324000" lvl="0" indent="-360000">
              <a:lnSpc>
                <a:spcPct val="100000"/>
              </a:lnSpc>
              <a:spcBef>
                <a:spcPts val="0"/>
              </a:spcBef>
            </a:pPr>
            <a:r>
              <a:rPr lang="en-US" sz="2400" b="1" dirty="0"/>
              <a:t>Evaluate and improve</a:t>
            </a:r>
            <a:r>
              <a:rPr lang="en-US" sz="2400" dirty="0"/>
              <a:t> messages for accuracy and readability. </a:t>
            </a:r>
          </a:p>
          <a:p>
            <a:pPr marL="324000" lvl="0" indent="-360000">
              <a:lnSpc>
                <a:spcPct val="100000"/>
              </a:lnSpc>
              <a:spcBef>
                <a:spcPts val="0"/>
              </a:spcBef>
            </a:pPr>
            <a:endParaRPr lang="en-US" sz="2400" b="1" dirty="0"/>
          </a:p>
          <a:p>
            <a:pPr marL="324000" lvl="0" indent="-360000">
              <a:lnSpc>
                <a:spcPct val="100000"/>
              </a:lnSpc>
              <a:spcBef>
                <a:spcPts val="0"/>
              </a:spcBef>
            </a:pPr>
            <a:r>
              <a:rPr lang="en-US" sz="2400" b="1" dirty="0"/>
              <a:t>Apply</a:t>
            </a:r>
            <a:r>
              <a:rPr lang="en-US" sz="2400" dirty="0"/>
              <a:t> these principles to communicate the same information to different audiences.</a:t>
            </a:r>
          </a:p>
          <a:p>
            <a:pPr marL="324000" indent="-360000">
              <a:lnSpc>
                <a:spcPct val="100000"/>
              </a:lnSpc>
              <a:spcBef>
                <a:spcPts val="0"/>
              </a:spcBef>
            </a:pPr>
            <a:endParaRPr lang="en-GB" sz="2400" dirty="0"/>
          </a:p>
        </p:txBody>
      </p:sp>
    </p:spTree>
    <p:extLst>
      <p:ext uri="{BB962C8B-B14F-4D97-AF65-F5344CB8AC3E}">
        <p14:creationId xmlns:p14="http://schemas.microsoft.com/office/powerpoint/2010/main" val="227111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Today’s Reference Materials/Resources</a:t>
            </a:r>
            <a:endParaRPr lang="en-GB" dirty="0">
              <a:latin typeface="+mn-lt"/>
            </a:endParaRPr>
          </a:p>
        </p:txBody>
      </p:sp>
      <p:pic>
        <p:nvPicPr>
          <p:cNvPr id="5" name="Content Placeholder 4">
            <a:extLst>
              <a:ext uri="{FF2B5EF4-FFF2-40B4-BE49-F238E27FC236}">
                <a16:creationId xmlns:a16="http://schemas.microsoft.com/office/drawing/2014/main" id="{A88D8784-0CE4-A7F4-E7B7-B6D269BC2F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68885" y="1515382"/>
            <a:ext cx="3531714" cy="4351338"/>
          </a:xfrm>
          <a:prstGeom prst="rect">
            <a:avLst/>
          </a:prstGeom>
        </p:spPr>
      </p:pic>
    </p:spTree>
    <p:extLst>
      <p:ext uri="{BB962C8B-B14F-4D97-AF65-F5344CB8AC3E}">
        <p14:creationId xmlns:p14="http://schemas.microsoft.com/office/powerpoint/2010/main" val="1642440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E81C-843B-DA10-7293-5EB40D02549E}"/>
              </a:ext>
            </a:extLst>
          </p:cNvPr>
          <p:cNvSpPr>
            <a:spLocks noGrp="1"/>
          </p:cNvSpPr>
          <p:nvPr>
            <p:ph type="title"/>
          </p:nvPr>
        </p:nvSpPr>
        <p:spPr>
          <a:xfrm>
            <a:off x="838199" y="365125"/>
            <a:ext cx="11091863" cy="1325563"/>
          </a:xfrm>
        </p:spPr>
        <p:txBody>
          <a:bodyPr/>
          <a:lstStyle/>
          <a:p>
            <a:r>
              <a:rPr lang="en-US" b="1" dirty="0">
                <a:solidFill>
                  <a:schemeClr val="accent5"/>
                </a:solidFill>
                <a:latin typeface="+mn-lt"/>
              </a:rPr>
              <a:t>Communicating the ‘Right Information’</a:t>
            </a:r>
            <a:endParaRPr lang="en-US" dirty="0">
              <a:latin typeface="+mn-lt"/>
            </a:endParaRPr>
          </a:p>
        </p:txBody>
      </p:sp>
      <p:sp>
        <p:nvSpPr>
          <p:cNvPr id="3" name="Text Placeholder 2">
            <a:extLst>
              <a:ext uri="{FF2B5EF4-FFF2-40B4-BE49-F238E27FC236}">
                <a16:creationId xmlns:a16="http://schemas.microsoft.com/office/drawing/2014/main" id="{1C567CB7-5E42-BAD7-0511-0E43397CC686}"/>
              </a:ext>
            </a:extLst>
          </p:cNvPr>
          <p:cNvSpPr>
            <a:spLocks noGrp="1"/>
          </p:cNvSpPr>
          <p:nvPr>
            <p:ph type="body" idx="1"/>
          </p:nvPr>
        </p:nvSpPr>
        <p:spPr>
          <a:xfrm>
            <a:off x="838200" y="1825624"/>
            <a:ext cx="10515600" cy="5032375"/>
          </a:xfrm>
        </p:spPr>
        <p:txBody>
          <a:bodyPr>
            <a:noAutofit/>
          </a:bodyPr>
          <a:lstStyle/>
          <a:p>
            <a:pPr marL="0" indent="0">
              <a:lnSpc>
                <a:spcPct val="100000"/>
              </a:lnSpc>
              <a:spcBef>
                <a:spcPts val="0"/>
              </a:spcBef>
              <a:buNone/>
            </a:pPr>
            <a:r>
              <a:rPr lang="en-US" sz="2400" b="1" dirty="0"/>
              <a:t>Every message plan requires 3 key questions to be answered:</a:t>
            </a:r>
          </a:p>
          <a:p>
            <a:pPr marL="0">
              <a:lnSpc>
                <a:spcPct val="100000"/>
              </a:lnSpc>
              <a:spcBef>
                <a:spcPts val="600"/>
              </a:spcBef>
              <a:spcAft>
                <a:spcPts val="600"/>
              </a:spcAft>
            </a:pPr>
            <a:r>
              <a:rPr lang="en-US" sz="2400" dirty="0"/>
              <a:t>What is the primary function of the message?</a:t>
            </a:r>
          </a:p>
          <a:p>
            <a:pPr marL="0">
              <a:lnSpc>
                <a:spcPct val="100000"/>
              </a:lnSpc>
              <a:spcBef>
                <a:spcPts val="600"/>
              </a:spcBef>
              <a:spcAft>
                <a:spcPts val="600"/>
              </a:spcAft>
            </a:pPr>
            <a:r>
              <a:rPr lang="en-US" sz="2400" dirty="0"/>
              <a:t>What does the reader need to know?</a:t>
            </a:r>
          </a:p>
          <a:p>
            <a:pPr marL="0">
              <a:lnSpc>
                <a:spcPct val="100000"/>
              </a:lnSpc>
              <a:spcBef>
                <a:spcPts val="0"/>
              </a:spcBef>
            </a:pPr>
            <a:r>
              <a:rPr lang="en-US" sz="2400" dirty="0"/>
              <a:t>What should the reader do after the message?</a:t>
            </a:r>
          </a:p>
          <a:p>
            <a:pPr marL="0" indent="0">
              <a:lnSpc>
                <a:spcPct val="100000"/>
              </a:lnSpc>
              <a:spcBef>
                <a:spcPts val="0"/>
              </a:spcBef>
              <a:buNone/>
            </a:pPr>
            <a:endParaRPr lang="en-US" sz="2400" dirty="0"/>
          </a:p>
          <a:p>
            <a:pPr marL="0" indent="0">
              <a:lnSpc>
                <a:spcPct val="100000"/>
              </a:lnSpc>
              <a:spcBef>
                <a:spcPts val="0"/>
              </a:spcBef>
              <a:buNone/>
            </a:pPr>
            <a:r>
              <a:rPr lang="en-US" sz="2400" b="1" dirty="0"/>
              <a:t>These questions can be answered by considering the following:</a:t>
            </a:r>
          </a:p>
          <a:p>
            <a:pPr marL="0" indent="0">
              <a:lnSpc>
                <a:spcPct val="100000"/>
              </a:lnSpc>
              <a:spcBef>
                <a:spcPts val="600"/>
              </a:spcBef>
              <a:spcAft>
                <a:spcPts val="1200"/>
              </a:spcAft>
              <a:buNone/>
            </a:pPr>
            <a:r>
              <a:rPr lang="en-US" sz="2000" dirty="0"/>
              <a:t>WHAT? </a:t>
            </a:r>
          </a:p>
          <a:p>
            <a:pPr marL="0" indent="0">
              <a:lnSpc>
                <a:spcPct val="100000"/>
              </a:lnSpc>
              <a:spcBef>
                <a:spcPts val="0"/>
              </a:spcBef>
              <a:spcAft>
                <a:spcPts val="1200"/>
              </a:spcAft>
              <a:buNone/>
            </a:pPr>
            <a:r>
              <a:rPr lang="en-US" sz="2000" dirty="0"/>
              <a:t>WHO?</a:t>
            </a:r>
          </a:p>
          <a:p>
            <a:pPr marL="0" indent="0">
              <a:lnSpc>
                <a:spcPct val="100000"/>
              </a:lnSpc>
              <a:spcBef>
                <a:spcPts val="0"/>
              </a:spcBef>
              <a:spcAft>
                <a:spcPts val="1200"/>
              </a:spcAft>
              <a:buNone/>
            </a:pPr>
            <a:r>
              <a:rPr lang="en-US" sz="2000" dirty="0"/>
              <a:t>WHEN?</a:t>
            </a:r>
          </a:p>
          <a:p>
            <a:pPr marL="0" indent="0">
              <a:lnSpc>
                <a:spcPct val="100000"/>
              </a:lnSpc>
              <a:spcBef>
                <a:spcPts val="0"/>
              </a:spcBef>
              <a:spcAft>
                <a:spcPts val="1200"/>
              </a:spcAft>
              <a:buNone/>
            </a:pPr>
            <a:r>
              <a:rPr lang="en-US" sz="2000" dirty="0"/>
              <a:t>WHERE?</a:t>
            </a:r>
          </a:p>
          <a:p>
            <a:pPr marL="0" indent="0">
              <a:lnSpc>
                <a:spcPct val="100000"/>
              </a:lnSpc>
              <a:spcBef>
                <a:spcPts val="0"/>
              </a:spcBef>
              <a:spcAft>
                <a:spcPts val="1200"/>
              </a:spcAft>
              <a:buNone/>
            </a:pPr>
            <a:r>
              <a:rPr lang="en-US" sz="2000" dirty="0"/>
              <a:t>ACTION?</a:t>
            </a:r>
            <a:br>
              <a:rPr lang="en-US" sz="2400" dirty="0"/>
            </a:br>
            <a:endParaRPr lang="en-US" sz="2400" dirty="0"/>
          </a:p>
        </p:txBody>
      </p:sp>
      <p:sp>
        <p:nvSpPr>
          <p:cNvPr id="4" name="Rectangle 3"/>
          <p:cNvSpPr/>
          <p:nvPr/>
        </p:nvSpPr>
        <p:spPr>
          <a:xfrm>
            <a:off x="2909887" y="4402804"/>
            <a:ext cx="8720138" cy="2246769"/>
          </a:xfrm>
          <a:prstGeom prst="rect">
            <a:avLst/>
          </a:prstGeom>
        </p:spPr>
        <p:txBody>
          <a:bodyPr wrap="square">
            <a:spAutoFit/>
          </a:bodyPr>
          <a:lstStyle/>
          <a:p>
            <a:pPr>
              <a:spcAft>
                <a:spcPts val="1200"/>
              </a:spcAft>
            </a:pPr>
            <a:r>
              <a:rPr lang="en-US" sz="2000" dirty="0"/>
              <a:t>What is the situation - What happened / What is being requested or provided?</a:t>
            </a:r>
          </a:p>
          <a:p>
            <a:pPr>
              <a:spcBef>
                <a:spcPts val="0"/>
              </a:spcBef>
              <a:spcAft>
                <a:spcPts val="1200"/>
              </a:spcAft>
            </a:pPr>
            <a:r>
              <a:rPr lang="en-US" sz="2000" dirty="0"/>
              <a:t>Who was / is / will be involved?</a:t>
            </a:r>
          </a:p>
          <a:p>
            <a:pPr>
              <a:spcBef>
                <a:spcPts val="0"/>
              </a:spcBef>
              <a:spcAft>
                <a:spcPts val="1200"/>
              </a:spcAft>
            </a:pPr>
            <a:r>
              <a:rPr lang="en-US" sz="2000" dirty="0"/>
              <a:t>What date, time or deadline?</a:t>
            </a:r>
          </a:p>
          <a:p>
            <a:pPr>
              <a:spcBef>
                <a:spcPts val="0"/>
              </a:spcBef>
              <a:spcAft>
                <a:spcPts val="1200"/>
              </a:spcAft>
            </a:pPr>
            <a:r>
              <a:rPr lang="en-US" sz="2000" dirty="0"/>
              <a:t>Where does the situation (or follow-up) occur?</a:t>
            </a:r>
          </a:p>
          <a:p>
            <a:pPr>
              <a:spcBef>
                <a:spcPts val="0"/>
              </a:spcBef>
              <a:spcAft>
                <a:spcPts val="1200"/>
              </a:spcAft>
            </a:pPr>
            <a:r>
              <a:rPr lang="en-US" sz="2000" dirty="0"/>
              <a:t>What does the reader need to do next?</a:t>
            </a:r>
          </a:p>
        </p:txBody>
      </p:sp>
    </p:spTree>
    <p:extLst>
      <p:ext uri="{BB962C8B-B14F-4D97-AF65-F5344CB8AC3E}">
        <p14:creationId xmlns:p14="http://schemas.microsoft.com/office/powerpoint/2010/main" val="864064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Purposeful Messaging</a:t>
            </a:r>
            <a:endParaRPr lang="en-GB" b="1" dirty="0">
              <a:solidFill>
                <a:schemeClr val="accent5"/>
              </a:solidFill>
              <a:latin typeface="+mn-lt"/>
            </a:endParaRPr>
          </a:p>
        </p:txBody>
      </p:sp>
      <p:sp>
        <p:nvSpPr>
          <p:cNvPr id="3" name="Content Placeholder 2"/>
          <p:cNvSpPr>
            <a:spLocks noGrp="1"/>
          </p:cNvSpPr>
          <p:nvPr>
            <p:ph idx="1"/>
          </p:nvPr>
        </p:nvSpPr>
        <p:spPr>
          <a:xfrm>
            <a:off x="927973" y="1810384"/>
            <a:ext cx="10515600" cy="4918075"/>
          </a:xfrm>
        </p:spPr>
        <p:txBody>
          <a:bodyPr>
            <a:normAutofit/>
          </a:bodyPr>
          <a:lstStyle/>
          <a:p>
            <a:pPr marL="0" indent="0">
              <a:buNone/>
            </a:pPr>
            <a:r>
              <a:rPr lang="en-US" dirty="0"/>
              <a:t>List as many Message Functions as you can:</a:t>
            </a:r>
          </a:p>
          <a:p>
            <a:endParaRPr lang="en-US" dirty="0"/>
          </a:p>
          <a:p>
            <a:endParaRPr lang="en-US" dirty="0"/>
          </a:p>
          <a:p>
            <a:endParaRPr lang="en-US" dirty="0"/>
          </a:p>
          <a:p>
            <a:endParaRPr lang="en-US" dirty="0"/>
          </a:p>
          <a:p>
            <a:pPr marL="0" indent="0">
              <a:buNone/>
            </a:pPr>
            <a:r>
              <a:rPr lang="en-US" dirty="0"/>
              <a:t>Reference guide: </a:t>
            </a:r>
          </a:p>
          <a:p>
            <a:endParaRPr lang="en-US" dirty="0">
              <a:solidFill>
                <a:srgbClr val="FF0000"/>
              </a:solidFill>
              <a:highlight>
                <a:srgbClr val="FFFF00"/>
              </a:highlight>
            </a:endParaRPr>
          </a:p>
          <a:p>
            <a:r>
              <a:rPr lang="en-US" dirty="0"/>
              <a:t>Try It:</a:t>
            </a:r>
          </a:p>
          <a:p>
            <a:endParaRPr lang="en-GB" dirty="0"/>
          </a:p>
        </p:txBody>
      </p:sp>
      <p:pic>
        <p:nvPicPr>
          <p:cNvPr id="7" name="Picture 6">
            <a:extLst>
              <a:ext uri="{FF2B5EF4-FFF2-40B4-BE49-F238E27FC236}">
                <a16:creationId xmlns:a16="http://schemas.microsoft.com/office/drawing/2014/main" id="{4E623475-146A-F9F9-646E-0ABB993557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5982277"/>
            <a:ext cx="4839375" cy="419158"/>
          </a:xfrm>
          <a:prstGeom prst="rect">
            <a:avLst/>
          </a:prstGeom>
        </p:spPr>
      </p:pic>
      <p:pic>
        <p:nvPicPr>
          <p:cNvPr id="9" name="Picture 8">
            <a:extLst>
              <a:ext uri="{FF2B5EF4-FFF2-40B4-BE49-F238E27FC236}">
                <a16:creationId xmlns:a16="http://schemas.microsoft.com/office/drawing/2014/main" id="{4645DD06-64BC-9371-1E91-DB81F5A8C5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954879"/>
            <a:ext cx="3410426" cy="362001"/>
          </a:xfrm>
          <a:prstGeom prst="rect">
            <a:avLst/>
          </a:prstGeom>
        </p:spPr>
      </p:pic>
      <p:pic>
        <p:nvPicPr>
          <p:cNvPr id="11" name="Picture 10">
            <a:extLst>
              <a:ext uri="{FF2B5EF4-FFF2-40B4-BE49-F238E27FC236}">
                <a16:creationId xmlns:a16="http://schemas.microsoft.com/office/drawing/2014/main" id="{647F9795-1FC2-09AF-2081-71739D673EC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97880" y="4404994"/>
            <a:ext cx="2834640" cy="1920240"/>
          </a:xfrm>
          <a:prstGeom prst="rect">
            <a:avLst/>
          </a:prstGeom>
        </p:spPr>
      </p:pic>
      <p:pic>
        <p:nvPicPr>
          <p:cNvPr id="13" name="Picture 12">
            <a:extLst>
              <a:ext uri="{FF2B5EF4-FFF2-40B4-BE49-F238E27FC236}">
                <a16:creationId xmlns:a16="http://schemas.microsoft.com/office/drawing/2014/main" id="{D94BD952-28EB-EC62-18EE-F66FA06212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32520" y="4366893"/>
            <a:ext cx="2800826" cy="1996441"/>
          </a:xfrm>
          <a:prstGeom prst="rect">
            <a:avLst/>
          </a:prstGeom>
        </p:spPr>
      </p:pic>
    </p:spTree>
    <p:extLst>
      <p:ext uri="{BB962C8B-B14F-4D97-AF65-F5344CB8AC3E}">
        <p14:creationId xmlns:p14="http://schemas.microsoft.com/office/powerpoint/2010/main" val="1804835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A Structured Message: Emails</a:t>
            </a:r>
            <a:endParaRPr b="1" dirty="0">
              <a:solidFill>
                <a:schemeClr val="accent5"/>
              </a:solidFill>
              <a:latin typeface="+mn-lt"/>
            </a:endParaRPr>
          </a:p>
        </p:txBody>
      </p:sp>
      <p:sp>
        <p:nvSpPr>
          <p:cNvPr id="104" name="Google Shape;104;p4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0000" lvl="0" indent="-360000" algn="l" rtl="0">
              <a:lnSpc>
                <a:spcPct val="100000"/>
              </a:lnSpc>
              <a:spcBef>
                <a:spcPts val="600"/>
              </a:spcBef>
              <a:spcAft>
                <a:spcPts val="0"/>
              </a:spcAft>
              <a:buSzPts val="1800"/>
              <a:buChar char="•"/>
            </a:pPr>
            <a:r>
              <a:rPr lang="en-US" sz="2400" dirty="0"/>
              <a:t>Emails are one of the most common types of messages in business situations</a:t>
            </a:r>
            <a:endParaRPr dirty="0"/>
          </a:p>
          <a:p>
            <a:pPr marL="360000" lvl="0" indent="-360000" algn="l" rtl="0">
              <a:lnSpc>
                <a:spcPct val="100000"/>
              </a:lnSpc>
              <a:spcBef>
                <a:spcPts val="600"/>
              </a:spcBef>
              <a:spcAft>
                <a:spcPts val="0"/>
              </a:spcAft>
              <a:buSzPts val="1800"/>
              <a:buChar char="•"/>
            </a:pPr>
            <a:r>
              <a:rPr lang="en-US" sz="2400" dirty="0"/>
              <a:t>To be as effective as possible, they follow a specific structure, and it is important to get it right</a:t>
            </a:r>
            <a:endParaRPr sz="2400" dirty="0"/>
          </a:p>
          <a:p>
            <a:pPr marL="360000" lvl="0" indent="-360000" algn="l" rtl="0">
              <a:lnSpc>
                <a:spcPct val="100000"/>
              </a:lnSpc>
              <a:spcBef>
                <a:spcPts val="600"/>
              </a:spcBef>
              <a:spcAft>
                <a:spcPts val="0"/>
              </a:spcAft>
              <a:buSzPts val="1800"/>
              <a:buNone/>
            </a:pPr>
            <a:endParaRPr sz="2400" dirty="0"/>
          </a:p>
        </p:txBody>
      </p:sp>
      <p:pic>
        <p:nvPicPr>
          <p:cNvPr id="105" name="Google Shape;105;p41"/>
          <p:cNvPicPr preferRelativeResize="0"/>
          <p:nvPr/>
        </p:nvPicPr>
        <p:blipFill rotWithShape="1">
          <a:blip r:embed="rId3">
            <a:alphaModFix/>
          </a:blip>
          <a:srcRect/>
          <a:stretch/>
        </p:blipFill>
        <p:spPr>
          <a:xfrm>
            <a:off x="1196000" y="3429000"/>
            <a:ext cx="2991568" cy="429225"/>
          </a:xfrm>
          <a:prstGeom prst="rect">
            <a:avLst/>
          </a:prstGeom>
          <a:noFill/>
          <a:ln>
            <a:noFill/>
          </a:ln>
        </p:spPr>
      </p:pic>
      <p:pic>
        <p:nvPicPr>
          <p:cNvPr id="106" name="Google Shape;106;p41"/>
          <p:cNvPicPr preferRelativeResize="0"/>
          <p:nvPr/>
        </p:nvPicPr>
        <p:blipFill rotWithShape="1">
          <a:blip r:embed="rId4">
            <a:alphaModFix/>
          </a:blip>
          <a:srcRect/>
          <a:stretch/>
        </p:blipFill>
        <p:spPr>
          <a:xfrm>
            <a:off x="1575932" y="3897306"/>
            <a:ext cx="4305255" cy="2705417"/>
          </a:xfrm>
          <a:prstGeom prst="rect">
            <a:avLst/>
          </a:prstGeom>
          <a:noFill/>
          <a:ln>
            <a:noFill/>
          </a:ln>
        </p:spPr>
      </p:pic>
    </p:spTree>
    <p:extLst>
      <p:ext uri="{BB962C8B-B14F-4D97-AF65-F5344CB8AC3E}">
        <p14:creationId xmlns:p14="http://schemas.microsoft.com/office/powerpoint/2010/main" val="3098628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Emails: Not as simple as you think</a:t>
            </a:r>
            <a:endParaRPr b="1" dirty="0">
              <a:solidFill>
                <a:schemeClr val="accent5"/>
              </a:solidFill>
              <a:latin typeface="+mn-lt"/>
            </a:endParaRPr>
          </a:p>
        </p:txBody>
      </p:sp>
      <p:sp>
        <p:nvSpPr>
          <p:cNvPr id="146" name="Google Shape;146;p49"/>
          <p:cNvSpPr txBox="1">
            <a:spLocks noGrp="1"/>
          </p:cNvSpPr>
          <p:nvPr>
            <p:ph type="body" idx="1"/>
          </p:nvPr>
        </p:nvSpPr>
        <p:spPr>
          <a:xfrm>
            <a:off x="838199" y="1825625"/>
            <a:ext cx="11353801" cy="4351338"/>
          </a:xfrm>
          <a:prstGeom prst="rect">
            <a:avLst/>
          </a:prstGeom>
          <a:noFill/>
          <a:ln>
            <a:noFill/>
          </a:ln>
        </p:spPr>
        <p:txBody>
          <a:bodyPr spcFirstLastPara="1" wrap="square" lIns="91425" tIns="45700" rIns="91425" bIns="45700" anchor="t" anchorCtr="0">
            <a:noAutofit/>
          </a:bodyPr>
          <a:lstStyle/>
          <a:p>
            <a:pPr marL="288000" lvl="0" indent="-288000">
              <a:lnSpc>
                <a:spcPct val="100000"/>
              </a:lnSpc>
              <a:spcBef>
                <a:spcPts val="0"/>
              </a:spcBef>
              <a:spcAft>
                <a:spcPts val="600"/>
              </a:spcAft>
              <a:buSzPts val="1800"/>
            </a:pPr>
            <a:r>
              <a:rPr lang="en-US" sz="2400" dirty="0"/>
              <a:t>Used in business to communicate with Colleagues, Stakeholders, Clients, &amp; Customers</a:t>
            </a:r>
            <a:endParaRPr dirty="0"/>
          </a:p>
          <a:p>
            <a:pPr marL="288000" lvl="0" indent="-288000" algn="l" rtl="0">
              <a:lnSpc>
                <a:spcPct val="100000"/>
              </a:lnSpc>
              <a:spcBef>
                <a:spcPts val="0"/>
              </a:spcBef>
              <a:spcAft>
                <a:spcPts val="600"/>
              </a:spcAft>
              <a:buSzPts val="1800"/>
              <a:buChar char="•"/>
            </a:pPr>
            <a:r>
              <a:rPr lang="en-US" sz="2400" dirty="0"/>
              <a:t>Used for Formal communication, marketing, newsletters, documentation</a:t>
            </a:r>
            <a:endParaRPr dirty="0"/>
          </a:p>
          <a:p>
            <a:pPr marL="288000" lvl="0" indent="-288000" algn="l" rtl="0">
              <a:lnSpc>
                <a:spcPct val="100000"/>
              </a:lnSpc>
              <a:spcBef>
                <a:spcPts val="0"/>
              </a:spcBef>
              <a:spcAft>
                <a:spcPts val="600"/>
              </a:spcAft>
              <a:buSzPts val="1800"/>
              <a:buChar char="•"/>
            </a:pPr>
            <a:r>
              <a:rPr lang="en-US" sz="2400" dirty="0"/>
              <a:t>Follows a clearly identifiable format: </a:t>
            </a:r>
            <a:endParaRPr dirty="0"/>
          </a:p>
          <a:p>
            <a:pPr marL="288000" lvl="1" indent="-288000" algn="l" rtl="0">
              <a:lnSpc>
                <a:spcPct val="100000"/>
              </a:lnSpc>
              <a:spcBef>
                <a:spcPts val="0"/>
              </a:spcBef>
              <a:spcAft>
                <a:spcPts val="600"/>
              </a:spcAft>
              <a:buSzPts val="1800"/>
              <a:buNone/>
            </a:pPr>
            <a:r>
              <a:rPr lang="en-US" dirty="0"/>
              <a:t>	Subject Line, Message Body </a:t>
            </a:r>
            <a:r>
              <a:rPr lang="en-US" dirty="0">
                <a:solidFill>
                  <a:srgbClr val="FF0000"/>
                </a:solidFill>
              </a:rPr>
              <a:t>(Opening, Main Message, Action, Closing)</a:t>
            </a:r>
            <a:endParaRPr dirty="0">
              <a:solidFill>
                <a:srgbClr val="FF0000"/>
              </a:solidFill>
            </a:endParaRPr>
          </a:p>
          <a:p>
            <a:pPr marL="288000" lvl="0" indent="-288000" algn="l" rtl="0">
              <a:lnSpc>
                <a:spcPct val="100000"/>
              </a:lnSpc>
              <a:spcBef>
                <a:spcPts val="0"/>
              </a:spcBef>
              <a:spcAft>
                <a:spcPts val="600"/>
              </a:spcAft>
              <a:buSzPts val="1800"/>
              <a:buChar char="•"/>
            </a:pPr>
            <a:r>
              <a:rPr lang="en-US" sz="2400" dirty="0"/>
              <a:t>Effective for providing detailed information and highly versatile for different situations. Easily scalable for mass marketing</a:t>
            </a:r>
            <a:endParaRPr sz="2400" dirty="0"/>
          </a:p>
          <a:p>
            <a:pPr marL="288000" lvl="0" indent="-288000" algn="l" rtl="0">
              <a:lnSpc>
                <a:spcPct val="100000"/>
              </a:lnSpc>
              <a:spcBef>
                <a:spcPts val="0"/>
              </a:spcBef>
              <a:spcAft>
                <a:spcPts val="600"/>
              </a:spcAft>
              <a:buSzPts val="1800"/>
              <a:buChar char="•"/>
            </a:pPr>
            <a:r>
              <a:rPr lang="en-US" sz="2400" dirty="0"/>
              <a:t>Can be easily overlooked (inbox clutter)</a:t>
            </a:r>
            <a:endParaRPr dirty="0"/>
          </a:p>
          <a:p>
            <a:pPr marL="288000" lvl="0" indent="-288000" algn="l" rtl="0">
              <a:lnSpc>
                <a:spcPct val="100000"/>
              </a:lnSpc>
              <a:spcBef>
                <a:spcPts val="0"/>
              </a:spcBef>
              <a:spcAft>
                <a:spcPts val="600"/>
              </a:spcAft>
              <a:buSzPts val="1800"/>
              <a:buChar char="•"/>
            </a:pPr>
            <a:r>
              <a:rPr lang="en-US" sz="2400" dirty="0"/>
              <a:t>Potential for being marked as spam</a:t>
            </a:r>
            <a:endParaRPr dirty="0"/>
          </a:p>
          <a:p>
            <a:pPr marL="288000" lvl="0" indent="-288000" algn="l" rtl="0">
              <a:lnSpc>
                <a:spcPct val="100000"/>
              </a:lnSpc>
              <a:spcBef>
                <a:spcPts val="0"/>
              </a:spcBef>
              <a:spcAft>
                <a:spcPts val="600"/>
              </a:spcAft>
              <a:buSzPts val="1800"/>
              <a:buChar char="•"/>
            </a:pPr>
            <a:r>
              <a:rPr lang="en-US" sz="2400" dirty="0"/>
              <a:t>Requires careful crafting to avoid miscommunication</a:t>
            </a:r>
            <a:endParaRPr sz="2400" dirty="0"/>
          </a:p>
          <a:p>
            <a:pPr marL="288000" lvl="0" indent="-288000" algn="l" rtl="0">
              <a:lnSpc>
                <a:spcPct val="100000"/>
              </a:lnSpc>
              <a:spcBef>
                <a:spcPts val="0"/>
              </a:spcBef>
              <a:spcAft>
                <a:spcPts val="600"/>
              </a:spcAft>
              <a:buSzPts val="1800"/>
              <a:buNone/>
            </a:pPr>
            <a:endParaRPr sz="2400" dirty="0"/>
          </a:p>
        </p:txBody>
      </p:sp>
      <p:pic>
        <p:nvPicPr>
          <p:cNvPr id="2" name="Picture 1"/>
          <p:cNvPicPr>
            <a:picLocks noChangeAspect="1"/>
          </p:cNvPicPr>
          <p:nvPr/>
        </p:nvPicPr>
        <p:blipFill>
          <a:blip r:embed="rId3"/>
          <a:stretch>
            <a:fillRect/>
          </a:stretch>
        </p:blipFill>
        <p:spPr>
          <a:xfrm>
            <a:off x="1230843" y="5870200"/>
            <a:ext cx="2120924" cy="523345"/>
          </a:xfrm>
          <a:prstGeom prst="rect">
            <a:avLst/>
          </a:prstGeom>
        </p:spPr>
      </p:pic>
    </p:spTree>
    <p:extLst>
      <p:ext uri="{BB962C8B-B14F-4D97-AF65-F5344CB8AC3E}">
        <p14:creationId xmlns:p14="http://schemas.microsoft.com/office/powerpoint/2010/main" val="166715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Email Structure:</a:t>
            </a:r>
            <a:endParaRPr lang="en-GB" b="1" dirty="0">
              <a:solidFill>
                <a:schemeClr val="accent5"/>
              </a:solidFill>
              <a:latin typeface="+mn-lt"/>
            </a:endParaRPr>
          </a:p>
        </p:txBody>
      </p:sp>
      <p:sp>
        <p:nvSpPr>
          <p:cNvPr id="3" name="Content Placeholder 2"/>
          <p:cNvSpPr>
            <a:spLocks noGrp="1"/>
          </p:cNvSpPr>
          <p:nvPr>
            <p:ph sz="half" idx="1"/>
          </p:nvPr>
        </p:nvSpPr>
        <p:spPr>
          <a:xfrm>
            <a:off x="838200" y="1825624"/>
            <a:ext cx="5181600" cy="4872355"/>
          </a:xfrm>
        </p:spPr>
        <p:txBody>
          <a:bodyPr>
            <a:normAutofit/>
          </a:bodyPr>
          <a:lstStyle/>
          <a:p>
            <a:pPr marL="0" indent="0">
              <a:buNone/>
            </a:pPr>
            <a:r>
              <a:rPr lang="en-US" sz="2400" b="1" dirty="0"/>
              <a:t>Define the following:</a:t>
            </a:r>
          </a:p>
          <a:p>
            <a:r>
              <a:rPr lang="en-US" sz="2400" dirty="0"/>
              <a:t>Subject Line:</a:t>
            </a:r>
          </a:p>
          <a:p>
            <a:endParaRPr lang="en-US" sz="2400" dirty="0"/>
          </a:p>
          <a:p>
            <a:r>
              <a:rPr lang="en-US" sz="2400" dirty="0"/>
              <a:t>Opening</a:t>
            </a:r>
          </a:p>
          <a:p>
            <a:endParaRPr lang="en-US" sz="2400" dirty="0"/>
          </a:p>
          <a:p>
            <a:r>
              <a:rPr lang="en-US" sz="2400" dirty="0"/>
              <a:t>Main Message:</a:t>
            </a:r>
          </a:p>
          <a:p>
            <a:endParaRPr lang="en-US" sz="2400" dirty="0"/>
          </a:p>
          <a:p>
            <a:r>
              <a:rPr lang="en-US" sz="2400" dirty="0"/>
              <a:t>Action:</a:t>
            </a:r>
          </a:p>
          <a:p>
            <a:endParaRPr lang="en-US" sz="2400" dirty="0"/>
          </a:p>
          <a:p>
            <a:r>
              <a:rPr lang="en-US" sz="2400" dirty="0"/>
              <a:t>Closing:</a:t>
            </a:r>
          </a:p>
          <a:p>
            <a:endParaRPr lang="en-GB" sz="2400" dirty="0"/>
          </a:p>
        </p:txBody>
      </p:sp>
      <p:pic>
        <p:nvPicPr>
          <p:cNvPr id="5" name="Picture 4">
            <a:extLst>
              <a:ext uri="{FF2B5EF4-FFF2-40B4-BE49-F238E27FC236}">
                <a16:creationId xmlns:a16="http://schemas.microsoft.com/office/drawing/2014/main" id="{76565350-F615-53E8-C8D7-561774B92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7846" y="6245190"/>
            <a:ext cx="4505954" cy="495369"/>
          </a:xfrm>
          <a:prstGeom prst="rect">
            <a:avLst/>
          </a:prstGeom>
        </p:spPr>
      </p:pic>
      <p:pic>
        <p:nvPicPr>
          <p:cNvPr id="6" name="Picture 5">
            <a:extLst>
              <a:ext uri="{FF2B5EF4-FFF2-40B4-BE49-F238E27FC236}">
                <a16:creationId xmlns:a16="http://schemas.microsoft.com/office/drawing/2014/main" id="{DA229DEB-1C6E-D3F6-DDB3-CAC275B678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5399" y="105194"/>
            <a:ext cx="2313709" cy="1845424"/>
          </a:xfrm>
          <a:prstGeom prst="rect">
            <a:avLst/>
          </a:prstGeom>
        </p:spPr>
      </p:pic>
    </p:spTree>
    <p:extLst>
      <p:ext uri="{BB962C8B-B14F-4D97-AF65-F5344CB8AC3E}">
        <p14:creationId xmlns:p14="http://schemas.microsoft.com/office/powerpoint/2010/main" val="2362684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Short and Long Messages</a:t>
            </a:r>
            <a:endParaRPr b="1" dirty="0">
              <a:solidFill>
                <a:schemeClr val="accent5"/>
              </a:solidFill>
              <a:latin typeface="+mn-lt"/>
            </a:endParaRPr>
          </a:p>
        </p:txBody>
      </p:sp>
      <p:sp>
        <p:nvSpPr>
          <p:cNvPr id="163" name="Google Shape;163;p50"/>
          <p:cNvSpPr txBox="1">
            <a:spLocks noGrp="1"/>
          </p:cNvSpPr>
          <p:nvPr>
            <p:ph type="body" idx="1"/>
          </p:nvPr>
        </p:nvSpPr>
        <p:spPr>
          <a:xfrm>
            <a:off x="838200" y="1825624"/>
            <a:ext cx="11196484" cy="4782439"/>
          </a:xfrm>
          <a:prstGeom prst="rect">
            <a:avLst/>
          </a:prstGeom>
          <a:noFill/>
          <a:ln>
            <a:noFill/>
          </a:ln>
        </p:spPr>
        <p:txBody>
          <a:bodyPr spcFirstLastPara="1" wrap="square" lIns="91425" tIns="45700" rIns="91425" bIns="45700" anchor="t" anchorCtr="0">
            <a:noAutofit/>
          </a:bodyPr>
          <a:lstStyle/>
          <a:p>
            <a:pPr marL="324000" lvl="0" indent="-324000">
              <a:lnSpc>
                <a:spcPct val="100000"/>
              </a:lnSpc>
              <a:spcBef>
                <a:spcPts val="0"/>
              </a:spcBef>
              <a:buSzPts val="1800"/>
              <a:buNone/>
            </a:pPr>
            <a:r>
              <a:rPr lang="en-US" sz="2400" b="1" dirty="0"/>
              <a:t>Not only the message/idea is important, but also the manner in communicating it.</a:t>
            </a:r>
          </a:p>
          <a:p>
            <a:pPr marL="324000" lvl="0" indent="-324000">
              <a:lnSpc>
                <a:spcPct val="100000"/>
              </a:lnSpc>
              <a:spcBef>
                <a:spcPts val="0"/>
              </a:spcBef>
              <a:buSzPts val="1800"/>
              <a:buNone/>
            </a:pPr>
            <a:r>
              <a:rPr lang="en-US" sz="2400" b="1" dirty="0"/>
              <a:t>Consider </a:t>
            </a:r>
            <a:r>
              <a:rPr lang="en-US" sz="2400" b="1" dirty="0">
                <a:solidFill>
                  <a:srgbClr val="FF0000"/>
                </a:solidFill>
              </a:rPr>
              <a:t>Message Length</a:t>
            </a:r>
            <a:r>
              <a:rPr lang="en-US" sz="2400" b="1" dirty="0"/>
              <a:t>, </a:t>
            </a:r>
            <a:r>
              <a:rPr lang="en-US" sz="2400" b="1" dirty="0">
                <a:solidFill>
                  <a:srgbClr val="FF0000"/>
                </a:solidFill>
              </a:rPr>
              <a:t>Amount of Detail</a:t>
            </a:r>
            <a:r>
              <a:rPr lang="en-US" sz="2400" b="1" dirty="0"/>
              <a:t>, and </a:t>
            </a:r>
            <a:r>
              <a:rPr lang="en-US" sz="2400" b="1" dirty="0">
                <a:solidFill>
                  <a:srgbClr val="FF0000"/>
                </a:solidFill>
              </a:rPr>
              <a:t>Level of Language</a:t>
            </a:r>
            <a:r>
              <a:rPr lang="en-US" sz="2400" b="1" dirty="0"/>
              <a:t>:</a:t>
            </a:r>
            <a:endParaRPr lang="en-US" sz="2400" dirty="0"/>
          </a:p>
          <a:p>
            <a:pPr marL="324000" lvl="0" indent="-324000" algn="l" rtl="0">
              <a:lnSpc>
                <a:spcPct val="100000"/>
              </a:lnSpc>
              <a:spcBef>
                <a:spcPts val="0"/>
              </a:spcBef>
              <a:buSzPts val="1800"/>
              <a:buNone/>
            </a:pPr>
            <a:endParaRPr lang="en-US" sz="1600" dirty="0"/>
          </a:p>
          <a:p>
            <a:pPr marL="324000" indent="-324000">
              <a:lnSpc>
                <a:spcPct val="100000"/>
              </a:lnSpc>
              <a:spcBef>
                <a:spcPts val="0"/>
              </a:spcBef>
              <a:buNone/>
            </a:pPr>
            <a:r>
              <a:rPr lang="en-US" sz="2000" b="1" dirty="0"/>
              <a:t>Shorter messages often:</a:t>
            </a:r>
            <a:endParaRPr lang="en-US" sz="2000" dirty="0"/>
          </a:p>
          <a:p>
            <a:pPr marL="324000" lvl="0" indent="-324000">
              <a:lnSpc>
                <a:spcPct val="100000"/>
              </a:lnSpc>
              <a:spcBef>
                <a:spcPts val="0"/>
              </a:spcBef>
            </a:pPr>
            <a:r>
              <a:rPr lang="en-US" sz="2000" dirty="0"/>
              <a:t>focus on one immediate purpose </a:t>
            </a:r>
          </a:p>
          <a:p>
            <a:pPr marL="324000" lvl="0" indent="-324000">
              <a:lnSpc>
                <a:spcPct val="100000"/>
              </a:lnSpc>
              <a:spcBef>
                <a:spcPts val="0"/>
              </a:spcBef>
            </a:pPr>
            <a:r>
              <a:rPr lang="en-US" sz="2000" dirty="0"/>
              <a:t>contain less (or no) background information </a:t>
            </a:r>
          </a:p>
          <a:p>
            <a:pPr marL="324000" lvl="0" indent="-324000">
              <a:lnSpc>
                <a:spcPct val="100000"/>
              </a:lnSpc>
              <a:spcBef>
                <a:spcPts val="0"/>
              </a:spcBef>
            </a:pPr>
            <a:r>
              <a:rPr lang="en-US" sz="2000" dirty="0"/>
              <a:t>use concise language </a:t>
            </a:r>
          </a:p>
          <a:p>
            <a:pPr marL="324000" lvl="0" indent="-324000">
              <a:lnSpc>
                <a:spcPct val="100000"/>
              </a:lnSpc>
              <a:spcBef>
                <a:spcPts val="0"/>
              </a:spcBef>
            </a:pPr>
            <a:r>
              <a:rPr lang="en-US" sz="2000" dirty="0"/>
              <a:t>may be less formal when the relationship allows it </a:t>
            </a:r>
          </a:p>
          <a:p>
            <a:pPr marL="324000" indent="-324000">
              <a:lnSpc>
                <a:spcPct val="100000"/>
              </a:lnSpc>
              <a:spcBef>
                <a:spcPts val="0"/>
              </a:spcBef>
              <a:buNone/>
            </a:pPr>
            <a:endParaRPr lang="en-US" sz="1600" b="1" dirty="0"/>
          </a:p>
          <a:p>
            <a:pPr marL="324000" indent="-324000">
              <a:lnSpc>
                <a:spcPct val="100000"/>
              </a:lnSpc>
              <a:spcBef>
                <a:spcPts val="0"/>
              </a:spcBef>
              <a:buNone/>
            </a:pPr>
            <a:r>
              <a:rPr lang="en-US" sz="2000" b="1" dirty="0"/>
              <a:t>Longer messages often:</a:t>
            </a:r>
            <a:endParaRPr lang="en-US" sz="2000" dirty="0"/>
          </a:p>
          <a:p>
            <a:pPr marL="324000" lvl="0" indent="-324000">
              <a:lnSpc>
                <a:spcPct val="100000"/>
              </a:lnSpc>
              <a:spcBef>
                <a:spcPts val="0"/>
              </a:spcBef>
            </a:pPr>
            <a:r>
              <a:rPr lang="en-US" sz="2000" dirty="0"/>
              <a:t>require more structure </a:t>
            </a:r>
          </a:p>
          <a:p>
            <a:pPr marL="324000" lvl="0" indent="-324000">
              <a:lnSpc>
                <a:spcPct val="100000"/>
              </a:lnSpc>
              <a:spcBef>
                <a:spcPts val="0"/>
              </a:spcBef>
            </a:pPr>
            <a:r>
              <a:rPr lang="en-US" sz="2000" dirty="0"/>
              <a:t>include background or detailed explanation </a:t>
            </a:r>
          </a:p>
          <a:p>
            <a:pPr marL="324000" lvl="0" indent="-324000">
              <a:lnSpc>
                <a:spcPct val="100000"/>
              </a:lnSpc>
              <a:spcBef>
                <a:spcPts val="0"/>
              </a:spcBef>
            </a:pPr>
            <a:r>
              <a:rPr lang="en-US" sz="2000" dirty="0"/>
              <a:t>contain multiple pieces of information </a:t>
            </a:r>
          </a:p>
          <a:p>
            <a:pPr marL="324000" lvl="0" indent="-324000">
              <a:lnSpc>
                <a:spcPct val="100000"/>
              </a:lnSpc>
              <a:spcBef>
                <a:spcPts val="0"/>
              </a:spcBef>
            </a:pPr>
            <a:r>
              <a:rPr lang="en-US" sz="2000" dirty="0"/>
              <a:t>may require a more formal tone depending on the audience </a:t>
            </a:r>
          </a:p>
          <a:p>
            <a:pPr marL="324000" lvl="0" indent="-324000">
              <a:lnSpc>
                <a:spcPct val="100000"/>
              </a:lnSpc>
              <a:spcBef>
                <a:spcPts val="0"/>
              </a:spcBef>
            </a:pPr>
            <a:endParaRPr lang="en-US" sz="1600" b="1" dirty="0"/>
          </a:p>
          <a:p>
            <a:pPr marL="324000" lvl="0" indent="-324000">
              <a:lnSpc>
                <a:spcPct val="100000"/>
              </a:lnSpc>
              <a:spcBef>
                <a:spcPts val="0"/>
              </a:spcBef>
              <a:buNone/>
            </a:pPr>
            <a:r>
              <a:rPr lang="en-US" sz="2000" b="1" dirty="0"/>
              <a:t>Length depends on the purpose and the reader — not simply on formality.</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Short Messages</a:t>
            </a:r>
            <a:endParaRPr b="1" dirty="0">
              <a:solidFill>
                <a:schemeClr val="accent5"/>
              </a:solidFill>
              <a:latin typeface="+mn-lt"/>
            </a:endParaRPr>
          </a:p>
        </p:txBody>
      </p:sp>
      <p:sp>
        <p:nvSpPr>
          <p:cNvPr id="158" name="Google Shape;158;p51"/>
          <p:cNvSpPr txBox="1">
            <a:spLocks noGrp="1"/>
          </p:cNvSpPr>
          <p:nvPr>
            <p:ph type="body" idx="1"/>
          </p:nvPr>
        </p:nvSpPr>
        <p:spPr>
          <a:xfrm>
            <a:off x="838200" y="1825624"/>
            <a:ext cx="10515600" cy="5032375"/>
          </a:xfrm>
          <a:prstGeom prst="rect">
            <a:avLst/>
          </a:prstGeom>
          <a:noFill/>
          <a:ln>
            <a:noFill/>
          </a:ln>
        </p:spPr>
        <p:txBody>
          <a:bodyPr spcFirstLastPara="1" wrap="square" lIns="91425" tIns="45700" rIns="91425" bIns="45700" anchor="t" anchorCtr="0">
            <a:normAutofit/>
          </a:bodyPr>
          <a:lstStyle/>
          <a:p>
            <a:pPr marL="114300" lvl="0" indent="0" algn="l" rtl="0">
              <a:lnSpc>
                <a:spcPct val="100000"/>
              </a:lnSpc>
              <a:spcBef>
                <a:spcPts val="0"/>
              </a:spcBef>
              <a:spcAft>
                <a:spcPts val="0"/>
              </a:spcAft>
              <a:buSzPts val="1800"/>
              <a:buNone/>
            </a:pPr>
            <a:r>
              <a:rPr lang="en-US" sz="2400" b="1" dirty="0"/>
              <a:t>When creating short email messages, consider:</a:t>
            </a:r>
            <a:endParaRPr dirty="0"/>
          </a:p>
          <a:p>
            <a:pPr marL="457200" lvl="0" indent="-22860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1. Clarity and Precision: </a:t>
            </a:r>
            <a:endParaRPr sz="2400"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2. Brevity:</a:t>
            </a:r>
            <a:endParaRPr sz="2400"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3. Tone:</a:t>
            </a:r>
            <a:endParaRPr sz="2400"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4. Audience Awareness: </a:t>
            </a:r>
            <a:endParaRPr sz="2400"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5. Immediate Purpose: </a:t>
            </a:r>
            <a:endParaRPr sz="2400" dirty="0"/>
          </a:p>
          <a:p>
            <a:pPr marL="114300" lvl="0" indent="0" algn="l" rtl="0">
              <a:lnSpc>
                <a:spcPct val="100000"/>
              </a:lnSpc>
              <a:spcBef>
                <a:spcPts val="0"/>
              </a:spcBef>
              <a:spcAft>
                <a:spcPts val="0"/>
              </a:spcAft>
              <a:buSzPts val="1800"/>
              <a:buNone/>
            </a:pPr>
            <a:endParaRPr sz="2400" dirty="0"/>
          </a:p>
        </p:txBody>
      </p:sp>
    </p:spTree>
    <p:extLst>
      <p:ext uri="{BB962C8B-B14F-4D97-AF65-F5344CB8AC3E}">
        <p14:creationId xmlns:p14="http://schemas.microsoft.com/office/powerpoint/2010/main" val="239663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Longer Messages</a:t>
            </a:r>
            <a:endParaRPr b="1" dirty="0">
              <a:solidFill>
                <a:schemeClr val="accent5"/>
              </a:solidFill>
              <a:latin typeface="+mn-lt"/>
            </a:endParaRPr>
          </a:p>
        </p:txBody>
      </p:sp>
      <p:sp>
        <p:nvSpPr>
          <p:cNvPr id="164" name="Google Shape;164;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100000"/>
              </a:lnSpc>
              <a:spcBef>
                <a:spcPts val="0"/>
              </a:spcBef>
              <a:spcAft>
                <a:spcPts val="0"/>
              </a:spcAft>
              <a:buSzPts val="1800"/>
              <a:buNone/>
            </a:pPr>
            <a:r>
              <a:rPr lang="en-US" sz="2400" b="1" dirty="0"/>
              <a:t>When creating longer email messages, consider:</a:t>
            </a:r>
            <a:endParaRPr dirty="0"/>
          </a:p>
          <a:p>
            <a:pPr marL="457200" lvl="0" indent="-22860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1. Structure and Organization: </a:t>
            </a:r>
            <a:endParaRPr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2. Detail and Explanation:</a:t>
            </a:r>
            <a:endParaRPr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3. Tone and Professionalism:</a:t>
            </a:r>
            <a:endParaRPr sz="2400"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4. Purpose and Relevance: </a:t>
            </a:r>
            <a:endParaRPr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dirty="0"/>
              <a:t>5. Call to Action or Conclusion: </a:t>
            </a:r>
            <a:endParaRPr dirty="0"/>
          </a:p>
          <a:p>
            <a:pPr marL="114300" lvl="0" indent="0" algn="l" rtl="0">
              <a:lnSpc>
                <a:spcPct val="100000"/>
              </a:lnSpc>
              <a:spcBef>
                <a:spcPts val="0"/>
              </a:spcBef>
              <a:spcAft>
                <a:spcPts val="0"/>
              </a:spcAft>
              <a:buSzPts val="1800"/>
              <a:buNone/>
            </a:pPr>
            <a:endParaRPr sz="2400" dirty="0"/>
          </a:p>
          <a:p>
            <a:pPr marL="457200" lvl="0" indent="-228600" algn="l" rtl="0">
              <a:lnSpc>
                <a:spcPct val="90000"/>
              </a:lnSpc>
              <a:spcBef>
                <a:spcPts val="1000"/>
              </a:spcBef>
              <a:spcAft>
                <a:spcPts val="0"/>
              </a:spcAft>
              <a:buClr>
                <a:schemeClr val="dk1"/>
              </a:buClr>
              <a:buSzPts val="1800"/>
              <a:buNone/>
            </a:pPr>
            <a:endParaRPr sz="2400" dirty="0"/>
          </a:p>
        </p:txBody>
      </p:sp>
    </p:spTree>
    <p:extLst>
      <p:ext uri="{BB962C8B-B14F-4D97-AF65-F5344CB8AC3E}">
        <p14:creationId xmlns:p14="http://schemas.microsoft.com/office/powerpoint/2010/main" val="165594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53"/>
          <p:cNvSpPr txBox="1">
            <a:spLocks noGrp="1"/>
          </p:cNvSpPr>
          <p:nvPr>
            <p:ph type="title"/>
          </p:nvPr>
        </p:nvSpPr>
        <p:spPr>
          <a:xfrm>
            <a:off x="838199" y="365125"/>
            <a:ext cx="1117659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Adapting the message for Various Needs</a:t>
            </a:r>
            <a:endParaRPr b="1" dirty="0">
              <a:solidFill>
                <a:schemeClr val="accent5"/>
              </a:solidFill>
              <a:latin typeface="+mn-lt"/>
            </a:endParaRPr>
          </a:p>
        </p:txBody>
      </p:sp>
      <p:sp>
        <p:nvSpPr>
          <p:cNvPr id="170" name="Google Shape;170;p53"/>
          <p:cNvSpPr txBox="1">
            <a:spLocks noGrp="1"/>
          </p:cNvSpPr>
          <p:nvPr>
            <p:ph type="body" idx="1"/>
          </p:nvPr>
        </p:nvSpPr>
        <p:spPr>
          <a:xfrm>
            <a:off x="838200" y="1825624"/>
            <a:ext cx="11353800" cy="5032375"/>
          </a:xfrm>
          <a:prstGeom prst="rect">
            <a:avLst/>
          </a:prstGeom>
          <a:noFill/>
          <a:ln>
            <a:noFill/>
          </a:ln>
        </p:spPr>
        <p:txBody>
          <a:bodyPr spcFirstLastPara="1" wrap="square" lIns="91425" tIns="45700" rIns="91425" bIns="45700" anchor="t" anchorCtr="0">
            <a:normAutofit lnSpcReduction="10000"/>
          </a:bodyPr>
          <a:lstStyle/>
          <a:p>
            <a:pPr marL="0" lvl="0" indent="0">
              <a:lnSpc>
                <a:spcPct val="110000"/>
              </a:lnSpc>
              <a:spcBef>
                <a:spcPts val="0"/>
              </a:spcBef>
              <a:buSzPts val="1800"/>
              <a:buNone/>
            </a:pPr>
            <a:r>
              <a:rPr lang="en-US" sz="2400" b="1" dirty="0"/>
              <a:t>Short vs. Long Messages</a:t>
            </a:r>
          </a:p>
          <a:p>
            <a:pPr marL="0" lvl="0" indent="0">
              <a:lnSpc>
                <a:spcPct val="110000"/>
              </a:lnSpc>
              <a:spcBef>
                <a:spcPts val="0"/>
              </a:spcBef>
              <a:buSzPts val="1800"/>
              <a:buNone/>
            </a:pPr>
            <a:r>
              <a:rPr lang="en-US" sz="2400" dirty="0"/>
              <a:t>The length and style of a message should depend on the purpose, platform, and audience.</a:t>
            </a:r>
          </a:p>
          <a:p>
            <a:pPr marL="0" lvl="0" indent="0">
              <a:lnSpc>
                <a:spcPct val="110000"/>
              </a:lnSpc>
              <a:spcBef>
                <a:spcPts val="0"/>
              </a:spcBef>
              <a:buSzPts val="1800"/>
              <a:buNone/>
            </a:pPr>
            <a:endParaRPr lang="en-US" sz="1400" dirty="0"/>
          </a:p>
          <a:p>
            <a:pPr marL="0" lvl="0" indent="0">
              <a:lnSpc>
                <a:spcPct val="110000"/>
              </a:lnSpc>
              <a:spcBef>
                <a:spcPts val="0"/>
              </a:spcBef>
              <a:buSzPts val="1800"/>
              <a:buNone/>
            </a:pPr>
            <a:r>
              <a:rPr lang="en-US" sz="2400" b="1" dirty="0"/>
              <a:t>When changing from a long, formal message to a short, informal one, you should:</a:t>
            </a:r>
          </a:p>
          <a:p>
            <a:pPr marL="0" lvl="0" indent="0">
              <a:lnSpc>
                <a:spcPct val="110000"/>
              </a:lnSpc>
              <a:spcBef>
                <a:spcPts val="0"/>
              </a:spcBef>
              <a:buSzPts val="1800"/>
              <a:buNone/>
            </a:pPr>
            <a:r>
              <a:rPr lang="en-US" sz="2400" dirty="0"/>
              <a:t>Maintain the main ideas – keep the important information</a:t>
            </a:r>
          </a:p>
          <a:p>
            <a:pPr marL="0" lvl="0" indent="0">
              <a:lnSpc>
                <a:spcPct val="110000"/>
              </a:lnSpc>
              <a:spcBef>
                <a:spcPts val="0"/>
              </a:spcBef>
              <a:buSzPts val="1800"/>
              <a:buNone/>
            </a:pPr>
            <a:r>
              <a:rPr lang="en-US" sz="2400" dirty="0"/>
              <a:t>Maintain the purpose – make sure the message still achieves its goal</a:t>
            </a:r>
          </a:p>
          <a:p>
            <a:pPr marL="0" lvl="0" indent="0">
              <a:lnSpc>
                <a:spcPct val="110000"/>
              </a:lnSpc>
              <a:spcBef>
                <a:spcPts val="0"/>
              </a:spcBef>
              <a:buSzPts val="1800"/>
              <a:buNone/>
            </a:pPr>
            <a:r>
              <a:rPr lang="en-US" sz="2400" dirty="0"/>
              <a:t>Consider the audience – adapt the language and level of detail to the reader’s level</a:t>
            </a:r>
          </a:p>
          <a:p>
            <a:pPr marL="0" lvl="0" indent="0">
              <a:lnSpc>
                <a:spcPct val="110000"/>
              </a:lnSpc>
              <a:spcBef>
                <a:spcPts val="0"/>
              </a:spcBef>
              <a:buSzPts val="1800"/>
              <a:buNone/>
            </a:pPr>
            <a:endParaRPr lang="en-US" sz="1400" dirty="0"/>
          </a:p>
          <a:p>
            <a:pPr marL="0" lvl="0" indent="0">
              <a:lnSpc>
                <a:spcPct val="110000"/>
              </a:lnSpc>
              <a:spcBef>
                <a:spcPts val="0"/>
              </a:spcBef>
              <a:buSzPts val="1800"/>
              <a:buNone/>
            </a:pPr>
            <a:r>
              <a:rPr lang="en-US" sz="2400" b="1" dirty="0"/>
              <a:t>To make a message shorter while keeping it clear and connected:</a:t>
            </a:r>
          </a:p>
          <a:p>
            <a:pPr>
              <a:lnSpc>
                <a:spcPct val="110000"/>
              </a:lnSpc>
              <a:spcBef>
                <a:spcPts val="0"/>
              </a:spcBef>
              <a:buSzPts val="1800"/>
            </a:pPr>
            <a:r>
              <a:rPr lang="en-US" sz="2400" dirty="0"/>
              <a:t>Use shorter forms and simpler language.</a:t>
            </a:r>
          </a:p>
          <a:p>
            <a:pPr>
              <a:lnSpc>
                <a:spcPct val="110000"/>
              </a:lnSpc>
              <a:spcBef>
                <a:spcPts val="0"/>
              </a:spcBef>
              <a:buSzPts val="1800"/>
            </a:pPr>
            <a:r>
              <a:rPr lang="en-US" sz="2400" dirty="0"/>
              <a:t>Remove unnecessary or repeated words.</a:t>
            </a:r>
          </a:p>
          <a:p>
            <a:pPr>
              <a:lnSpc>
                <a:spcPct val="110000"/>
              </a:lnSpc>
              <a:spcBef>
                <a:spcPts val="0"/>
              </a:spcBef>
              <a:buSzPts val="1800"/>
            </a:pPr>
            <a:r>
              <a:rPr lang="en-US" sz="2400" dirty="0"/>
              <a:t>Focus on the most important information.</a:t>
            </a:r>
          </a:p>
          <a:p>
            <a:pPr>
              <a:lnSpc>
                <a:spcPct val="110000"/>
              </a:lnSpc>
              <a:spcBef>
                <a:spcPts val="0"/>
              </a:spcBef>
              <a:buSzPts val="1800"/>
            </a:pPr>
            <a:r>
              <a:rPr lang="en-US" sz="2400" dirty="0"/>
              <a:t>Use short sentences where appropriate.</a:t>
            </a:r>
          </a:p>
          <a:p>
            <a:pPr>
              <a:lnSpc>
                <a:spcPct val="110000"/>
              </a:lnSpc>
              <a:spcBef>
                <a:spcPts val="0"/>
              </a:spcBef>
              <a:buSzPts val="1800"/>
            </a:pPr>
            <a:r>
              <a:rPr lang="en-US" sz="2400" dirty="0"/>
              <a:t>Remove information that the audience can easily understand from the context.</a:t>
            </a:r>
            <a:endParaRPr sz="2400" dirty="0"/>
          </a:p>
        </p:txBody>
      </p:sp>
    </p:spTree>
    <p:extLst>
      <p:ext uri="{BB962C8B-B14F-4D97-AF65-F5344CB8AC3E}">
        <p14:creationId xmlns:p14="http://schemas.microsoft.com/office/powerpoint/2010/main" val="41306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0">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0">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0">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0">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0">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0">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0">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4"/>
          <p:cNvSpPr txBox="1">
            <a:spLocks noGrp="1"/>
          </p:cNvSpPr>
          <p:nvPr>
            <p:ph type="body" idx="1"/>
          </p:nvPr>
        </p:nvSpPr>
        <p:spPr>
          <a:xfrm>
            <a:off x="838199" y="1825625"/>
            <a:ext cx="11281283" cy="476690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sz="2400" dirty="0"/>
              <a:t>Due to short message limitations, be direct. Make every word matter</a:t>
            </a:r>
            <a:endParaRPr dirty="0"/>
          </a:p>
          <a:p>
            <a:pPr marL="0" lvl="0" indent="0" algn="l" rtl="0">
              <a:lnSpc>
                <a:spcPct val="100000"/>
              </a:lnSpc>
              <a:spcBef>
                <a:spcPts val="0"/>
              </a:spcBef>
              <a:spcAft>
                <a:spcPts val="0"/>
              </a:spcAft>
              <a:buSzPts val="1800"/>
              <a:buNone/>
            </a:pPr>
            <a:r>
              <a:rPr lang="en-US" sz="2400" dirty="0"/>
              <a:t>Use short-form language such as acronyms to convey well known ideas in a short manner</a:t>
            </a:r>
          </a:p>
          <a:p>
            <a:pPr marL="0" lvl="0" indent="0" algn="l" rtl="0">
              <a:lnSpc>
                <a:spcPct val="100000"/>
              </a:lnSpc>
              <a:spcBef>
                <a:spcPts val="0"/>
              </a:spcBef>
              <a:spcAft>
                <a:spcPts val="0"/>
              </a:spcAft>
              <a:buSzPts val="1800"/>
              <a:buNone/>
            </a:pPr>
            <a:endParaRPr sz="2400" dirty="0"/>
          </a:p>
          <a:p>
            <a:pPr marL="114300" lvl="0" indent="0" algn="l" rtl="0">
              <a:lnSpc>
                <a:spcPct val="100000"/>
              </a:lnSpc>
              <a:spcBef>
                <a:spcPts val="600"/>
              </a:spcBef>
              <a:spcAft>
                <a:spcPts val="0"/>
              </a:spcAft>
              <a:buSzPts val="1800"/>
              <a:buNone/>
            </a:pPr>
            <a:endParaRPr lang="en-US" sz="1100" b="1" dirty="0"/>
          </a:p>
          <a:p>
            <a:pPr marL="0" lvl="0" indent="0" algn="l" rtl="0">
              <a:lnSpc>
                <a:spcPct val="100000"/>
              </a:lnSpc>
              <a:spcBef>
                <a:spcPts val="600"/>
              </a:spcBef>
              <a:spcAft>
                <a:spcPts val="0"/>
              </a:spcAft>
              <a:buSzPts val="1800"/>
              <a:buNone/>
            </a:pPr>
            <a:r>
              <a:rPr lang="en-US" sz="2400" b="1" dirty="0"/>
              <a:t>Try it: Define the full-length version of these short form expressions:</a:t>
            </a:r>
            <a:endParaRPr dirty="0"/>
          </a:p>
          <a:p>
            <a:pPr marL="114300" lvl="0" indent="0" algn="l" rtl="0">
              <a:lnSpc>
                <a:spcPct val="100000"/>
              </a:lnSpc>
              <a:spcBef>
                <a:spcPts val="600"/>
              </a:spcBef>
              <a:spcAft>
                <a:spcPts val="0"/>
              </a:spcAft>
              <a:buSzPts val="1800"/>
              <a:buNone/>
            </a:pPr>
            <a:endParaRPr sz="2400" b="1" dirty="0"/>
          </a:p>
          <a:p>
            <a:pPr marL="114300" lvl="0" indent="0" algn="l" rtl="0">
              <a:lnSpc>
                <a:spcPct val="100000"/>
              </a:lnSpc>
              <a:spcBef>
                <a:spcPts val="600"/>
              </a:spcBef>
              <a:spcAft>
                <a:spcPts val="0"/>
              </a:spcAft>
              <a:buSzPts val="1800"/>
              <a:buNone/>
            </a:pPr>
            <a:endParaRPr sz="2400" b="1" dirty="0"/>
          </a:p>
          <a:p>
            <a:pPr marL="114300" lvl="0" indent="0" algn="l" rtl="0">
              <a:lnSpc>
                <a:spcPct val="100000"/>
              </a:lnSpc>
              <a:spcBef>
                <a:spcPts val="600"/>
              </a:spcBef>
              <a:spcAft>
                <a:spcPts val="0"/>
              </a:spcAft>
              <a:buSzPts val="1800"/>
              <a:buNone/>
            </a:pPr>
            <a:endParaRPr sz="2400" b="1" dirty="0"/>
          </a:p>
          <a:p>
            <a:pPr marL="114300" lvl="0" indent="0" algn="l" rtl="0">
              <a:lnSpc>
                <a:spcPct val="100000"/>
              </a:lnSpc>
              <a:spcBef>
                <a:spcPts val="600"/>
              </a:spcBef>
              <a:spcAft>
                <a:spcPts val="0"/>
              </a:spcAft>
              <a:buSzPts val="1800"/>
              <a:buNone/>
            </a:pPr>
            <a:endParaRPr sz="2400" b="1" dirty="0"/>
          </a:p>
          <a:p>
            <a:pPr marL="114300" lvl="0" indent="0" algn="l" rtl="0">
              <a:lnSpc>
                <a:spcPct val="100000"/>
              </a:lnSpc>
              <a:spcBef>
                <a:spcPts val="600"/>
              </a:spcBef>
              <a:spcAft>
                <a:spcPts val="0"/>
              </a:spcAft>
              <a:buSzPts val="1800"/>
              <a:buNone/>
            </a:pPr>
            <a:endParaRPr sz="2400" b="1" dirty="0"/>
          </a:p>
          <a:p>
            <a:pPr marL="114300" lvl="0" indent="0" algn="l" rtl="0">
              <a:lnSpc>
                <a:spcPct val="100000"/>
              </a:lnSpc>
              <a:spcBef>
                <a:spcPts val="600"/>
              </a:spcBef>
              <a:spcAft>
                <a:spcPts val="0"/>
              </a:spcAft>
              <a:buSzPts val="1800"/>
              <a:buNone/>
            </a:pPr>
            <a:endParaRPr sz="1400" b="1" dirty="0"/>
          </a:p>
          <a:p>
            <a:pPr marL="0" lvl="0" indent="0" algn="l" rtl="0">
              <a:lnSpc>
                <a:spcPct val="100000"/>
              </a:lnSpc>
              <a:spcBef>
                <a:spcPts val="600"/>
              </a:spcBef>
              <a:spcAft>
                <a:spcPts val="600"/>
              </a:spcAft>
              <a:buSzPts val="1800"/>
              <a:buNone/>
            </a:pPr>
            <a:r>
              <a:rPr lang="en-US" sz="2400" b="1" dirty="0"/>
              <a:t>Task: Write sentences that incorporate these short form phrases</a:t>
            </a:r>
            <a:endParaRPr sz="2400" b="1" dirty="0"/>
          </a:p>
        </p:txBody>
      </p:sp>
      <p:sp>
        <p:nvSpPr>
          <p:cNvPr id="176" name="Google Shape;176;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Short-form Language</a:t>
            </a:r>
            <a:endParaRPr b="1" dirty="0">
              <a:solidFill>
                <a:schemeClr val="accent5"/>
              </a:solidFill>
              <a:latin typeface="+mn-lt"/>
            </a:endParaRPr>
          </a:p>
        </p:txBody>
      </p:sp>
      <p:sp>
        <p:nvSpPr>
          <p:cNvPr id="177" name="Google Shape;177;p54"/>
          <p:cNvSpPr/>
          <p:nvPr/>
        </p:nvSpPr>
        <p:spPr>
          <a:xfrm>
            <a:off x="6716656" y="3805211"/>
            <a:ext cx="5402827" cy="230828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panose="020F0502020204030204" pitchFamily="34" charset="0"/>
                <a:ea typeface="Calibri"/>
                <a:cs typeface="Calibri" panose="020F0502020204030204" pitchFamily="34" charset="0"/>
                <a:sym typeface="Calibri"/>
              </a:rPr>
              <a:t>NP</a:t>
            </a:r>
            <a:endParaRPr sz="2400" dirty="0">
              <a:latin typeface="Calibri" panose="020F0502020204030204" pitchFamily="34" charset="0"/>
              <a:cs typeface="Calibri" panose="020F0502020204030204" pitchFamily="34" charset="0"/>
            </a:endParaRPr>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panose="020F0502020204030204" pitchFamily="34" charset="0"/>
                <a:ea typeface="Calibri"/>
                <a:cs typeface="Calibri" panose="020F0502020204030204" pitchFamily="34" charset="0"/>
                <a:sym typeface="Calibri"/>
              </a:rPr>
              <a:t>IMHO</a:t>
            </a:r>
            <a:endParaRPr sz="2400" dirty="0">
              <a:latin typeface="Calibri" panose="020F0502020204030204" pitchFamily="34" charset="0"/>
              <a:cs typeface="Calibri" panose="020F0502020204030204" pitchFamily="34" charset="0"/>
            </a:endParaRPr>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panose="020F0502020204030204" pitchFamily="34" charset="0"/>
                <a:ea typeface="Calibri"/>
                <a:cs typeface="Calibri" panose="020F0502020204030204" pitchFamily="34" charset="0"/>
                <a:sym typeface="Calibri"/>
              </a:rPr>
              <a:t>AFAIK</a:t>
            </a:r>
            <a:endParaRPr sz="2400" dirty="0">
              <a:latin typeface="Calibri" panose="020F0502020204030204" pitchFamily="34" charset="0"/>
              <a:cs typeface="Calibri" panose="020F0502020204030204" pitchFamily="34" charset="0"/>
            </a:endParaRPr>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panose="020F0502020204030204" pitchFamily="34" charset="0"/>
                <a:ea typeface="Calibri"/>
                <a:cs typeface="Calibri" panose="020F0502020204030204" pitchFamily="34" charset="0"/>
                <a:sym typeface="Calibri"/>
              </a:rPr>
              <a:t>LOL</a:t>
            </a:r>
          </a:p>
          <a:p>
            <a:pPr marL="342900" marR="0" lvl="0" indent="-342900" algn="l" rtl="0">
              <a:lnSpc>
                <a:spcPct val="100000"/>
              </a:lnSpc>
              <a:spcAft>
                <a:spcPts val="0"/>
              </a:spcAft>
              <a:buClr>
                <a:srgbClr val="000000"/>
              </a:buClr>
              <a:buSzPts val="2400"/>
              <a:buFont typeface="Arial"/>
              <a:buChar char="•"/>
            </a:pPr>
            <a:r>
              <a:rPr lang="en-US" sz="2400" dirty="0">
                <a:latin typeface="Calibri" panose="020F0502020204030204" pitchFamily="34" charset="0"/>
                <a:ea typeface="Calibri"/>
                <a:cs typeface="Calibri" panose="020F0502020204030204" pitchFamily="34" charset="0"/>
                <a:sym typeface="Calibri"/>
              </a:rPr>
              <a:t>TLDR</a:t>
            </a:r>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panose="020F0502020204030204" pitchFamily="34" charset="0"/>
                <a:ea typeface="Calibri"/>
                <a:cs typeface="Calibri" panose="020F0502020204030204" pitchFamily="34" charset="0"/>
                <a:sym typeface="Calibri"/>
              </a:rPr>
              <a:t>TBD/TBA</a:t>
            </a:r>
            <a:endParaRPr sz="24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p:txBody>
      </p:sp>
      <p:sp>
        <p:nvSpPr>
          <p:cNvPr id="178" name="Google Shape;178;p54"/>
          <p:cNvSpPr/>
          <p:nvPr/>
        </p:nvSpPr>
        <p:spPr>
          <a:xfrm>
            <a:off x="953729" y="3805211"/>
            <a:ext cx="6096000" cy="230828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ASAP</a:t>
            </a:r>
            <a:endParaRPr dirty="0"/>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BTW</a:t>
            </a:r>
            <a:endParaRPr dirty="0"/>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FYI</a:t>
            </a:r>
            <a:endParaRPr dirty="0"/>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OTOH</a:t>
            </a:r>
            <a:endParaRPr dirty="0"/>
          </a:p>
          <a:p>
            <a:pPr marL="342900" marR="0" lvl="0" indent="-342900" algn="l" rtl="0">
              <a:lnSpc>
                <a:spcPct val="100000"/>
              </a:lnSpc>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TIA</a:t>
            </a:r>
          </a:p>
          <a:p>
            <a:pPr marL="342900" marR="0" lvl="0" indent="-342900" algn="l" rtl="0">
              <a:lnSpc>
                <a:spcPct val="100000"/>
              </a:lnSpc>
              <a:spcAft>
                <a:spcPts val="0"/>
              </a:spcAft>
              <a:buClr>
                <a:srgbClr val="000000"/>
              </a:buClr>
              <a:buSzPts val="2400"/>
              <a:buFont typeface="Arial"/>
              <a:buChar char="•"/>
            </a:pPr>
            <a:r>
              <a:rPr lang="en-US" sz="2400" dirty="0">
                <a:latin typeface="Calibri"/>
                <a:ea typeface="Calibri"/>
                <a:cs typeface="Calibri"/>
                <a:sym typeface="Calibri"/>
              </a:rPr>
              <a:t>FWIW</a:t>
            </a:r>
            <a:endParaRPr sz="2400" b="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7395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5">
                                            <p:txEl>
                                              <p:pRg st="11" end="1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uiExpand="1" build="p"/>
      <p:bldP spid="177" grpId="0"/>
      <p:bldP spid="17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7A2D-214F-4989-ACCE-4ADDB4CB9C12}"/>
              </a:ext>
            </a:extLst>
          </p:cNvPr>
          <p:cNvSpPr>
            <a:spLocks noGrp="1"/>
          </p:cNvSpPr>
          <p:nvPr>
            <p:ph type="title"/>
          </p:nvPr>
        </p:nvSpPr>
        <p:spPr/>
        <p:txBody>
          <a:bodyPr/>
          <a:lstStyle/>
          <a:p>
            <a:r>
              <a:rPr lang="en-US" b="1" dirty="0">
                <a:solidFill>
                  <a:schemeClr val="accent5"/>
                </a:solidFill>
              </a:rPr>
              <a:t>Short-form Language Exercises</a:t>
            </a:r>
            <a:endParaRPr lang="en-US" dirty="0"/>
          </a:p>
        </p:txBody>
      </p:sp>
      <p:sp>
        <p:nvSpPr>
          <p:cNvPr id="3" name="Content Placeholder 2">
            <a:extLst>
              <a:ext uri="{FF2B5EF4-FFF2-40B4-BE49-F238E27FC236}">
                <a16:creationId xmlns:a16="http://schemas.microsoft.com/office/drawing/2014/main" id="{E258599F-2B31-46F2-9B13-ED572DBCEF9A}"/>
              </a:ext>
            </a:extLst>
          </p:cNvPr>
          <p:cNvSpPr>
            <a:spLocks noGrp="1"/>
          </p:cNvSpPr>
          <p:nvPr>
            <p:ph idx="1"/>
          </p:nvPr>
        </p:nvSpPr>
        <p:spPr/>
        <p:txBody>
          <a:bodyPr/>
          <a:lstStyle/>
          <a:p>
            <a:pPr marL="0" indent="0">
              <a:buNone/>
            </a:pPr>
            <a:endParaRPr lang="en-US" dirty="0">
              <a:solidFill>
                <a:srgbClr val="FF0000"/>
              </a:solidFill>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BE597275-AA6C-C542-7693-148CB405D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25625"/>
            <a:ext cx="5887272" cy="533474"/>
          </a:xfrm>
          <a:prstGeom prst="rect">
            <a:avLst/>
          </a:prstGeom>
        </p:spPr>
      </p:pic>
      <p:pic>
        <p:nvPicPr>
          <p:cNvPr id="8" name="Picture 7">
            <a:extLst>
              <a:ext uri="{FF2B5EF4-FFF2-40B4-BE49-F238E27FC236}">
                <a16:creationId xmlns:a16="http://schemas.microsoft.com/office/drawing/2014/main" id="{E75EA7A0-8B05-2E93-5EB7-F1FD0FA9A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01294"/>
            <a:ext cx="5229955" cy="466790"/>
          </a:xfrm>
          <a:prstGeom prst="rect">
            <a:avLst/>
          </a:prstGeom>
        </p:spPr>
      </p:pic>
      <p:pic>
        <p:nvPicPr>
          <p:cNvPr id="12" name="Picture 11">
            <a:extLst>
              <a:ext uri="{FF2B5EF4-FFF2-40B4-BE49-F238E27FC236}">
                <a16:creationId xmlns:a16="http://schemas.microsoft.com/office/drawing/2014/main" id="{29CCA496-8DE7-A7CE-4817-CA45CD5359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2234" y="2359099"/>
            <a:ext cx="2100943" cy="1527102"/>
          </a:xfrm>
          <a:prstGeom prst="rect">
            <a:avLst/>
          </a:prstGeom>
        </p:spPr>
      </p:pic>
      <p:pic>
        <p:nvPicPr>
          <p:cNvPr id="14" name="Picture 13">
            <a:extLst>
              <a:ext uri="{FF2B5EF4-FFF2-40B4-BE49-F238E27FC236}">
                <a16:creationId xmlns:a16="http://schemas.microsoft.com/office/drawing/2014/main" id="{CA266C90-F22E-FBD1-3F56-8FC1A2C5F4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52233" y="4468084"/>
            <a:ext cx="2100943" cy="1523926"/>
          </a:xfrm>
          <a:prstGeom prst="rect">
            <a:avLst/>
          </a:prstGeom>
        </p:spPr>
      </p:pic>
    </p:spTree>
    <p:extLst>
      <p:ext uri="{BB962C8B-B14F-4D97-AF65-F5344CB8AC3E}">
        <p14:creationId xmlns:p14="http://schemas.microsoft.com/office/powerpoint/2010/main" val="4050094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Readability</a:t>
            </a:r>
          </a:p>
        </p:txBody>
      </p:sp>
      <p:sp>
        <p:nvSpPr>
          <p:cNvPr id="5" name="Text Placeholder 4"/>
          <p:cNvSpPr>
            <a:spLocks noGrp="1"/>
          </p:cNvSpPr>
          <p:nvPr>
            <p:ph type="body" idx="1"/>
          </p:nvPr>
        </p:nvSpPr>
        <p:spPr>
          <a:xfrm>
            <a:off x="838199" y="1825625"/>
            <a:ext cx="11127377" cy="4888684"/>
          </a:xfrm>
        </p:spPr>
        <p:txBody>
          <a:bodyPr>
            <a:normAutofit fontScale="92500" lnSpcReduction="20000"/>
          </a:bodyPr>
          <a:lstStyle/>
          <a:p>
            <a:pPr marL="114300" indent="0">
              <a:lnSpc>
                <a:spcPct val="120000"/>
              </a:lnSpc>
              <a:spcBef>
                <a:spcPts val="0"/>
              </a:spcBef>
              <a:buNone/>
            </a:pPr>
            <a:r>
              <a:rPr lang="en-US" sz="2400" b="1" dirty="0"/>
              <a:t>What is Readability?</a:t>
            </a:r>
          </a:p>
          <a:p>
            <a:pPr marL="114300" indent="0">
              <a:lnSpc>
                <a:spcPct val="120000"/>
              </a:lnSpc>
              <a:spcBef>
                <a:spcPts val="0"/>
              </a:spcBef>
              <a:buNone/>
            </a:pPr>
            <a:endParaRPr lang="en-US" sz="2400" dirty="0"/>
          </a:p>
          <a:p>
            <a:pPr marL="114300" indent="0">
              <a:lnSpc>
                <a:spcPct val="120000"/>
              </a:lnSpc>
              <a:spcBef>
                <a:spcPts val="0"/>
              </a:spcBef>
              <a:buNone/>
            </a:pPr>
            <a:r>
              <a:rPr lang="en-US" sz="2400" b="1" dirty="0"/>
              <a:t>Definition:  </a:t>
            </a:r>
          </a:p>
          <a:p>
            <a:pPr>
              <a:lnSpc>
                <a:spcPct val="120000"/>
              </a:lnSpc>
              <a:spcBef>
                <a:spcPts val="0"/>
              </a:spcBef>
            </a:pPr>
            <a:r>
              <a:rPr lang="en-US" sz="2400" dirty="0"/>
              <a:t>The ease with which a reader can understand and engage with written content, especially in emails and short messages for business purposes</a:t>
            </a:r>
          </a:p>
          <a:p>
            <a:pPr>
              <a:lnSpc>
                <a:spcPct val="120000"/>
              </a:lnSpc>
              <a:spcBef>
                <a:spcPts val="0"/>
              </a:spcBef>
            </a:pPr>
            <a:r>
              <a:rPr lang="en-US" sz="2400" dirty="0"/>
              <a:t>High readability is achieved through clear, concise language, proper formatting, and logical organization, making the message straightforward and accessible to the reader</a:t>
            </a:r>
          </a:p>
          <a:p>
            <a:pPr marL="114300" indent="0">
              <a:lnSpc>
                <a:spcPct val="120000"/>
              </a:lnSpc>
              <a:spcBef>
                <a:spcPts val="0"/>
              </a:spcBef>
              <a:buNone/>
            </a:pPr>
            <a:endParaRPr lang="en-US" sz="2400" dirty="0"/>
          </a:p>
          <a:p>
            <a:pPr marL="114300" indent="0">
              <a:lnSpc>
                <a:spcPct val="120000"/>
              </a:lnSpc>
              <a:spcBef>
                <a:spcPts val="0"/>
              </a:spcBef>
              <a:buNone/>
            </a:pPr>
            <a:r>
              <a:rPr lang="en-US" sz="2400" b="1" dirty="0"/>
              <a:t>To improve readability, consider:</a:t>
            </a:r>
          </a:p>
          <a:p>
            <a:pPr>
              <a:lnSpc>
                <a:spcPct val="120000"/>
              </a:lnSpc>
              <a:spcBef>
                <a:spcPts val="0"/>
              </a:spcBef>
            </a:pPr>
            <a:r>
              <a:rPr lang="en-US" sz="2400" b="1" dirty="0"/>
              <a:t>Clarity</a:t>
            </a:r>
            <a:r>
              <a:rPr lang="en-US" sz="2400" dirty="0"/>
              <a:t>: Using simple and direct language to convey the message</a:t>
            </a:r>
          </a:p>
          <a:p>
            <a:pPr>
              <a:lnSpc>
                <a:spcPct val="120000"/>
              </a:lnSpc>
              <a:spcBef>
                <a:spcPts val="0"/>
              </a:spcBef>
            </a:pPr>
            <a:r>
              <a:rPr lang="en-US" sz="2400" b="1" dirty="0"/>
              <a:t>Language: </a:t>
            </a:r>
            <a:r>
              <a:rPr lang="en-US" sz="2400" dirty="0"/>
              <a:t>Matching the vocab to the audience, ensuring it is understandable and relatable</a:t>
            </a:r>
          </a:p>
          <a:p>
            <a:pPr>
              <a:lnSpc>
                <a:spcPct val="120000"/>
              </a:lnSpc>
              <a:spcBef>
                <a:spcPts val="0"/>
              </a:spcBef>
            </a:pPr>
            <a:r>
              <a:rPr lang="en-US" sz="2400" b="1" dirty="0"/>
              <a:t>Conciseness</a:t>
            </a:r>
            <a:r>
              <a:rPr lang="en-US" sz="2400" dirty="0"/>
              <a:t>: Keeping the message brief and to the point</a:t>
            </a:r>
          </a:p>
          <a:p>
            <a:pPr>
              <a:lnSpc>
                <a:spcPct val="120000"/>
              </a:lnSpc>
              <a:spcBef>
                <a:spcPts val="0"/>
              </a:spcBef>
            </a:pPr>
            <a:r>
              <a:rPr lang="en-US" sz="2400" b="1" dirty="0"/>
              <a:t>Formatting: </a:t>
            </a:r>
            <a:r>
              <a:rPr lang="en-US" sz="2400" dirty="0"/>
              <a:t>Using bullet points, headings, and short paragraphs to enhance visual appeal and understanding</a:t>
            </a:r>
          </a:p>
        </p:txBody>
      </p:sp>
    </p:spTree>
    <p:extLst>
      <p:ext uri="{BB962C8B-B14F-4D97-AF65-F5344CB8AC3E}">
        <p14:creationId xmlns:p14="http://schemas.microsoft.com/office/powerpoint/2010/main" val="1612743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Assessing Readability</a:t>
            </a:r>
            <a:endParaRPr b="1" dirty="0">
              <a:solidFill>
                <a:schemeClr val="accent5"/>
              </a:solidFill>
              <a:latin typeface="+mn-lt"/>
            </a:endParaRPr>
          </a:p>
        </p:txBody>
      </p:sp>
      <p:sp>
        <p:nvSpPr>
          <p:cNvPr id="239" name="Google Shape;239;p38"/>
          <p:cNvSpPr txBox="1">
            <a:spLocks noGrp="1"/>
          </p:cNvSpPr>
          <p:nvPr>
            <p:ph type="body" idx="1"/>
          </p:nvPr>
        </p:nvSpPr>
        <p:spPr>
          <a:xfrm>
            <a:off x="838199" y="1513490"/>
            <a:ext cx="10832869" cy="5344510"/>
          </a:xfrm>
          <a:prstGeom prst="rect">
            <a:avLst/>
          </a:prstGeom>
          <a:noFill/>
          <a:ln>
            <a:noFill/>
          </a:ln>
        </p:spPr>
        <p:txBody>
          <a:bodyPr spcFirstLastPara="1" wrap="square" lIns="91425" tIns="45700" rIns="91425" bIns="45700" anchor="t" anchorCtr="0">
            <a:noAutofit/>
          </a:bodyPr>
          <a:lstStyle/>
          <a:p>
            <a:pPr marL="114300" lvl="0" indent="0" algn="l" rtl="0">
              <a:lnSpc>
                <a:spcPct val="120000"/>
              </a:lnSpc>
              <a:spcBef>
                <a:spcPts val="0"/>
              </a:spcBef>
              <a:spcAft>
                <a:spcPts val="0"/>
              </a:spcAft>
              <a:buSzPts val="1800"/>
              <a:buNone/>
            </a:pPr>
            <a:r>
              <a:rPr lang="en-US" sz="1800" dirty="0"/>
              <a:t>Dear All,</a:t>
            </a:r>
            <a:endParaRPr dirty="0"/>
          </a:p>
          <a:p>
            <a:pPr marL="114300" lvl="0" indent="0" algn="l" rtl="0">
              <a:lnSpc>
                <a:spcPct val="120000"/>
              </a:lnSpc>
              <a:spcBef>
                <a:spcPts val="0"/>
              </a:spcBef>
              <a:spcAft>
                <a:spcPts val="0"/>
              </a:spcAft>
              <a:buSzPts val="1800"/>
              <a:buNone/>
            </a:pPr>
            <a:r>
              <a:rPr lang="en-US" sz="1800" dirty="0"/>
              <a:t>We hope this message finds you well. It is important to bring to your attention that, due to the scheduled training session for the school counselors which will be taking place in LAB105, there will be a change in the parking arrangements that might affect your usual parking routines. Specifically, all parking lots situated in the vicinity of the ICT Building will be exclusively reserved for the use of the school counselors who will be attending the aforementioned training session. This event is set to occur on Friday, the 28th of August, in the year 2026. We understand that this might cause some inconvenience to you. Therefore, we suggest that you consider alternative parking arrangements in advance to avoid any disruption to your schedule. You might want to explore other parking options around the campus, such as those near the Administration Building or the Library. Additionally, carpooling with colleagues or using public transportation might be viable alternatives. Planning your arrival time to allow for potential delays in finding a parking space would also be advisable. We apologize for any inconvenience this may cause you and appreciate your understanding and cooperation in this matter.</a:t>
            </a:r>
            <a:endParaRPr dirty="0"/>
          </a:p>
          <a:p>
            <a:pPr marL="114300" lvl="0" indent="0" algn="l" rtl="0">
              <a:lnSpc>
                <a:spcPct val="120000"/>
              </a:lnSpc>
              <a:spcBef>
                <a:spcPts val="0"/>
              </a:spcBef>
              <a:spcAft>
                <a:spcPts val="0"/>
              </a:spcAft>
              <a:buSzPts val="1800"/>
              <a:buNone/>
            </a:pPr>
            <a:r>
              <a:rPr lang="en-US" sz="1800" dirty="0"/>
              <a:t>Best Regards</a:t>
            </a:r>
            <a:endParaRPr dirty="0"/>
          </a:p>
          <a:p>
            <a:pPr marL="114300" lvl="0" indent="0" algn="l" rtl="0">
              <a:lnSpc>
                <a:spcPct val="120000"/>
              </a:lnSpc>
              <a:spcBef>
                <a:spcPts val="0"/>
              </a:spcBef>
              <a:spcAft>
                <a:spcPts val="0"/>
              </a:spcAft>
              <a:buSzPts val="1800"/>
              <a:buNone/>
            </a:pPr>
            <a:endParaRPr sz="1000" dirty="0"/>
          </a:p>
          <a:p>
            <a:pPr marL="114300" lvl="0" indent="0" algn="l" rtl="0">
              <a:lnSpc>
                <a:spcPct val="120000"/>
              </a:lnSpc>
              <a:spcBef>
                <a:spcPts val="0"/>
              </a:spcBef>
              <a:spcAft>
                <a:spcPts val="0"/>
              </a:spcAft>
              <a:buSzPts val="1800"/>
              <a:buNone/>
            </a:pPr>
            <a:r>
              <a:rPr lang="en-US" sz="2400" b="1" dirty="0"/>
              <a:t>Q: How can the readability of this message be improved?  </a:t>
            </a:r>
            <a:endParaRPr dirty="0"/>
          </a:p>
          <a:p>
            <a:pPr marL="114300" lvl="0" indent="0" algn="l" rtl="0">
              <a:lnSpc>
                <a:spcPct val="120000"/>
              </a:lnSpc>
              <a:spcBef>
                <a:spcPts val="0"/>
              </a:spcBef>
              <a:spcAft>
                <a:spcPts val="0"/>
              </a:spcAft>
              <a:buSzPts val="1800"/>
              <a:buNone/>
            </a:pPr>
            <a:r>
              <a:rPr lang="en-US" sz="2400" b="1" dirty="0"/>
              <a:t>TASK: </a:t>
            </a:r>
            <a:r>
              <a:rPr lang="en-US" sz="2400" dirty="0"/>
              <a:t>Rewrite the message in the worksheet to make it more readable</a:t>
            </a:r>
            <a:endParaRPr sz="2400" dirty="0"/>
          </a:p>
        </p:txBody>
      </p:sp>
      <p:pic>
        <p:nvPicPr>
          <p:cNvPr id="5" name="Picture 4">
            <a:extLst>
              <a:ext uri="{FF2B5EF4-FFF2-40B4-BE49-F238E27FC236}">
                <a16:creationId xmlns:a16="http://schemas.microsoft.com/office/drawing/2014/main" id="{1CB76ABF-222E-35B2-ACE6-7C8E859502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68342" y="365125"/>
            <a:ext cx="1719943" cy="1325563"/>
          </a:xfrm>
          <a:prstGeom prst="rect">
            <a:avLst/>
          </a:prstGeom>
        </p:spPr>
      </p:pic>
      <p:pic>
        <p:nvPicPr>
          <p:cNvPr id="7" name="Picture 6">
            <a:extLst>
              <a:ext uri="{FF2B5EF4-FFF2-40B4-BE49-F238E27FC236}">
                <a16:creationId xmlns:a16="http://schemas.microsoft.com/office/drawing/2014/main" id="{D8DBF309-69D1-E62B-F031-4F6A392013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28313" y="5885914"/>
            <a:ext cx="2810267" cy="590632"/>
          </a:xfrm>
          <a:prstGeom prst="rect">
            <a:avLst/>
          </a:prstGeom>
        </p:spPr>
      </p:pic>
    </p:spTree>
    <p:extLst>
      <p:ext uri="{BB962C8B-B14F-4D97-AF65-F5344CB8AC3E}">
        <p14:creationId xmlns:p14="http://schemas.microsoft.com/office/powerpoint/2010/main" val="767173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Improving Readability</a:t>
            </a:r>
            <a:endParaRPr dirty="0">
              <a:latin typeface="+mn-lt"/>
            </a:endParaRPr>
          </a:p>
        </p:txBody>
      </p:sp>
      <p:sp>
        <p:nvSpPr>
          <p:cNvPr id="245" name="Google Shape;245;p3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b="1" dirty="0"/>
              <a:t>List possible improvements:</a:t>
            </a:r>
            <a:endParaRPr sz="2400" b="1" dirty="0"/>
          </a:p>
        </p:txBody>
      </p:sp>
      <p:sp>
        <p:nvSpPr>
          <p:cNvPr id="246" name="Google Shape;246;p39"/>
          <p:cNvSpPr txBox="1">
            <a:spLocks noGrp="1"/>
          </p:cNvSpPr>
          <p:nvPr>
            <p:ph type="body" idx="2"/>
          </p:nvPr>
        </p:nvSpPr>
        <p:spPr>
          <a:xfrm>
            <a:off x="6172200" y="1825625"/>
            <a:ext cx="5181600" cy="4748596"/>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0"/>
              </a:spcBef>
              <a:spcAft>
                <a:spcPts val="0"/>
              </a:spcAft>
              <a:buSzPts val="1800"/>
              <a:buNone/>
            </a:pPr>
            <a:r>
              <a:rPr lang="en-US" sz="2400" b="1" dirty="0"/>
              <a:t>Possible rewrite:</a:t>
            </a:r>
            <a:endParaRPr dirty="0"/>
          </a:p>
          <a:p>
            <a:pPr marL="114300" lvl="0" indent="0" algn="l" rtl="0">
              <a:lnSpc>
                <a:spcPct val="100000"/>
              </a:lnSpc>
              <a:spcBef>
                <a:spcPts val="0"/>
              </a:spcBef>
              <a:spcAft>
                <a:spcPts val="0"/>
              </a:spcAft>
              <a:buSzPts val="1800"/>
              <a:buNone/>
            </a:pPr>
            <a:endParaRPr sz="2400" b="1" dirty="0"/>
          </a:p>
          <a:p>
            <a:pPr marL="114300" lvl="0" indent="0" algn="l" rtl="0">
              <a:lnSpc>
                <a:spcPct val="100000"/>
              </a:lnSpc>
              <a:spcBef>
                <a:spcPts val="0"/>
              </a:spcBef>
              <a:spcAft>
                <a:spcPts val="0"/>
              </a:spcAft>
              <a:buSzPts val="1800"/>
              <a:buNone/>
            </a:pPr>
            <a:r>
              <a:rPr lang="en-US" sz="2400" dirty="0"/>
              <a:t>Dear All,</a:t>
            </a:r>
            <a:endParaRPr dirty="0"/>
          </a:p>
          <a:p>
            <a:pPr marL="114300" lvl="0" indent="0" algn="l" rtl="0">
              <a:lnSpc>
                <a:spcPct val="100000"/>
              </a:lnSpc>
              <a:spcBef>
                <a:spcPts val="0"/>
              </a:spcBef>
              <a:spcAft>
                <a:spcPts val="0"/>
              </a:spcAft>
              <a:buSzPts val="1800"/>
              <a:buNone/>
            </a:pPr>
            <a:endParaRPr sz="1200" dirty="0"/>
          </a:p>
          <a:p>
            <a:pPr marL="114300" lvl="0" indent="0" algn="l" rtl="0">
              <a:lnSpc>
                <a:spcPct val="100000"/>
              </a:lnSpc>
              <a:spcBef>
                <a:spcPts val="0"/>
              </a:spcBef>
              <a:spcAft>
                <a:spcPts val="0"/>
              </a:spcAft>
              <a:buSzPts val="1800"/>
              <a:buNone/>
            </a:pPr>
            <a:r>
              <a:rPr lang="en-US" sz="2400" dirty="0"/>
              <a:t>Please be informed that all parking lots near the ICT Building will be reserved exclusively for the school counselors participating in the training at LAB105 on Friday, 28 August 2026.</a:t>
            </a:r>
            <a:endParaRPr dirty="0"/>
          </a:p>
          <a:p>
            <a:pPr marL="114300" lvl="0" indent="0" algn="l" rtl="0">
              <a:lnSpc>
                <a:spcPct val="100000"/>
              </a:lnSpc>
              <a:spcBef>
                <a:spcPts val="0"/>
              </a:spcBef>
              <a:spcAft>
                <a:spcPts val="0"/>
              </a:spcAft>
              <a:buSzPts val="1800"/>
              <a:buNone/>
            </a:pPr>
            <a:endParaRPr sz="1200" dirty="0"/>
          </a:p>
          <a:p>
            <a:pPr marL="114300" lvl="0" indent="0" algn="l" rtl="0">
              <a:lnSpc>
                <a:spcPct val="100000"/>
              </a:lnSpc>
              <a:spcBef>
                <a:spcPts val="0"/>
              </a:spcBef>
              <a:spcAft>
                <a:spcPts val="0"/>
              </a:spcAft>
              <a:buSzPts val="1800"/>
              <a:buNone/>
            </a:pPr>
            <a:r>
              <a:rPr lang="en-US" sz="2400" dirty="0"/>
              <a:t>We apologize for any inconvenience this may cause you.</a:t>
            </a:r>
            <a:endParaRPr dirty="0"/>
          </a:p>
          <a:p>
            <a:pPr marL="114300" lvl="0" indent="0" algn="l" rtl="0">
              <a:lnSpc>
                <a:spcPct val="100000"/>
              </a:lnSpc>
              <a:spcBef>
                <a:spcPts val="0"/>
              </a:spcBef>
              <a:spcAft>
                <a:spcPts val="0"/>
              </a:spcAft>
              <a:buSzPts val="1800"/>
              <a:buNone/>
            </a:pPr>
            <a:endParaRPr sz="1200" dirty="0"/>
          </a:p>
          <a:p>
            <a:pPr marL="114300" lvl="0" indent="0" algn="l" rtl="0">
              <a:lnSpc>
                <a:spcPct val="100000"/>
              </a:lnSpc>
              <a:spcBef>
                <a:spcPts val="0"/>
              </a:spcBef>
              <a:spcAft>
                <a:spcPts val="0"/>
              </a:spcAft>
              <a:buSzPts val="1800"/>
              <a:buNone/>
            </a:pPr>
            <a:r>
              <a:rPr lang="en-US" sz="2400" dirty="0"/>
              <a:t>Best Regards,</a:t>
            </a:r>
            <a:endParaRPr dirty="0"/>
          </a:p>
        </p:txBody>
      </p:sp>
    </p:spTree>
    <p:extLst>
      <p:ext uri="{BB962C8B-B14F-4D97-AF65-F5344CB8AC3E}">
        <p14:creationId xmlns:p14="http://schemas.microsoft.com/office/powerpoint/2010/main" val="653830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n-US" b="1">
                <a:solidFill>
                  <a:schemeClr val="accent5"/>
                </a:solidFill>
                <a:latin typeface="Calibri"/>
                <a:ea typeface="Calibri"/>
                <a:cs typeface="Calibri"/>
                <a:sym typeface="Calibri"/>
              </a:rPr>
              <a:t>Can’t I just use AI?</a:t>
            </a:r>
            <a:endParaRPr b="1">
              <a:solidFill>
                <a:schemeClr val="accent5"/>
              </a:solidFill>
              <a:latin typeface="Calibri"/>
              <a:ea typeface="Calibri"/>
              <a:cs typeface="Calibri"/>
              <a:sym typeface="Calibri"/>
            </a:endParaRPr>
          </a:p>
        </p:txBody>
      </p:sp>
      <p:sp>
        <p:nvSpPr>
          <p:cNvPr id="337" name="Google Shape;337;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Clr>
                <a:schemeClr val="dk1"/>
              </a:buClr>
              <a:buSzPts val="1800"/>
              <a:buNone/>
            </a:pPr>
            <a:r>
              <a:rPr lang="en-US" sz="2400" b="1" dirty="0"/>
              <a:t>Business experts say:</a:t>
            </a:r>
            <a:endParaRPr dirty="0"/>
          </a:p>
          <a:p>
            <a:pPr marL="114300" lvl="0" indent="0" algn="l" rtl="0">
              <a:lnSpc>
                <a:spcPct val="90000"/>
              </a:lnSpc>
              <a:spcBef>
                <a:spcPts val="1000"/>
              </a:spcBef>
              <a:spcAft>
                <a:spcPts val="0"/>
              </a:spcAft>
              <a:buClr>
                <a:schemeClr val="dk1"/>
              </a:buClr>
              <a:buSzPts val="1800"/>
              <a:buNone/>
            </a:pPr>
            <a:r>
              <a:rPr lang="en-US" sz="2400" dirty="0"/>
              <a:t>While AI can be a powerful tool in business communication, it's not a complete replacement for human interaction and should be used thoughtfully and ethically. </a:t>
            </a:r>
            <a:endParaRPr sz="2400" dirty="0"/>
          </a:p>
          <a:p>
            <a:pPr marL="114300" lvl="0" indent="0" algn="l" rtl="0">
              <a:lnSpc>
                <a:spcPct val="90000"/>
              </a:lnSpc>
              <a:spcBef>
                <a:spcPts val="1000"/>
              </a:spcBef>
              <a:spcAft>
                <a:spcPts val="0"/>
              </a:spcAft>
              <a:buClr>
                <a:schemeClr val="dk1"/>
              </a:buClr>
              <a:buSzPts val="1800"/>
              <a:buNone/>
            </a:pPr>
            <a:endParaRPr sz="2400" dirty="0"/>
          </a:p>
          <a:p>
            <a:pPr marL="114300" lvl="0" indent="0" algn="l" rtl="0">
              <a:lnSpc>
                <a:spcPct val="90000"/>
              </a:lnSpc>
              <a:spcBef>
                <a:spcPts val="1000"/>
              </a:spcBef>
              <a:spcAft>
                <a:spcPts val="0"/>
              </a:spcAft>
              <a:buClr>
                <a:schemeClr val="dk1"/>
              </a:buClr>
              <a:buSzPts val="1800"/>
              <a:buNone/>
            </a:pPr>
            <a:r>
              <a:rPr lang="en-US" sz="2400" dirty="0"/>
              <a:t>AI can assist with tasks like creating message template, drafting content, analyzing communication patterns, and improving efficiency, but it cannot replicate human connection, emotional intelligence, and nuanced understanding that are crucial for effective communication. </a:t>
            </a:r>
            <a:endParaRPr sz="2400" dirty="0"/>
          </a:p>
        </p:txBody>
      </p:sp>
    </p:spTree>
    <p:extLst>
      <p:ext uri="{BB962C8B-B14F-4D97-AF65-F5344CB8AC3E}">
        <p14:creationId xmlns:p14="http://schemas.microsoft.com/office/powerpoint/2010/main" val="1356653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n-US" b="1" dirty="0">
                <a:solidFill>
                  <a:schemeClr val="accent5"/>
                </a:solidFill>
                <a:latin typeface="Calibri"/>
                <a:ea typeface="Calibri"/>
                <a:cs typeface="Calibri"/>
                <a:sym typeface="Calibri"/>
              </a:rPr>
              <a:t>Can’t I just use AI?</a:t>
            </a:r>
            <a:endParaRPr dirty="0">
              <a:latin typeface="Calibri"/>
              <a:ea typeface="Calibri"/>
              <a:cs typeface="Calibri"/>
              <a:sym typeface="Calibri"/>
            </a:endParaRPr>
          </a:p>
        </p:txBody>
      </p:sp>
      <p:sp>
        <p:nvSpPr>
          <p:cNvPr id="343" name="Google Shape;343;p40"/>
          <p:cNvSpPr txBox="1">
            <a:spLocks noGrp="1"/>
          </p:cNvSpPr>
          <p:nvPr>
            <p:ph type="body" idx="1"/>
          </p:nvPr>
        </p:nvSpPr>
        <p:spPr>
          <a:xfrm>
            <a:off x="838200" y="1825625"/>
            <a:ext cx="10515600" cy="455551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Clr>
                <a:schemeClr val="dk1"/>
              </a:buClr>
              <a:buSzPts val="1800"/>
              <a:buChar char="•"/>
            </a:pPr>
            <a:r>
              <a:rPr lang="en-US" sz="2400" dirty="0"/>
              <a:t>AI can give you ideas or support your linguistic deficiencies</a:t>
            </a:r>
            <a:endParaRPr dirty="0"/>
          </a:p>
          <a:p>
            <a:pPr marL="457200" lvl="0" indent="-342900" algn="l" rtl="0">
              <a:lnSpc>
                <a:spcPct val="90000"/>
              </a:lnSpc>
              <a:spcBef>
                <a:spcPts val="1000"/>
              </a:spcBef>
              <a:spcAft>
                <a:spcPts val="0"/>
              </a:spcAft>
              <a:buClr>
                <a:schemeClr val="dk1"/>
              </a:buClr>
              <a:buSzPts val="1800"/>
              <a:buChar char="•"/>
            </a:pPr>
            <a:r>
              <a:rPr lang="en-US" sz="2400" dirty="0"/>
              <a:t>But AI cannot do all the work for you</a:t>
            </a:r>
            <a:endParaRPr dirty="0"/>
          </a:p>
          <a:p>
            <a:pPr marL="457200" lvl="0" indent="-342900" algn="l" rtl="0">
              <a:lnSpc>
                <a:spcPct val="90000"/>
              </a:lnSpc>
              <a:spcBef>
                <a:spcPts val="1000"/>
              </a:spcBef>
              <a:spcAft>
                <a:spcPts val="0"/>
              </a:spcAft>
              <a:buClr>
                <a:schemeClr val="dk1"/>
              </a:buClr>
              <a:buSzPts val="1800"/>
              <a:buChar char="•"/>
            </a:pPr>
            <a:r>
              <a:rPr lang="en-US" sz="2400" dirty="0"/>
              <a:t>AI only provides output that is as effective as the input it is based on</a:t>
            </a:r>
            <a:endParaRPr dirty="0"/>
          </a:p>
          <a:p>
            <a:pPr marL="457200" lvl="0" indent="-342900" algn="l" rtl="0">
              <a:lnSpc>
                <a:spcPct val="90000"/>
              </a:lnSpc>
              <a:spcBef>
                <a:spcPts val="1000"/>
              </a:spcBef>
              <a:spcAft>
                <a:spcPts val="0"/>
              </a:spcAft>
              <a:buClr>
                <a:schemeClr val="dk1"/>
              </a:buClr>
              <a:buSzPts val="1800"/>
              <a:buChar char="•"/>
            </a:pPr>
            <a:r>
              <a:rPr lang="en-US" sz="2400" dirty="0"/>
              <a:t>AI language models are not experts at critical thinking, and tend to over-generalize</a:t>
            </a:r>
            <a:endParaRPr dirty="0"/>
          </a:p>
          <a:p>
            <a:pPr marL="457200" lvl="0" indent="-342900" algn="l" rtl="0">
              <a:lnSpc>
                <a:spcPct val="90000"/>
              </a:lnSpc>
              <a:spcBef>
                <a:spcPts val="1000"/>
              </a:spcBef>
              <a:spcAft>
                <a:spcPts val="0"/>
              </a:spcAft>
              <a:buClr>
                <a:schemeClr val="dk1"/>
              </a:buClr>
              <a:buSzPts val="1800"/>
              <a:buChar char="•"/>
            </a:pPr>
            <a:r>
              <a:rPr lang="en-US" sz="2400" dirty="0"/>
              <a:t>AI language models can provide grammatically correct sentences that are meaningless or unrelated to the task</a:t>
            </a:r>
            <a:endParaRPr dirty="0"/>
          </a:p>
          <a:p>
            <a:pPr marL="457200" lvl="0" indent="-228600" algn="l" rtl="0">
              <a:lnSpc>
                <a:spcPct val="90000"/>
              </a:lnSpc>
              <a:spcBef>
                <a:spcPts val="1000"/>
              </a:spcBef>
              <a:spcAft>
                <a:spcPts val="0"/>
              </a:spcAft>
              <a:buClr>
                <a:schemeClr val="dk1"/>
              </a:buClr>
              <a:buSzPts val="1800"/>
              <a:buNone/>
            </a:pPr>
            <a:endParaRPr sz="2400" dirty="0"/>
          </a:p>
          <a:p>
            <a:pPr marL="114300" lvl="0" indent="0" algn="l" rtl="0">
              <a:lnSpc>
                <a:spcPct val="90000"/>
              </a:lnSpc>
              <a:spcBef>
                <a:spcPts val="1000"/>
              </a:spcBef>
              <a:spcAft>
                <a:spcPts val="0"/>
              </a:spcAft>
              <a:buClr>
                <a:schemeClr val="dk1"/>
              </a:buClr>
              <a:buSzPts val="1800"/>
              <a:buNone/>
            </a:pPr>
            <a:r>
              <a:rPr lang="en-US" sz="2400" b="1" dirty="0"/>
              <a:t>Even if you use AI, you must have the knowledge and skills to evaluate the quality of its output, therefore, YOU MUST LEARN the basic principles of business communication</a:t>
            </a:r>
            <a:endParaRPr sz="2400" b="1" dirty="0"/>
          </a:p>
        </p:txBody>
      </p:sp>
    </p:spTree>
    <p:extLst>
      <p:ext uri="{BB962C8B-B14F-4D97-AF65-F5344CB8AC3E}">
        <p14:creationId xmlns:p14="http://schemas.microsoft.com/office/powerpoint/2010/main" val="3440135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n-US" b="1">
                <a:solidFill>
                  <a:schemeClr val="accent5"/>
                </a:solidFill>
                <a:latin typeface="Calibri"/>
                <a:ea typeface="Calibri"/>
                <a:cs typeface="Calibri"/>
                <a:sym typeface="Calibri"/>
              </a:rPr>
              <a:t>Can’t I just use AI?</a:t>
            </a:r>
            <a:endParaRPr>
              <a:latin typeface="Calibri"/>
              <a:ea typeface="Calibri"/>
              <a:cs typeface="Calibri"/>
              <a:sym typeface="Calibri"/>
            </a:endParaRPr>
          </a:p>
        </p:txBody>
      </p:sp>
      <p:sp>
        <p:nvSpPr>
          <p:cNvPr id="349" name="Google Shape;349;p41"/>
          <p:cNvSpPr txBox="1">
            <a:spLocks noGrp="1"/>
          </p:cNvSpPr>
          <p:nvPr>
            <p:ph type="body" idx="1"/>
          </p:nvPr>
        </p:nvSpPr>
        <p:spPr>
          <a:xfrm>
            <a:off x="6231419" y="2188028"/>
            <a:ext cx="5819067" cy="4669971"/>
          </a:xfrm>
          <a:prstGeom prst="rect">
            <a:avLst/>
          </a:prstGeom>
          <a:noFill/>
          <a:ln>
            <a:noFill/>
          </a:ln>
        </p:spPr>
        <p:txBody>
          <a:bodyPr spcFirstLastPara="1" wrap="square" lIns="91425" tIns="45700" rIns="91425" bIns="45700" anchor="t" anchorCtr="0">
            <a:normAutofit fontScale="85000" lnSpcReduction="20000"/>
          </a:bodyPr>
          <a:lstStyle/>
          <a:p>
            <a:pPr marL="114300" lvl="0" indent="0" algn="l" rtl="0">
              <a:lnSpc>
                <a:spcPct val="120000"/>
              </a:lnSpc>
              <a:spcBef>
                <a:spcPts val="0"/>
              </a:spcBef>
              <a:spcAft>
                <a:spcPts val="0"/>
              </a:spcAft>
              <a:buClr>
                <a:schemeClr val="dk1"/>
              </a:buClr>
              <a:buSzPct val="88235"/>
              <a:buNone/>
            </a:pPr>
            <a:r>
              <a:rPr lang="en-US" sz="2400" b="1" dirty="0"/>
              <a:t>In this course:</a:t>
            </a:r>
            <a:endParaRPr dirty="0"/>
          </a:p>
          <a:p>
            <a:pPr marL="457200" lvl="0" indent="-342900" algn="l" rtl="0">
              <a:lnSpc>
                <a:spcPct val="120000"/>
              </a:lnSpc>
              <a:spcBef>
                <a:spcPts val="0"/>
              </a:spcBef>
              <a:spcAft>
                <a:spcPts val="0"/>
              </a:spcAft>
              <a:buClr>
                <a:srgbClr val="FF0000"/>
              </a:buClr>
              <a:buSzPct val="88235"/>
              <a:buChar char="•"/>
            </a:pPr>
            <a:r>
              <a:rPr lang="en-US" sz="2400" dirty="0">
                <a:solidFill>
                  <a:srgbClr val="FF0000"/>
                </a:solidFill>
              </a:rPr>
              <a:t>SOME Classwork exercises </a:t>
            </a:r>
            <a:r>
              <a:rPr lang="en-US" sz="2400" dirty="0"/>
              <a:t>will allow</a:t>
            </a:r>
            <a:r>
              <a:rPr lang="en-US" sz="2400" b="1" dirty="0"/>
              <a:t> Category 2: AI Planning.</a:t>
            </a:r>
            <a:r>
              <a:rPr lang="en-US" sz="2400" b="1" dirty="0">
                <a:solidFill>
                  <a:schemeClr val="accent5"/>
                </a:solidFill>
              </a:rPr>
              <a:t> </a:t>
            </a:r>
            <a:endParaRPr dirty="0"/>
          </a:p>
          <a:p>
            <a:pPr marL="457200" lvl="0" indent="-342900" algn="l" rtl="0">
              <a:lnSpc>
                <a:spcPct val="120000"/>
              </a:lnSpc>
              <a:spcBef>
                <a:spcPts val="0"/>
              </a:spcBef>
              <a:spcAft>
                <a:spcPts val="0"/>
              </a:spcAft>
              <a:buClr>
                <a:schemeClr val="accent5"/>
              </a:buClr>
              <a:buSzPct val="88235"/>
              <a:buChar char="•"/>
            </a:pPr>
            <a:r>
              <a:rPr lang="en-US" sz="2400" dirty="0">
                <a:solidFill>
                  <a:schemeClr val="accent5"/>
                </a:solidFill>
              </a:rPr>
              <a:t>Your instructor will inform you when it will be allowed in class-based activities.</a:t>
            </a:r>
            <a:r>
              <a:rPr lang="en-US" sz="2400" dirty="0"/>
              <a:t> </a:t>
            </a:r>
            <a:endParaRPr dirty="0"/>
          </a:p>
          <a:p>
            <a:pPr marL="457200" lvl="0" indent="-228600" algn="l" rtl="0">
              <a:lnSpc>
                <a:spcPct val="120000"/>
              </a:lnSpc>
              <a:spcBef>
                <a:spcPts val="0"/>
              </a:spcBef>
              <a:spcAft>
                <a:spcPts val="0"/>
              </a:spcAft>
              <a:buClr>
                <a:schemeClr val="dk1"/>
              </a:buClr>
              <a:buSzPct val="88235"/>
              <a:buNone/>
            </a:pPr>
            <a:endParaRPr sz="2400" dirty="0"/>
          </a:p>
          <a:p>
            <a:pPr marL="457200" lvl="0" indent="-342900" algn="l" rtl="0">
              <a:lnSpc>
                <a:spcPct val="120000"/>
              </a:lnSpc>
              <a:spcBef>
                <a:spcPts val="0"/>
              </a:spcBef>
              <a:spcAft>
                <a:spcPts val="0"/>
              </a:spcAft>
              <a:buClr>
                <a:schemeClr val="dk1"/>
              </a:buClr>
              <a:buSzPct val="88235"/>
              <a:buChar char="•"/>
            </a:pPr>
            <a:r>
              <a:rPr lang="en-US" sz="2400" dirty="0"/>
              <a:t>Your </a:t>
            </a:r>
            <a:r>
              <a:rPr lang="en-US" sz="2400" dirty="0">
                <a:solidFill>
                  <a:srgbClr val="FF0000"/>
                </a:solidFill>
              </a:rPr>
              <a:t>formally graded assessments </a:t>
            </a:r>
            <a:r>
              <a:rPr lang="en-US" sz="2400" dirty="0"/>
              <a:t>will be </a:t>
            </a:r>
            <a:r>
              <a:rPr lang="en-US" sz="2400" b="1" dirty="0"/>
              <a:t>Category 1: NO AI allowed</a:t>
            </a:r>
            <a:endParaRPr dirty="0"/>
          </a:p>
          <a:p>
            <a:pPr marL="457200" lvl="0" indent="-342900" algn="l" rtl="0">
              <a:lnSpc>
                <a:spcPct val="120000"/>
              </a:lnSpc>
              <a:spcBef>
                <a:spcPts val="0"/>
              </a:spcBef>
              <a:spcAft>
                <a:spcPts val="0"/>
              </a:spcAft>
              <a:buClr>
                <a:schemeClr val="accent5"/>
              </a:buClr>
              <a:buSzPct val="88235"/>
              <a:buChar char="•"/>
            </a:pPr>
            <a:r>
              <a:rPr lang="en-US" sz="2400" dirty="0">
                <a:solidFill>
                  <a:schemeClr val="accent5"/>
                </a:solidFill>
              </a:rPr>
              <a:t>The assessment is completed entirely without AI assistance in a controlled environment, ensuring that students rely solely on their existing knowledge, understanding, and skills</a:t>
            </a:r>
            <a:endParaRPr dirty="0"/>
          </a:p>
          <a:p>
            <a:pPr marL="457200" lvl="0" indent="-342900" algn="l" rtl="0">
              <a:lnSpc>
                <a:spcPct val="120000"/>
              </a:lnSpc>
              <a:spcBef>
                <a:spcPts val="0"/>
              </a:spcBef>
              <a:spcAft>
                <a:spcPts val="0"/>
              </a:spcAft>
              <a:buClr>
                <a:schemeClr val="dk1"/>
              </a:buClr>
              <a:buSzPct val="88235"/>
              <a:buChar char="•"/>
            </a:pPr>
            <a:r>
              <a:rPr lang="en-US" sz="2400" dirty="0"/>
              <a:t>You must not use AI at any point during the assessment. You must demonstrate your core skills and knowledge</a:t>
            </a:r>
            <a:endParaRPr dirty="0"/>
          </a:p>
        </p:txBody>
      </p:sp>
      <p:pic>
        <p:nvPicPr>
          <p:cNvPr id="350" name="Google Shape;350;p41" descr="Graphic of the AI Assessment Scale showing five levels. Level 1 No AI. Level 2 AI Planning. Level 3 AI Collaboration. Level 4 Full AI. Level 5 AI Exploration. Full text of the assessment scale is reproduced below."/>
          <p:cNvPicPr preferRelativeResize="0"/>
          <p:nvPr/>
        </p:nvPicPr>
        <p:blipFill rotWithShape="1">
          <a:blip r:embed="rId3">
            <a:alphaModFix/>
          </a:blip>
          <a:srcRect/>
          <a:stretch/>
        </p:blipFill>
        <p:spPr>
          <a:xfrm>
            <a:off x="838200" y="1825625"/>
            <a:ext cx="5393219" cy="3813175"/>
          </a:xfrm>
          <a:prstGeom prst="rect">
            <a:avLst/>
          </a:prstGeom>
          <a:noFill/>
          <a:ln>
            <a:noFill/>
          </a:ln>
        </p:spPr>
      </p:pic>
    </p:spTree>
    <p:extLst>
      <p:ext uri="{BB962C8B-B14F-4D97-AF65-F5344CB8AC3E}">
        <p14:creationId xmlns:p14="http://schemas.microsoft.com/office/powerpoint/2010/main" val="3066363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Activity Expansion: Put it together</a:t>
            </a:r>
            <a:endParaRPr lang="en-GB" b="1" dirty="0">
              <a:solidFill>
                <a:schemeClr val="accent5"/>
              </a:solidFill>
              <a:latin typeface="+mn-lt"/>
            </a:endParaRPr>
          </a:p>
        </p:txBody>
      </p:sp>
      <p:sp>
        <p:nvSpPr>
          <p:cNvPr id="3" name="Content Placeholder 2"/>
          <p:cNvSpPr>
            <a:spLocks noGrp="1"/>
          </p:cNvSpPr>
          <p:nvPr>
            <p:ph idx="1"/>
          </p:nvPr>
        </p:nvSpPr>
        <p:spPr/>
        <p:txBody>
          <a:bodyPr>
            <a:normAutofit fontScale="85000" lnSpcReduction="20000"/>
          </a:bodyPr>
          <a:lstStyle/>
          <a:p>
            <a:pPr marL="0" indent="0">
              <a:lnSpc>
                <a:spcPct val="100000"/>
              </a:lnSpc>
              <a:spcBef>
                <a:spcPts val="0"/>
              </a:spcBef>
              <a:buNone/>
            </a:pPr>
            <a:r>
              <a:rPr lang="en-US" sz="2400" b="1" dirty="0"/>
              <a:t>Task:</a:t>
            </a:r>
          </a:p>
          <a:p>
            <a:r>
              <a:rPr lang="en-US" sz="2400" b="1" dirty="0"/>
              <a:t>Rewrite the email you wrote before as a short chat message to a colleague.</a:t>
            </a:r>
            <a:endParaRPr lang="en-US" sz="2400" dirty="0"/>
          </a:p>
          <a:p>
            <a:r>
              <a:rPr lang="en-US" sz="2400" b="1" dirty="0"/>
              <a:t>Audience:</a:t>
            </a:r>
            <a:r>
              <a:rPr lang="en-US" sz="2400" dirty="0"/>
              <a:t> Colleague</a:t>
            </a:r>
            <a:br>
              <a:rPr lang="en-US" sz="2400" dirty="0"/>
            </a:br>
            <a:r>
              <a:rPr lang="en-US" sz="2400" b="1" dirty="0"/>
              <a:t>Tone:</a:t>
            </a:r>
            <a:r>
              <a:rPr lang="en-US" sz="2400" dirty="0"/>
              <a:t> Less formal / professional</a:t>
            </a:r>
            <a:br>
              <a:rPr lang="en-US" sz="2400" dirty="0"/>
            </a:br>
            <a:r>
              <a:rPr lang="en-US" sz="2400" b="1" dirty="0"/>
              <a:t>Format:</a:t>
            </a:r>
            <a:r>
              <a:rPr lang="en-US" sz="2400" dirty="0"/>
              <a:t> short email</a:t>
            </a:r>
            <a:br>
              <a:rPr lang="en-US" sz="2400" dirty="0"/>
            </a:br>
            <a:r>
              <a:rPr lang="en-US" sz="2400" b="1" dirty="0"/>
              <a:t>Length:</a:t>
            </a:r>
            <a:r>
              <a:rPr lang="en-US" sz="2400" dirty="0"/>
              <a:t> 40–50 words</a:t>
            </a:r>
          </a:p>
          <a:p>
            <a:pPr marL="0" indent="0">
              <a:buNone/>
            </a:pPr>
            <a:endParaRPr lang="en-US" sz="2400" b="1" dirty="0"/>
          </a:p>
          <a:p>
            <a:pPr lvl="0"/>
            <a:r>
              <a:rPr lang="en-US" sz="2400" dirty="0"/>
              <a:t>Keep the essential information </a:t>
            </a:r>
          </a:p>
          <a:p>
            <a:pPr lvl="0"/>
            <a:r>
              <a:rPr lang="en-US" sz="2400" dirty="0"/>
              <a:t>Remove unnecessary details </a:t>
            </a:r>
          </a:p>
          <a:p>
            <a:pPr lvl="0"/>
            <a:r>
              <a:rPr lang="en-US" sz="2400" dirty="0"/>
              <a:t>Use shorter expressions </a:t>
            </a:r>
          </a:p>
          <a:p>
            <a:pPr lvl="0"/>
            <a:r>
              <a:rPr lang="en-US" sz="2400" dirty="0"/>
              <a:t>Stay clear and professional </a:t>
            </a:r>
          </a:p>
          <a:p>
            <a:pPr marL="0" indent="0">
              <a:lnSpc>
                <a:spcPct val="100000"/>
              </a:lnSpc>
              <a:spcBef>
                <a:spcPts val="0"/>
              </a:spcBef>
              <a:buNone/>
            </a:pPr>
            <a:endParaRPr lang="en-US" sz="2400" dirty="0"/>
          </a:p>
          <a:p>
            <a:pPr marL="0" indent="0">
              <a:lnSpc>
                <a:spcPct val="100000"/>
              </a:lnSpc>
              <a:spcBef>
                <a:spcPts val="0"/>
              </a:spcBef>
              <a:buNone/>
            </a:pPr>
            <a:r>
              <a:rPr lang="en-US" sz="2400" b="1" dirty="0"/>
              <a:t>Reflection:</a:t>
            </a:r>
          </a:p>
          <a:p>
            <a:pPr>
              <a:lnSpc>
                <a:spcPct val="100000"/>
              </a:lnSpc>
              <a:spcBef>
                <a:spcPts val="0"/>
              </a:spcBef>
            </a:pPr>
            <a:r>
              <a:rPr lang="en-US" sz="2400" dirty="0"/>
              <a:t>Does the language of the messages match the purpose?</a:t>
            </a:r>
          </a:p>
          <a:p>
            <a:pPr>
              <a:lnSpc>
                <a:spcPct val="100000"/>
              </a:lnSpc>
              <a:spcBef>
                <a:spcPts val="0"/>
              </a:spcBef>
            </a:pPr>
            <a:r>
              <a:rPr lang="en-US" sz="2400" dirty="0"/>
              <a:t>How could you improve it further?</a:t>
            </a:r>
            <a:endParaRPr lang="en-GB" sz="2400" dirty="0"/>
          </a:p>
        </p:txBody>
      </p:sp>
      <p:pic>
        <p:nvPicPr>
          <p:cNvPr id="8" name="Picture 7">
            <a:extLst>
              <a:ext uri="{FF2B5EF4-FFF2-40B4-BE49-F238E27FC236}">
                <a16:creationId xmlns:a16="http://schemas.microsoft.com/office/drawing/2014/main" id="{5B1D8EF6-4EE7-816D-0193-9918ED92F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1626" y="4944495"/>
            <a:ext cx="4505954" cy="495369"/>
          </a:xfrm>
          <a:prstGeom prst="rect">
            <a:avLst/>
          </a:prstGeom>
        </p:spPr>
      </p:pic>
      <p:pic>
        <p:nvPicPr>
          <p:cNvPr id="5" name="Picture 4">
            <a:extLst>
              <a:ext uri="{FF2B5EF4-FFF2-40B4-BE49-F238E27FC236}">
                <a16:creationId xmlns:a16="http://schemas.microsoft.com/office/drawing/2014/main" id="{DC649A1B-FBAD-7950-9716-427D8AD937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7417" y="3193030"/>
            <a:ext cx="2677154" cy="1616528"/>
          </a:xfrm>
          <a:prstGeom prst="rect">
            <a:avLst/>
          </a:prstGeom>
        </p:spPr>
      </p:pic>
    </p:spTree>
    <p:extLst>
      <p:ext uri="{BB962C8B-B14F-4D97-AF65-F5344CB8AC3E}">
        <p14:creationId xmlns:p14="http://schemas.microsoft.com/office/powerpoint/2010/main" val="53665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latin typeface="+mn-lt"/>
              </a:rPr>
              <a:t>Key Takeaways</a:t>
            </a:r>
            <a:endParaRPr lang="en-GB" b="1" dirty="0">
              <a:solidFill>
                <a:schemeClr val="accent5"/>
              </a:solidFill>
              <a:latin typeface="+mn-lt"/>
            </a:endParaRPr>
          </a:p>
        </p:txBody>
      </p:sp>
      <p:sp>
        <p:nvSpPr>
          <p:cNvPr id="3" name="Content Placeholder 2"/>
          <p:cNvSpPr>
            <a:spLocks noGrp="1"/>
          </p:cNvSpPr>
          <p:nvPr>
            <p:ph idx="1"/>
          </p:nvPr>
        </p:nvSpPr>
        <p:spPr/>
        <p:txBody>
          <a:bodyPr/>
          <a:lstStyle/>
          <a:p>
            <a:r>
              <a:rPr lang="en-US" dirty="0"/>
              <a:t>Effective business communication means giving the right information to the right audience in the right way.</a:t>
            </a:r>
            <a:br>
              <a:rPr lang="en-US" dirty="0"/>
            </a:br>
            <a:endParaRPr lang="en-US" dirty="0"/>
          </a:p>
          <a:p>
            <a:r>
              <a:rPr lang="en-US" dirty="0"/>
              <a:t>If the message is unclear, unstructured, or low-readability, it will not be effective.</a:t>
            </a:r>
          </a:p>
          <a:p>
            <a:endParaRPr lang="en-US" dirty="0"/>
          </a:p>
          <a:p>
            <a:r>
              <a:rPr lang="en-US" dirty="0"/>
              <a:t>Next week, we will explore how these principles change when we communicate through different digital platforms.</a:t>
            </a:r>
            <a:endParaRPr lang="en-GB" dirty="0"/>
          </a:p>
        </p:txBody>
      </p:sp>
    </p:spTree>
    <p:extLst>
      <p:ext uri="{BB962C8B-B14F-4D97-AF65-F5344CB8AC3E}">
        <p14:creationId xmlns:p14="http://schemas.microsoft.com/office/powerpoint/2010/main" val="1061050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F2756B-ECEC-40F8-9CBF-6E505B9EABCA}"/>
              </a:ext>
            </a:extLst>
          </p:cNvPr>
          <p:cNvSpPr>
            <a:spLocks noGrp="1"/>
          </p:cNvSpPr>
          <p:nvPr>
            <p:ph idx="1"/>
          </p:nvPr>
        </p:nvSpPr>
        <p:spPr>
          <a:xfrm>
            <a:off x="838200" y="1825625"/>
            <a:ext cx="10515600" cy="4855394"/>
          </a:xfrm>
        </p:spPr>
        <p:txBody>
          <a:bodyPr>
            <a:normAutofit lnSpcReduction="10000"/>
          </a:bodyPr>
          <a:lstStyle/>
          <a:p>
            <a:pPr marL="0" indent="0" algn="ctr">
              <a:buNone/>
            </a:pPr>
            <a:r>
              <a:rPr lang="en-US" b="1" dirty="0"/>
              <a:t>Congratulations on completing another class</a:t>
            </a:r>
          </a:p>
          <a:p>
            <a:endParaRPr lang="en-US" dirty="0"/>
          </a:p>
          <a:p>
            <a:pPr marL="0" indent="0">
              <a:buNone/>
            </a:pPr>
            <a:r>
              <a:rPr lang="en-US" b="1" dirty="0"/>
              <a:t>Homework:</a:t>
            </a:r>
          </a:p>
          <a:p>
            <a:r>
              <a:rPr lang="en-US" dirty="0"/>
              <a:t>Activity Expansion Email Rewrite</a:t>
            </a:r>
          </a:p>
          <a:p>
            <a:r>
              <a:rPr lang="en-US" dirty="0"/>
              <a:t>Post into </a:t>
            </a:r>
            <a:r>
              <a:rPr lang="en-US" dirty="0" err="1"/>
              <a:t>Mycourses</a:t>
            </a:r>
            <a:endParaRPr lang="en-US" dirty="0"/>
          </a:p>
          <a:p>
            <a:endParaRPr lang="en-US" dirty="0"/>
          </a:p>
          <a:p>
            <a:pPr marL="0" indent="0" algn="ctr">
              <a:buNone/>
            </a:pPr>
            <a:r>
              <a:rPr lang="en-US" b="1" dirty="0"/>
              <a:t>Have a great week everyone!</a:t>
            </a:r>
          </a:p>
          <a:p>
            <a:pPr algn="ctr"/>
            <a:endParaRPr lang="en-US" b="1" dirty="0"/>
          </a:p>
          <a:p>
            <a:pPr marL="0" indent="0" algn="ctr">
              <a:buNone/>
            </a:pPr>
            <a:r>
              <a:rPr lang="en-US" b="1" dirty="0"/>
              <a:t>See you next week</a:t>
            </a:r>
          </a:p>
          <a:p>
            <a:pPr marL="0" indent="0" algn="ctr">
              <a:buNone/>
            </a:pPr>
            <a:r>
              <a:rPr lang="en-US" b="1" dirty="0"/>
              <a:t>Until then, Take Care &amp; Stay Safe</a:t>
            </a:r>
          </a:p>
        </p:txBody>
      </p:sp>
      <p:sp>
        <p:nvSpPr>
          <p:cNvPr id="209" name="Google Shape;209;p24"/>
          <p:cNvSpPr txBox="1"/>
          <p:nvPr/>
        </p:nvSpPr>
        <p:spPr>
          <a:xfrm>
            <a:off x="808722" y="408341"/>
            <a:ext cx="5651072" cy="1417284"/>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accent5"/>
              </a:buClr>
              <a:buSzPts val="4400"/>
              <a:buFont typeface="Calibri"/>
              <a:buNone/>
            </a:pPr>
            <a:r>
              <a:rPr lang="en-US" sz="4400" b="1" i="0" u="none" strike="noStrike" cap="none" dirty="0">
                <a:solidFill>
                  <a:schemeClr val="accent5"/>
                </a:solidFill>
                <a:latin typeface="Calibri"/>
                <a:ea typeface="Calibri"/>
                <a:cs typeface="Calibri"/>
                <a:sym typeface="Calibri"/>
              </a:rPr>
              <a:t>Finally….</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TotalTime>
  <Words>2943</Words>
  <Application>Microsoft Office PowerPoint</Application>
  <PresentationFormat>Widescreen</PresentationFormat>
  <Paragraphs>385</Paragraphs>
  <Slides>26</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ITLG311 - Business Communication</vt:lpstr>
      <vt:lpstr>Previously:</vt:lpstr>
      <vt:lpstr>What Makes a Business Message Effective?</vt:lpstr>
      <vt:lpstr>Homework/Feedback:</vt:lpstr>
      <vt:lpstr>This Week:</vt:lpstr>
      <vt:lpstr>Today’s Reference Materials/Resources</vt:lpstr>
      <vt:lpstr>Communicating the ‘Right Information’</vt:lpstr>
      <vt:lpstr>Purposeful Messaging</vt:lpstr>
      <vt:lpstr>A Structured Message: Emails</vt:lpstr>
      <vt:lpstr>Emails: Not as simple as you think</vt:lpstr>
      <vt:lpstr>Email Structure:</vt:lpstr>
      <vt:lpstr>Short and Long Messages</vt:lpstr>
      <vt:lpstr>Short Messages</vt:lpstr>
      <vt:lpstr>Longer Messages</vt:lpstr>
      <vt:lpstr>Adapting the message for Various Needs</vt:lpstr>
      <vt:lpstr>Short-form Language</vt:lpstr>
      <vt:lpstr>Short-form Language Exercises</vt:lpstr>
      <vt:lpstr>Readability</vt:lpstr>
      <vt:lpstr>Assessing Readability</vt:lpstr>
      <vt:lpstr>Improving Readability</vt:lpstr>
      <vt:lpstr>Can’t I just use AI?</vt:lpstr>
      <vt:lpstr>Can’t I just use AI?</vt:lpstr>
      <vt:lpstr>Can’t I just use AI?</vt:lpstr>
      <vt:lpstr>Activity Expansion: Put it together</vt:lpstr>
      <vt:lpstr>Key Takeaways</vt:lpstr>
      <vt:lpstr>PowerPoint Presentation</vt:lpstr>
    </vt:vector>
  </TitlesOfParts>
  <Company>Faculty of ICT, Mahidol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Collins</dc:creator>
  <cp:lastModifiedBy>martin willemse</cp:lastModifiedBy>
  <cp:revision>23</cp:revision>
  <cp:lastPrinted>2026-08-17T05:09:39Z</cp:lastPrinted>
  <dcterms:created xsi:type="dcterms:W3CDTF">2026-08-16T11:53:01Z</dcterms:created>
  <dcterms:modified xsi:type="dcterms:W3CDTF">2026-08-17T14:11:24Z</dcterms:modified>
</cp:coreProperties>
</file>