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48" r:id="rId1"/>
  </p:sldMasterIdLst>
  <p:notesMasterIdLst>
    <p:notesMasterId r:id="rId33"/>
  </p:notesMasterIdLst>
  <p:handoutMasterIdLst>
    <p:handoutMasterId r:id="rId34"/>
  </p:handoutMasterIdLst>
  <p:sldIdLst>
    <p:sldId id="280" r:id="rId2"/>
    <p:sldId id="311" r:id="rId3"/>
    <p:sldId id="281" r:id="rId4"/>
    <p:sldId id="314" r:id="rId5"/>
    <p:sldId id="315" r:id="rId6"/>
    <p:sldId id="316" r:id="rId7"/>
    <p:sldId id="317" r:id="rId8"/>
    <p:sldId id="318" r:id="rId9"/>
    <p:sldId id="319" r:id="rId10"/>
    <p:sldId id="320" r:id="rId11"/>
    <p:sldId id="327" r:id="rId12"/>
    <p:sldId id="331" r:id="rId13"/>
    <p:sldId id="328" r:id="rId14"/>
    <p:sldId id="333" r:id="rId15"/>
    <p:sldId id="334" r:id="rId16"/>
    <p:sldId id="336" r:id="rId17"/>
    <p:sldId id="338" r:id="rId18"/>
    <p:sldId id="346" r:id="rId19"/>
    <p:sldId id="322" r:id="rId20"/>
    <p:sldId id="340" r:id="rId21"/>
    <p:sldId id="344" r:id="rId22"/>
    <p:sldId id="342" r:id="rId23"/>
    <p:sldId id="329" r:id="rId24"/>
    <p:sldId id="348" r:id="rId25"/>
    <p:sldId id="324" r:id="rId26"/>
    <p:sldId id="350" r:id="rId27"/>
    <p:sldId id="325" r:id="rId28"/>
    <p:sldId id="260" r:id="rId29"/>
    <p:sldId id="352" r:id="rId30"/>
    <p:sldId id="353" r:id="rId31"/>
    <p:sldId id="279" r:id="rId32"/>
  </p:sldIdLst>
  <p:sldSz cx="12192000" cy="6858000"/>
  <p:notesSz cx="9926638" cy="6797675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  <p:ext uri="http://customooxmlschemas.google.com/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35" roundtripDataSignature="AMtx7mjSCHeoZCtWExpjhyH3NR7XLlC4F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0044" autoAdjust="0"/>
    <p:restoredTop sz="75294" autoAdjust="0"/>
  </p:normalViewPr>
  <p:slideViewPr>
    <p:cSldViewPr snapToGrid="0">
      <p:cViewPr varScale="1">
        <p:scale>
          <a:sx n="62" d="100"/>
          <a:sy n="62" d="100"/>
        </p:scale>
        <p:origin x="1253" y="5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tableStyles" Target="tableStyles.xml"/><Relationship Id="rId21" Type="http://schemas.openxmlformats.org/officeDocument/2006/relationships/slide" Target="slides/slide20.xml"/><Relationship Id="rId34" Type="http://schemas.openxmlformats.org/officeDocument/2006/relationships/handoutMaster" Target="handoutMasters/handout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notesMaster" Target="notesMasters/notesMaster1.xml"/><Relationship Id="rId38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customschemas.google.com/relationships/presentationmetadata" Target="metadata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4302125" cy="34131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5622925" y="0"/>
            <a:ext cx="4302125" cy="34131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893A146-6FA8-48C2-A089-25330CE1955B}" type="datetimeFigureOut">
              <a:rPr lang="en-US" smtClean="0"/>
              <a:t>9/7/2026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6456363"/>
            <a:ext cx="4302125" cy="341312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5622925" y="6456363"/>
            <a:ext cx="4302125" cy="341312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1D722C4-B9AA-4E68-BBCA-D16A44F4D2B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2870855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654750" y="509825"/>
            <a:ext cx="6618075" cy="254912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992650" y="3228875"/>
            <a:ext cx="7941300" cy="30589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>
            <a:spLocks noGrp="1"/>
          </p:cNvSpPr>
          <p:nvPr>
            <p:ph type="body" idx="1"/>
          </p:nvPr>
        </p:nvSpPr>
        <p:spPr>
          <a:xfrm>
            <a:off x="992650" y="3228875"/>
            <a:ext cx="7941300" cy="305895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82" name="Google Shape;8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2697163" y="509588"/>
            <a:ext cx="4532312" cy="254952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54940047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2697163" y="509588"/>
            <a:ext cx="4532312" cy="2549525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4157213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p19:notes"/>
          <p:cNvSpPr txBox="1">
            <a:spLocks noGrp="1"/>
          </p:cNvSpPr>
          <p:nvPr>
            <p:ph type="body" idx="1"/>
          </p:nvPr>
        </p:nvSpPr>
        <p:spPr>
          <a:xfrm>
            <a:off x="685801" y="4787125"/>
            <a:ext cx="5486400" cy="3916740"/>
          </a:xfrm>
          <a:prstGeom prst="rect">
            <a:avLst/>
          </a:prstGeom>
        </p:spPr>
        <p:txBody>
          <a:bodyPr spcFirstLastPara="1" wrap="square" lIns="91875" tIns="45925" rIns="91875" bIns="459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6" name="Google Shape;206;p19:notes"/>
          <p:cNvSpPr>
            <a:spLocks noGrp="1" noRot="1" noChangeAspect="1"/>
          </p:cNvSpPr>
          <p:nvPr>
            <p:ph type="sldImg" idx="2"/>
          </p:nvPr>
        </p:nvSpPr>
        <p:spPr>
          <a:xfrm>
            <a:off x="446088" y="1244600"/>
            <a:ext cx="5965825" cy="33559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00144751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p20:notes"/>
          <p:cNvSpPr txBox="1">
            <a:spLocks noGrp="1"/>
          </p:cNvSpPr>
          <p:nvPr>
            <p:ph type="body" idx="1"/>
          </p:nvPr>
        </p:nvSpPr>
        <p:spPr>
          <a:xfrm>
            <a:off x="685801" y="4787125"/>
            <a:ext cx="5486400" cy="3916740"/>
          </a:xfrm>
          <a:prstGeom prst="rect">
            <a:avLst/>
          </a:prstGeom>
        </p:spPr>
        <p:txBody>
          <a:bodyPr spcFirstLastPara="1" wrap="square" lIns="91875" tIns="45925" rIns="91875" bIns="459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2" name="Google Shape;212;p20:notes"/>
          <p:cNvSpPr>
            <a:spLocks noGrp="1" noRot="1" noChangeAspect="1"/>
          </p:cNvSpPr>
          <p:nvPr>
            <p:ph type="sldImg" idx="2"/>
          </p:nvPr>
        </p:nvSpPr>
        <p:spPr>
          <a:xfrm>
            <a:off x="446088" y="1244600"/>
            <a:ext cx="5965825" cy="33559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45228573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Google Shape;222;p21:notes"/>
          <p:cNvSpPr txBox="1">
            <a:spLocks noGrp="1"/>
          </p:cNvSpPr>
          <p:nvPr>
            <p:ph type="body" idx="1"/>
          </p:nvPr>
        </p:nvSpPr>
        <p:spPr>
          <a:xfrm>
            <a:off x="685801" y="4787125"/>
            <a:ext cx="5486400" cy="3916740"/>
          </a:xfrm>
          <a:prstGeom prst="rect">
            <a:avLst/>
          </a:prstGeom>
        </p:spPr>
        <p:txBody>
          <a:bodyPr spcFirstLastPara="1" wrap="square" lIns="91875" tIns="45925" rIns="91875" bIns="459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3" name="Google Shape;223;p21:notes"/>
          <p:cNvSpPr>
            <a:spLocks noGrp="1" noRot="1" noChangeAspect="1"/>
          </p:cNvSpPr>
          <p:nvPr>
            <p:ph type="sldImg" idx="2"/>
          </p:nvPr>
        </p:nvSpPr>
        <p:spPr>
          <a:xfrm>
            <a:off x="446088" y="1244600"/>
            <a:ext cx="5965825" cy="33559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92947927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Google Shape;234;p22:notes"/>
          <p:cNvSpPr txBox="1">
            <a:spLocks noGrp="1"/>
          </p:cNvSpPr>
          <p:nvPr>
            <p:ph type="body" idx="1"/>
          </p:nvPr>
        </p:nvSpPr>
        <p:spPr>
          <a:xfrm>
            <a:off x="685801" y="4787125"/>
            <a:ext cx="5486400" cy="3916740"/>
          </a:xfrm>
          <a:prstGeom prst="rect">
            <a:avLst/>
          </a:prstGeom>
        </p:spPr>
        <p:txBody>
          <a:bodyPr spcFirstLastPara="1" wrap="square" lIns="91875" tIns="45925" rIns="91875" bIns="459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5" name="Google Shape;235;p22:notes"/>
          <p:cNvSpPr>
            <a:spLocks noGrp="1" noRot="1" noChangeAspect="1"/>
          </p:cNvSpPr>
          <p:nvPr>
            <p:ph type="sldImg" idx="2"/>
          </p:nvPr>
        </p:nvSpPr>
        <p:spPr>
          <a:xfrm>
            <a:off x="446088" y="1244600"/>
            <a:ext cx="5965825" cy="33559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96322512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Google Shape;245;p23:notes"/>
          <p:cNvSpPr txBox="1">
            <a:spLocks noGrp="1"/>
          </p:cNvSpPr>
          <p:nvPr>
            <p:ph type="body" idx="1"/>
          </p:nvPr>
        </p:nvSpPr>
        <p:spPr>
          <a:xfrm>
            <a:off x="685801" y="4787125"/>
            <a:ext cx="5486400" cy="3916740"/>
          </a:xfrm>
          <a:prstGeom prst="rect">
            <a:avLst/>
          </a:prstGeom>
        </p:spPr>
        <p:txBody>
          <a:bodyPr spcFirstLastPara="1" wrap="square" lIns="91875" tIns="45925" rIns="91875" bIns="459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6" name="Google Shape;246;p23:notes"/>
          <p:cNvSpPr>
            <a:spLocks noGrp="1" noRot="1" noChangeAspect="1"/>
          </p:cNvSpPr>
          <p:nvPr>
            <p:ph type="sldImg" idx="2"/>
          </p:nvPr>
        </p:nvSpPr>
        <p:spPr>
          <a:xfrm>
            <a:off x="446088" y="1244600"/>
            <a:ext cx="5965825" cy="33559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994450427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2697163" y="509588"/>
            <a:ext cx="4532312" cy="2549525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 dirty="0"/>
              <a:t>Sharing Information </a:t>
            </a:r>
          </a:p>
          <a:p>
            <a:r>
              <a:rPr lang="en-US" b="1" dirty="0"/>
              <a:t>Making Decisions </a:t>
            </a:r>
          </a:p>
          <a:p>
            <a:r>
              <a:rPr lang="en-US" b="1" dirty="0"/>
              <a:t>Creating Solutions </a:t>
            </a:r>
          </a:p>
          <a:p>
            <a:r>
              <a:rPr lang="en-US" b="1" dirty="0"/>
              <a:t>Building Relationships </a:t>
            </a:r>
          </a:p>
          <a:p>
            <a:r>
              <a:rPr lang="en-US" b="1" dirty="0"/>
              <a:t>Sharing Inspiration </a:t>
            </a:r>
          </a:p>
          <a:p>
            <a:r>
              <a:rPr lang="en-US" b="1" dirty="0"/>
              <a:t>Negotiating </a:t>
            </a:r>
          </a:p>
          <a:p>
            <a:r>
              <a:rPr lang="en-US" b="1" dirty="0"/>
              <a:t>Educating Others </a:t>
            </a:r>
          </a:p>
          <a:p>
            <a:r>
              <a:rPr lang="en-US" b="1" dirty="0"/>
              <a:t>Brainstorming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09228883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2697163" y="509588"/>
            <a:ext cx="4532312" cy="2549525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01398847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2697163" y="509588"/>
            <a:ext cx="4532312" cy="2549525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58750" indent="0">
              <a:buNone/>
            </a:pPr>
            <a:r>
              <a:rPr lang="en-US" b="1" dirty="0">
                <a:latin typeface="Calibri" panose="020F0502020204030204" pitchFamily="34" charset="0"/>
              </a:rPr>
              <a:t>Before</a:t>
            </a:r>
          </a:p>
          <a:p>
            <a:r>
              <a:rPr lang="en-US" b="1" dirty="0">
                <a:latin typeface="Calibri" panose="020F0502020204030204" pitchFamily="34" charset="0"/>
              </a:rPr>
              <a:t> Consider the Purpose/Audience</a:t>
            </a:r>
          </a:p>
          <a:p>
            <a:r>
              <a:rPr lang="en-US" b="1" dirty="0">
                <a:latin typeface="Calibri" panose="020F0502020204030204" pitchFamily="34" charset="0"/>
              </a:rPr>
              <a:t> Consider the Location and Format of the meeting</a:t>
            </a:r>
          </a:p>
          <a:p>
            <a:r>
              <a:rPr lang="en-US" b="1" dirty="0">
                <a:latin typeface="Calibri" panose="020F0502020204030204" pitchFamily="34" charset="0"/>
              </a:rPr>
              <a:t> Prepare the meeting agenda</a:t>
            </a:r>
          </a:p>
          <a:p>
            <a:r>
              <a:rPr lang="en-US" b="1" dirty="0">
                <a:latin typeface="Calibri" panose="020F0502020204030204" pitchFamily="34" charset="0"/>
              </a:rPr>
              <a:t> Send an invitation and agenda to all participants</a:t>
            </a:r>
          </a:p>
          <a:p>
            <a:r>
              <a:rPr lang="en-US" b="1" dirty="0">
                <a:latin typeface="Calibri" panose="020F0502020204030204" pitchFamily="34" charset="0"/>
              </a:rPr>
              <a:t> Provide essential information</a:t>
            </a:r>
          </a:p>
          <a:p>
            <a:r>
              <a:rPr lang="en-US" b="1" dirty="0">
                <a:latin typeface="Calibri" panose="020F0502020204030204" pitchFamily="34" charset="0"/>
              </a:rPr>
              <a:t> Participants prepare themselves for the meeting</a:t>
            </a:r>
          </a:p>
          <a:p>
            <a:endParaRPr lang="en-US" dirty="0"/>
          </a:p>
          <a:p>
            <a:pPr marL="158750" indent="0">
              <a:buNone/>
            </a:pPr>
            <a:r>
              <a:rPr lang="en-US" b="1" dirty="0">
                <a:solidFill>
                  <a:schemeClr val="tx1">
                    <a:lumMod val="95000"/>
                    <a:lumOff val="5000"/>
                  </a:schemeClr>
                </a:solidFill>
                <a:latin typeface="Calibri" pitchFamily="34" charset="0"/>
                <a:cs typeface="Calibri" pitchFamily="34" charset="0"/>
              </a:rPr>
              <a:t>During</a:t>
            </a:r>
          </a:p>
          <a:p>
            <a:r>
              <a:rPr lang="en-US" b="1" dirty="0">
                <a:solidFill>
                  <a:schemeClr val="tx1">
                    <a:lumMod val="95000"/>
                    <a:lumOff val="5000"/>
                  </a:schemeClr>
                </a:solidFill>
                <a:latin typeface="Calibri" pitchFamily="34" charset="0"/>
                <a:cs typeface="Calibri" pitchFamily="34" charset="0"/>
              </a:rPr>
              <a:t>Leadership</a:t>
            </a:r>
          </a:p>
          <a:p>
            <a:r>
              <a:rPr lang="en-US" b="1" dirty="0">
                <a:solidFill>
                  <a:schemeClr val="tx1">
                    <a:lumMod val="95000"/>
                    <a:lumOff val="5000"/>
                  </a:schemeClr>
                </a:solidFill>
                <a:latin typeface="Calibri" pitchFamily="34" charset="0"/>
                <a:cs typeface="Calibri" pitchFamily="34" charset="0"/>
              </a:rPr>
              <a:t>Encourage willingness to participate</a:t>
            </a:r>
          </a:p>
          <a:p>
            <a:r>
              <a:rPr lang="en-US" b="1" dirty="0">
                <a:solidFill>
                  <a:schemeClr val="tx1">
                    <a:lumMod val="95000"/>
                    <a:lumOff val="5000"/>
                  </a:schemeClr>
                </a:solidFill>
                <a:latin typeface="Calibri" pitchFamily="34" charset="0"/>
                <a:cs typeface="Calibri" pitchFamily="34" charset="0"/>
              </a:rPr>
              <a:t>Respect the audience</a:t>
            </a:r>
          </a:p>
          <a:p>
            <a:r>
              <a:rPr lang="en-US" b="1" dirty="0">
                <a:solidFill>
                  <a:schemeClr val="tx1">
                    <a:lumMod val="95000"/>
                    <a:lumOff val="5000"/>
                  </a:schemeClr>
                </a:solidFill>
                <a:latin typeface="Calibri" pitchFamily="34" charset="0"/>
                <a:cs typeface="Calibri" pitchFamily="34" charset="0"/>
              </a:rPr>
              <a:t>Stick to goals outlined in agenda</a:t>
            </a:r>
          </a:p>
          <a:p>
            <a:r>
              <a:rPr lang="en-US" b="1" dirty="0">
                <a:solidFill>
                  <a:schemeClr val="tx1">
                    <a:lumMod val="95000"/>
                    <a:lumOff val="5000"/>
                  </a:schemeClr>
                </a:solidFill>
                <a:latin typeface="Calibri" pitchFamily="34" charset="0"/>
                <a:cs typeface="Calibri" pitchFamily="34" charset="0"/>
              </a:rPr>
              <a:t>Keep your meeting moving</a:t>
            </a:r>
          </a:p>
          <a:p>
            <a:r>
              <a:rPr lang="en-US" b="1" dirty="0">
                <a:solidFill>
                  <a:schemeClr val="tx1">
                    <a:lumMod val="95000"/>
                    <a:lumOff val="5000"/>
                  </a:schemeClr>
                </a:solidFill>
                <a:latin typeface="Calibri" pitchFamily="34" charset="0"/>
                <a:cs typeface="Calibri" pitchFamily="34" charset="0"/>
              </a:rPr>
              <a:t>Time Management</a:t>
            </a:r>
          </a:p>
          <a:p>
            <a:r>
              <a:rPr lang="en-US" b="1" dirty="0">
                <a:solidFill>
                  <a:srgbClr val="FF0000"/>
                </a:solidFill>
                <a:latin typeface="Calibri" pitchFamily="34" charset="0"/>
                <a:cs typeface="Calibri" pitchFamily="34" charset="0"/>
              </a:rPr>
              <a:t>Set Actionable Items</a:t>
            </a:r>
          </a:p>
          <a:p>
            <a:endParaRPr lang="en-US" b="1" dirty="0">
              <a:solidFill>
                <a:srgbClr val="FF0000"/>
              </a:solidFill>
              <a:latin typeface="Calibri" pitchFamily="34" charset="0"/>
              <a:cs typeface="Calibri" pitchFamily="34" charset="0"/>
            </a:endParaRPr>
          </a:p>
          <a:p>
            <a:pPr marL="158750" indent="0">
              <a:buNone/>
            </a:pPr>
            <a:r>
              <a:rPr lang="en-US" b="1" dirty="0">
                <a:solidFill>
                  <a:srgbClr val="FF0000"/>
                </a:solidFill>
                <a:latin typeface="Calibri" pitchFamily="34" charset="0"/>
                <a:cs typeface="Calibri" pitchFamily="34" charset="0"/>
              </a:rPr>
              <a:t>After</a:t>
            </a:r>
          </a:p>
          <a:p>
            <a:pPr>
              <a:lnSpc>
                <a:spcPct val="120000"/>
              </a:lnSpc>
              <a:spcBef>
                <a:spcPts val="0"/>
              </a:spcBef>
            </a:pPr>
            <a:r>
              <a:rPr lang="en-US" b="1" dirty="0">
                <a:latin typeface="Calibri" panose="020F0502020204030204" pitchFamily="34" charset="0"/>
              </a:rPr>
              <a:t>Evaluate the meeting</a:t>
            </a:r>
          </a:p>
          <a:p>
            <a:pPr>
              <a:lnSpc>
                <a:spcPct val="120000"/>
              </a:lnSpc>
              <a:spcBef>
                <a:spcPts val="0"/>
              </a:spcBef>
            </a:pPr>
            <a:r>
              <a:rPr lang="en-US" b="1" dirty="0">
                <a:latin typeface="Calibri" panose="020F0502020204030204" pitchFamily="34" charset="0"/>
              </a:rPr>
              <a:t>Create a summary report/ minutes</a:t>
            </a:r>
          </a:p>
          <a:p>
            <a:pPr>
              <a:lnSpc>
                <a:spcPct val="120000"/>
              </a:lnSpc>
              <a:spcBef>
                <a:spcPts val="0"/>
              </a:spcBef>
            </a:pPr>
            <a:r>
              <a:rPr lang="en-US" b="1" dirty="0">
                <a:latin typeface="Calibri" panose="020F0502020204030204" pitchFamily="34" charset="0"/>
              </a:rPr>
              <a:t>Broadcast the summary report</a:t>
            </a:r>
          </a:p>
          <a:p>
            <a:pPr>
              <a:lnSpc>
                <a:spcPct val="120000"/>
              </a:lnSpc>
              <a:spcBef>
                <a:spcPts val="0"/>
              </a:spcBef>
            </a:pPr>
            <a:r>
              <a:rPr lang="en-US" b="1" dirty="0">
                <a:latin typeface="Calibri" panose="020F0502020204030204" pitchFamily="34" charset="0"/>
              </a:rPr>
              <a:t>Track assigned jobs/ tasks/ actions</a:t>
            </a:r>
          </a:p>
          <a:p>
            <a:pPr>
              <a:lnSpc>
                <a:spcPct val="120000"/>
              </a:lnSpc>
              <a:spcBef>
                <a:spcPts val="0"/>
              </a:spcBef>
            </a:pPr>
            <a:r>
              <a:rPr lang="en-US" b="1" dirty="0">
                <a:latin typeface="Calibri" panose="020F0502020204030204" pitchFamily="34" charset="0"/>
              </a:rPr>
              <a:t>Archive meeting documents</a:t>
            </a:r>
          </a:p>
          <a:p>
            <a:pPr marL="158750" indent="0">
              <a:buNone/>
            </a:pPr>
            <a:endParaRPr lang="en-US" b="1" dirty="0">
              <a:solidFill>
                <a:srgbClr val="FF0000"/>
              </a:solidFill>
              <a:latin typeface="Calibri" pitchFamily="34" charset="0"/>
              <a:cs typeface="Calibri" pitchFamily="34" charset="0"/>
            </a:endParaRP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84707790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2697163" y="509588"/>
            <a:ext cx="4532312" cy="2549525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58750" indent="0">
              <a:buNone/>
            </a:pPr>
            <a:r>
              <a:rPr lang="en-US" b="1" dirty="0">
                <a:latin typeface="Calibri" panose="020F0502020204030204" pitchFamily="34" charset="0"/>
              </a:rPr>
              <a:t>Before</a:t>
            </a:r>
          </a:p>
          <a:p>
            <a:r>
              <a:rPr lang="en-US" b="1" dirty="0">
                <a:latin typeface="Calibri" panose="020F0502020204030204" pitchFamily="34" charset="0"/>
              </a:rPr>
              <a:t> Consider the Purpose/Audience</a:t>
            </a:r>
          </a:p>
          <a:p>
            <a:r>
              <a:rPr lang="en-US" b="1" dirty="0">
                <a:latin typeface="Calibri" panose="020F0502020204030204" pitchFamily="34" charset="0"/>
              </a:rPr>
              <a:t> Consider the Location and Format of the meeting</a:t>
            </a:r>
          </a:p>
          <a:p>
            <a:r>
              <a:rPr lang="en-US" b="1" dirty="0">
                <a:latin typeface="Calibri" panose="020F0502020204030204" pitchFamily="34" charset="0"/>
              </a:rPr>
              <a:t> Prepare the meeting agenda</a:t>
            </a:r>
          </a:p>
          <a:p>
            <a:r>
              <a:rPr lang="en-US" b="1" dirty="0">
                <a:latin typeface="Calibri" panose="020F0502020204030204" pitchFamily="34" charset="0"/>
              </a:rPr>
              <a:t> Send an invitation and agenda to all participants</a:t>
            </a:r>
          </a:p>
          <a:p>
            <a:r>
              <a:rPr lang="en-US" b="1" dirty="0">
                <a:latin typeface="Calibri" panose="020F0502020204030204" pitchFamily="34" charset="0"/>
              </a:rPr>
              <a:t> Provide essential information</a:t>
            </a:r>
          </a:p>
          <a:p>
            <a:r>
              <a:rPr lang="en-US" b="1" dirty="0">
                <a:latin typeface="Calibri" panose="020F0502020204030204" pitchFamily="34" charset="0"/>
              </a:rPr>
              <a:t> Participants prepare themselves for the meeting</a:t>
            </a:r>
          </a:p>
          <a:p>
            <a:endParaRPr lang="en-US" dirty="0"/>
          </a:p>
          <a:p>
            <a:pPr marL="158750" indent="0">
              <a:buNone/>
            </a:pPr>
            <a:r>
              <a:rPr lang="en-US" b="1" dirty="0">
                <a:solidFill>
                  <a:schemeClr val="tx1">
                    <a:lumMod val="95000"/>
                    <a:lumOff val="5000"/>
                  </a:schemeClr>
                </a:solidFill>
                <a:latin typeface="Calibri" pitchFamily="34" charset="0"/>
                <a:cs typeface="Calibri" pitchFamily="34" charset="0"/>
              </a:rPr>
              <a:t>During</a:t>
            </a:r>
          </a:p>
          <a:p>
            <a:r>
              <a:rPr lang="en-US" b="1" dirty="0">
                <a:solidFill>
                  <a:schemeClr val="tx1">
                    <a:lumMod val="95000"/>
                    <a:lumOff val="5000"/>
                  </a:schemeClr>
                </a:solidFill>
                <a:latin typeface="Calibri" pitchFamily="34" charset="0"/>
                <a:cs typeface="Calibri" pitchFamily="34" charset="0"/>
              </a:rPr>
              <a:t>Leadership</a:t>
            </a:r>
          </a:p>
          <a:p>
            <a:r>
              <a:rPr lang="en-US" b="1" dirty="0">
                <a:solidFill>
                  <a:schemeClr val="tx1">
                    <a:lumMod val="95000"/>
                    <a:lumOff val="5000"/>
                  </a:schemeClr>
                </a:solidFill>
                <a:latin typeface="Calibri" pitchFamily="34" charset="0"/>
                <a:cs typeface="Calibri" pitchFamily="34" charset="0"/>
              </a:rPr>
              <a:t>Encourage willingness to participate</a:t>
            </a:r>
          </a:p>
          <a:p>
            <a:r>
              <a:rPr lang="en-US" b="1" dirty="0">
                <a:solidFill>
                  <a:schemeClr val="tx1">
                    <a:lumMod val="95000"/>
                    <a:lumOff val="5000"/>
                  </a:schemeClr>
                </a:solidFill>
                <a:latin typeface="Calibri" pitchFamily="34" charset="0"/>
                <a:cs typeface="Calibri" pitchFamily="34" charset="0"/>
              </a:rPr>
              <a:t>Respect the audience</a:t>
            </a:r>
          </a:p>
          <a:p>
            <a:r>
              <a:rPr lang="en-US" b="1" dirty="0">
                <a:solidFill>
                  <a:schemeClr val="tx1">
                    <a:lumMod val="95000"/>
                    <a:lumOff val="5000"/>
                  </a:schemeClr>
                </a:solidFill>
                <a:latin typeface="Calibri" pitchFamily="34" charset="0"/>
                <a:cs typeface="Calibri" pitchFamily="34" charset="0"/>
              </a:rPr>
              <a:t>Stick to goals outlined in agenda</a:t>
            </a:r>
          </a:p>
          <a:p>
            <a:r>
              <a:rPr lang="en-US" b="1" dirty="0">
                <a:solidFill>
                  <a:schemeClr val="tx1">
                    <a:lumMod val="95000"/>
                    <a:lumOff val="5000"/>
                  </a:schemeClr>
                </a:solidFill>
                <a:latin typeface="Calibri" pitchFamily="34" charset="0"/>
                <a:cs typeface="Calibri" pitchFamily="34" charset="0"/>
              </a:rPr>
              <a:t>Keep your meeting moving</a:t>
            </a:r>
          </a:p>
          <a:p>
            <a:r>
              <a:rPr lang="en-US" b="1" dirty="0">
                <a:solidFill>
                  <a:schemeClr val="tx1">
                    <a:lumMod val="95000"/>
                    <a:lumOff val="5000"/>
                  </a:schemeClr>
                </a:solidFill>
                <a:latin typeface="Calibri" pitchFamily="34" charset="0"/>
                <a:cs typeface="Calibri" pitchFamily="34" charset="0"/>
              </a:rPr>
              <a:t>Time Management</a:t>
            </a:r>
          </a:p>
          <a:p>
            <a:r>
              <a:rPr lang="en-US" b="1" dirty="0">
                <a:solidFill>
                  <a:srgbClr val="FF0000"/>
                </a:solidFill>
                <a:latin typeface="Calibri" pitchFamily="34" charset="0"/>
                <a:cs typeface="Calibri" pitchFamily="34" charset="0"/>
              </a:rPr>
              <a:t>Set Actionable Items</a:t>
            </a:r>
          </a:p>
          <a:p>
            <a:endParaRPr lang="en-US" b="1" dirty="0">
              <a:solidFill>
                <a:srgbClr val="FF0000"/>
              </a:solidFill>
              <a:latin typeface="Calibri" pitchFamily="34" charset="0"/>
              <a:cs typeface="Calibri" pitchFamily="34" charset="0"/>
            </a:endParaRPr>
          </a:p>
          <a:p>
            <a:pPr marL="158750" indent="0">
              <a:buNone/>
            </a:pPr>
            <a:r>
              <a:rPr lang="en-US" b="1" dirty="0">
                <a:solidFill>
                  <a:srgbClr val="FF0000"/>
                </a:solidFill>
                <a:latin typeface="Calibri" pitchFamily="34" charset="0"/>
                <a:cs typeface="Calibri" pitchFamily="34" charset="0"/>
              </a:rPr>
              <a:t>After</a:t>
            </a:r>
          </a:p>
          <a:p>
            <a:pPr>
              <a:lnSpc>
                <a:spcPct val="120000"/>
              </a:lnSpc>
              <a:spcBef>
                <a:spcPts val="0"/>
              </a:spcBef>
            </a:pPr>
            <a:r>
              <a:rPr lang="en-US" b="1" dirty="0">
                <a:latin typeface="Calibri" panose="020F0502020204030204" pitchFamily="34" charset="0"/>
              </a:rPr>
              <a:t>Evaluate the meeting</a:t>
            </a:r>
          </a:p>
          <a:p>
            <a:pPr>
              <a:lnSpc>
                <a:spcPct val="120000"/>
              </a:lnSpc>
              <a:spcBef>
                <a:spcPts val="0"/>
              </a:spcBef>
            </a:pPr>
            <a:r>
              <a:rPr lang="en-US" b="1" dirty="0">
                <a:latin typeface="Calibri" panose="020F0502020204030204" pitchFamily="34" charset="0"/>
              </a:rPr>
              <a:t>Create a summary report/ minutes</a:t>
            </a:r>
          </a:p>
          <a:p>
            <a:pPr>
              <a:lnSpc>
                <a:spcPct val="120000"/>
              </a:lnSpc>
              <a:spcBef>
                <a:spcPts val="0"/>
              </a:spcBef>
            </a:pPr>
            <a:r>
              <a:rPr lang="en-US" b="1" dirty="0">
                <a:latin typeface="Calibri" panose="020F0502020204030204" pitchFamily="34" charset="0"/>
              </a:rPr>
              <a:t>Broadcast the summary report</a:t>
            </a:r>
          </a:p>
          <a:p>
            <a:pPr>
              <a:lnSpc>
                <a:spcPct val="120000"/>
              </a:lnSpc>
              <a:spcBef>
                <a:spcPts val="0"/>
              </a:spcBef>
            </a:pPr>
            <a:r>
              <a:rPr lang="en-US" b="1" dirty="0">
                <a:latin typeface="Calibri" panose="020F0502020204030204" pitchFamily="34" charset="0"/>
              </a:rPr>
              <a:t>Track assigned jobs/ tasks/ actions</a:t>
            </a:r>
          </a:p>
          <a:p>
            <a:pPr>
              <a:lnSpc>
                <a:spcPct val="120000"/>
              </a:lnSpc>
              <a:spcBef>
                <a:spcPts val="0"/>
              </a:spcBef>
            </a:pPr>
            <a:r>
              <a:rPr lang="en-US" b="1" dirty="0">
                <a:latin typeface="Calibri" panose="020F0502020204030204" pitchFamily="34" charset="0"/>
              </a:rPr>
              <a:t>Archive meeting documents</a:t>
            </a:r>
          </a:p>
          <a:p>
            <a:pPr marL="158750" indent="0">
              <a:buNone/>
            </a:pPr>
            <a:endParaRPr lang="en-US" b="1" dirty="0">
              <a:solidFill>
                <a:srgbClr val="FF0000"/>
              </a:solidFill>
              <a:latin typeface="Calibri" pitchFamily="34" charset="0"/>
              <a:cs typeface="Calibri" pitchFamily="34" charset="0"/>
            </a:endParaRPr>
          </a:p>
          <a:p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261427130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2697163" y="509588"/>
            <a:ext cx="4532312" cy="2549525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64441218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9" name="Google Shape;279;p25:notes"/>
          <p:cNvSpPr txBox="1">
            <a:spLocks noGrp="1"/>
          </p:cNvSpPr>
          <p:nvPr>
            <p:ph type="body" idx="1"/>
          </p:nvPr>
        </p:nvSpPr>
        <p:spPr>
          <a:xfrm>
            <a:off x="685801" y="4787125"/>
            <a:ext cx="5486400" cy="39167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850" tIns="45900" rIns="91850" bIns="459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0" name="Google Shape;280;p25:notes"/>
          <p:cNvSpPr>
            <a:spLocks noGrp="1" noRot="1" noChangeAspect="1"/>
          </p:cNvSpPr>
          <p:nvPr>
            <p:ph type="sldImg" idx="2"/>
          </p:nvPr>
        </p:nvSpPr>
        <p:spPr>
          <a:xfrm>
            <a:off x="446088" y="1244600"/>
            <a:ext cx="5965825" cy="33559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2616774142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2697163" y="509588"/>
            <a:ext cx="4532312" cy="2549525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66639654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2697163" y="509588"/>
            <a:ext cx="4532312" cy="2549525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9803986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3F05521-769A-596B-E0A6-32D50A20C5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EAF9F3A-DDDD-14B2-A8CE-8B84938942E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2697163" y="509588"/>
            <a:ext cx="4532312" cy="2549525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A704724-CE6C-F349-ACCE-42D34497291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3379966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482C78F-FBCA-772C-CDD3-7BC9D73E01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FC7F6C3-5C94-18FA-4C36-0C983E917AF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2697163" y="509588"/>
            <a:ext cx="4532312" cy="2549525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DDBD8BC-F68C-C9BA-2A45-D7E59B2ADFC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56020327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Google Shape;232;p24:notes"/>
          <p:cNvSpPr txBox="1">
            <a:spLocks noGrp="1"/>
          </p:cNvSpPr>
          <p:nvPr>
            <p:ph type="body" idx="1"/>
          </p:nvPr>
        </p:nvSpPr>
        <p:spPr>
          <a:xfrm>
            <a:off x="992650" y="3228875"/>
            <a:ext cx="7941300" cy="305895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3" name="Google Shape;233;p24:notes"/>
          <p:cNvSpPr>
            <a:spLocks noGrp="1" noRot="1" noChangeAspect="1"/>
          </p:cNvSpPr>
          <p:nvPr>
            <p:ph type="sldImg" idx="2"/>
          </p:nvPr>
        </p:nvSpPr>
        <p:spPr>
          <a:xfrm>
            <a:off x="2697163" y="509588"/>
            <a:ext cx="4532312" cy="254952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27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27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0" name="Google Shape;20;p27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" name="Google Shape;21;p27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2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 Slide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6"/>
          <p:cNvSpPr txBox="1"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" name="Google Shape;13;p26"/>
          <p:cNvSpPr txBox="1"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14" name="Google Shape;14;p26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" name="Google Shape;15;p26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6" name="Google Shape;16;p2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94203803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297461-3A3C-71AD-4015-585A75FD36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1886196-1A03-9480-2AA9-908F48F5D41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B21A2A4-AEDF-63B8-78A9-3D743C300E6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079608E-15E5-D202-EB4F-6B52699896D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D6D3683-D150-49C8-49AE-243235A4E16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95218AF-F72F-63A4-5F9B-E04C0C3E44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D5BFA2-9EE3-4FAC-87A2-91E50F8B9D9C}" type="datetimeFigureOut">
              <a:rPr lang="en-US" smtClean="0"/>
              <a:t>9/7/2026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826B635-9F0E-0044-0773-90D41A3AA5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C005B65-7D17-E3AB-2154-108F1D5DAC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0FAB58-BE72-4428-8ECE-68AD1C6A7C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30036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25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" name="Google Shape;7;p25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25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" name="Google Shape;9;p25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" name="Google Shape;10;p25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50" r:id="rId1"/>
    <p:sldLayoutId id="2147483660" r:id="rId2"/>
    <p:sldLayoutId id="2147483661" r:id="rId3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png"/><Relationship Id="rId3" Type="http://schemas.openxmlformats.org/officeDocument/2006/relationships/image" Target="../media/image9.png"/><Relationship Id="rId7" Type="http://schemas.openxmlformats.org/officeDocument/2006/relationships/image" Target="../media/image1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.png"/><Relationship Id="rId3" Type="http://schemas.openxmlformats.org/officeDocument/2006/relationships/image" Target="../media/image15.png"/><Relationship Id="rId7" Type="http://schemas.openxmlformats.org/officeDocument/2006/relationships/image" Target="../media/image19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8.png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26.png"/><Relationship Id="rId3" Type="http://schemas.openxmlformats.org/officeDocument/2006/relationships/image" Target="../media/image21.png"/><Relationship Id="rId7" Type="http://schemas.openxmlformats.org/officeDocument/2006/relationships/image" Target="../media/image2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4.png"/><Relationship Id="rId5" Type="http://schemas.openxmlformats.org/officeDocument/2006/relationships/image" Target="../media/image23.png"/><Relationship Id="rId4" Type="http://schemas.openxmlformats.org/officeDocument/2006/relationships/image" Target="../media/image22.png"/><Relationship Id="rId9" Type="http://schemas.openxmlformats.org/officeDocument/2006/relationships/image" Target="../media/image27.png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7" Type="http://schemas.openxmlformats.org/officeDocument/2006/relationships/image" Target="../media/image33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2.png"/><Relationship Id="rId5" Type="http://schemas.openxmlformats.org/officeDocument/2006/relationships/image" Target="../media/image31.png"/><Relationship Id="rId4" Type="http://schemas.openxmlformats.org/officeDocument/2006/relationships/image" Target="../media/image30.png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7.png"/><Relationship Id="rId4" Type="http://schemas.openxmlformats.org/officeDocument/2006/relationships/image" Target="../media/image36.png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1.png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4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png"/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48.png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"/>
          <p:cNvSpPr txBox="1">
            <a:spLocks noGrp="1"/>
          </p:cNvSpPr>
          <p:nvPr>
            <p:ph type="ctrTitle"/>
          </p:nvPr>
        </p:nvSpPr>
        <p:spPr>
          <a:xfrm>
            <a:off x="0" y="1122364"/>
            <a:ext cx="12192000" cy="13160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6000"/>
              <a:buFont typeface="Calibri"/>
              <a:buNone/>
            </a:pPr>
            <a:r>
              <a:rPr lang="en-US" sz="6000" b="1" dirty="0">
                <a:solidFill>
                  <a:schemeClr val="accent5"/>
                </a:solidFill>
                <a:latin typeface="Calibri"/>
                <a:ea typeface="Calibri"/>
                <a:cs typeface="Calibri"/>
                <a:sym typeface="Calibri"/>
              </a:rPr>
              <a:t>ITLG311 - Business Communication</a:t>
            </a:r>
            <a:endParaRPr dirty="0"/>
          </a:p>
        </p:txBody>
      </p:sp>
      <p:sp>
        <p:nvSpPr>
          <p:cNvPr id="85" name="Google Shape;85;p1"/>
          <p:cNvSpPr txBox="1">
            <a:spLocks noGrp="1"/>
          </p:cNvSpPr>
          <p:nvPr>
            <p:ph type="subTitle" idx="1"/>
          </p:nvPr>
        </p:nvSpPr>
        <p:spPr>
          <a:xfrm>
            <a:off x="0" y="3353679"/>
            <a:ext cx="12192000" cy="24946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US" sz="2800" b="1" dirty="0"/>
              <a:t>Faculty of ICT, </a:t>
            </a:r>
            <a:r>
              <a:rPr lang="en-US" sz="2800" b="1" dirty="0" err="1"/>
              <a:t>Mahidol</a:t>
            </a:r>
            <a:r>
              <a:rPr lang="en-US" sz="2800" b="1" dirty="0"/>
              <a:t> University</a:t>
            </a:r>
            <a:endParaRPr dirty="0"/>
          </a:p>
          <a:p>
            <a:pPr marL="0" lvl="0" indent="0" algn="ctr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US" sz="2800" b="1" dirty="0"/>
              <a:t>Semester 1, 2026/2027</a:t>
            </a:r>
          </a:p>
          <a:p>
            <a:pPr marL="0" lvl="0" indent="0" algn="ctr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endParaRPr dirty="0"/>
          </a:p>
          <a:p>
            <a:pPr marL="0" lvl="0" indent="0" algn="ctr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US" sz="2800" b="1" dirty="0">
                <a:solidFill>
                  <a:schemeClr val="tx1"/>
                </a:solidFill>
              </a:rPr>
              <a:t>Week 6: Forming a Consultancy and Conducting a Formal Business Meeting</a:t>
            </a:r>
            <a:endParaRPr sz="2800" b="1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9418319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chemeClr val="accent5"/>
                </a:solidFill>
              </a:rPr>
              <a:t>Previously: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"/>
          </p:nvPr>
        </p:nvSpPr>
        <p:spPr>
          <a:xfrm>
            <a:off x="838200" y="1825624"/>
            <a:ext cx="11197856" cy="4872887"/>
          </a:xfrm>
        </p:spPr>
        <p:txBody>
          <a:bodyPr>
            <a:normAutofit/>
          </a:bodyPr>
          <a:lstStyle/>
          <a:p>
            <a:pPr marL="11430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2400" b="1" dirty="0">
                <a:solidFill>
                  <a:schemeClr val="accent5"/>
                </a:solidFill>
              </a:rPr>
              <a:t>Getting Started: What Is Business Writing?</a:t>
            </a:r>
            <a:endParaRPr lang="en-US" sz="2400" b="1" dirty="0"/>
          </a:p>
          <a:p>
            <a:pPr marL="11430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2400" b="1" dirty="0">
                <a:solidFill>
                  <a:schemeClr val="accent5"/>
                </a:solidFill>
              </a:rPr>
              <a:t>Digital Communications</a:t>
            </a:r>
          </a:p>
          <a:p>
            <a:pPr marL="114300" indent="0">
              <a:lnSpc>
                <a:spcPct val="100000"/>
              </a:lnSpc>
              <a:spcBef>
                <a:spcPts val="0"/>
              </a:spcBef>
              <a:buNone/>
            </a:pPr>
            <a:endParaRPr lang="en-US" sz="2400" b="1" dirty="0">
              <a:solidFill>
                <a:schemeClr val="tx1"/>
              </a:solidFill>
            </a:endParaRPr>
          </a:p>
          <a:p>
            <a:pPr marL="11430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2400" b="1" dirty="0">
                <a:solidFill>
                  <a:schemeClr val="tx1"/>
                </a:solidFill>
              </a:rPr>
              <a:t>Now you should know the main Business Communication Fundamentals</a:t>
            </a:r>
          </a:p>
          <a:p>
            <a:pPr marL="114300" indent="0">
              <a:lnSpc>
                <a:spcPct val="100000"/>
              </a:lnSpc>
              <a:spcBef>
                <a:spcPts val="0"/>
              </a:spcBef>
              <a:buNone/>
            </a:pPr>
            <a:endParaRPr lang="en-US" sz="2400" b="1" dirty="0">
              <a:solidFill>
                <a:schemeClr val="tx1"/>
              </a:solidFill>
            </a:endParaRPr>
          </a:p>
          <a:p>
            <a:pPr marL="11430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2400" b="1" dirty="0">
                <a:solidFill>
                  <a:schemeClr val="tx1"/>
                </a:solidFill>
              </a:rPr>
              <a:t>Now it is time to apply them as Business Communication Consultants</a:t>
            </a:r>
          </a:p>
          <a:p>
            <a:pPr marL="114300" indent="0">
              <a:lnSpc>
                <a:spcPct val="100000"/>
              </a:lnSpc>
              <a:spcBef>
                <a:spcPts val="0"/>
              </a:spcBef>
              <a:buNone/>
            </a:pPr>
            <a:endParaRPr lang="en-US" sz="2400" b="1" dirty="0">
              <a:solidFill>
                <a:schemeClr val="accent5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8669029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chemeClr val="accent5"/>
                </a:solidFill>
              </a:rPr>
              <a:t>This Week: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4"/>
            <a:ext cx="10800806" cy="5032376"/>
          </a:xfrm>
        </p:spPr>
        <p:txBody>
          <a:bodyPr>
            <a:noAutofit/>
          </a:bodyPr>
          <a:lstStyle/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2400" b="1" dirty="0"/>
              <a:t>Objectives:</a:t>
            </a:r>
          </a:p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n-US" sz="2400" dirty="0"/>
              <a:t>Understand the concept of Business Consultation </a:t>
            </a:r>
          </a:p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n-US" sz="2400" dirty="0"/>
              <a:t>Identify essential practices for effective Group Meetings &amp; Meeting Management</a:t>
            </a:r>
          </a:p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n-US" sz="2400" dirty="0"/>
              <a:t>Get started: Consultancy Work-group Setup </a:t>
            </a:r>
            <a:endParaRPr lang="en-GB" sz="24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endParaRPr lang="en-US" sz="1200" dirty="0"/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2400" b="1" dirty="0"/>
              <a:t>1. Theory of Consultation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endParaRPr lang="en-US" sz="1200" b="1" dirty="0"/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2400" b="1" dirty="0"/>
              <a:t>2. Understanding how Business Meetings function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endParaRPr lang="en-US" sz="1200" dirty="0"/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2400" b="1" dirty="0"/>
              <a:t>3. Consultancy Role Play Instructions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endParaRPr lang="en-US" sz="1200" b="1" dirty="0"/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2400" b="1" dirty="0"/>
              <a:t>4. Assigning Groups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endParaRPr lang="en-US" sz="1200" b="1" dirty="0"/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2400" b="1" dirty="0"/>
              <a:t>5. Getting Started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endParaRPr lang="en-US" sz="2400" dirty="0"/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202875375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chemeClr val="accent5"/>
                </a:solidFill>
              </a:rPr>
              <a:t>Resources</a:t>
            </a:r>
            <a:endParaRPr lang="en-GB" b="1" dirty="0">
              <a:solidFill>
                <a:schemeClr val="accent5"/>
              </a:solidFill>
            </a:endParaRP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1036643" cy="4667250"/>
          </a:xfrm>
        </p:spPr>
        <p:txBody>
          <a:bodyPr>
            <a:normAutofit/>
          </a:bodyPr>
          <a:lstStyle/>
          <a:p>
            <a:pPr marL="114300" indent="0">
              <a:lnSpc>
                <a:spcPct val="100000"/>
              </a:lnSpc>
              <a:buNone/>
            </a:pPr>
            <a:endParaRPr lang="en-GB" sz="2400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BB0BE40D-DBF9-0E48-1844-65BC0D5DF00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75021" y="1825624"/>
            <a:ext cx="6115617" cy="3883198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84EB4732-ACDD-2147-C5FF-7F7EB4DA4B8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8200" y="1825624"/>
            <a:ext cx="3759200" cy="46672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937851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p19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4400"/>
              <a:buFont typeface="Calibri"/>
              <a:buNone/>
            </a:pPr>
            <a:r>
              <a:rPr lang="en-US" b="1" dirty="0">
                <a:solidFill>
                  <a:schemeClr val="accent5"/>
                </a:solidFill>
                <a:latin typeface="Calibri"/>
                <a:ea typeface="Calibri"/>
                <a:cs typeface="Calibri"/>
                <a:sym typeface="Calibri"/>
              </a:rPr>
              <a:t>Additional Vocabulary for Today</a:t>
            </a:r>
            <a:endParaRPr dirty="0"/>
          </a:p>
        </p:txBody>
      </p:sp>
      <p:sp>
        <p:nvSpPr>
          <p:cNvPr id="209" name="Google Shape;209;p19"/>
          <p:cNvSpPr txBox="1">
            <a:spLocks noGrp="1"/>
          </p:cNvSpPr>
          <p:nvPr>
            <p:ph type="body" idx="1"/>
          </p:nvPr>
        </p:nvSpPr>
        <p:spPr>
          <a:xfrm>
            <a:off x="838200" y="1825624"/>
            <a:ext cx="10515600" cy="469594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 sz="2400" b="1" dirty="0"/>
              <a:t>Take a moment, try to define the following words:</a:t>
            </a:r>
            <a:endParaRPr dirty="0"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</a:pPr>
            <a:endParaRPr sz="1200" b="1" dirty="0"/>
          </a:p>
          <a:p>
            <a:pPr marL="22860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 sz="2400" dirty="0"/>
              <a:t>Consult (v)</a:t>
            </a:r>
            <a:endParaRPr sz="2400" dirty="0"/>
          </a:p>
          <a:p>
            <a:pPr marL="22860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 sz="2400" dirty="0"/>
              <a:t>Consultant (n)</a:t>
            </a:r>
            <a:endParaRPr dirty="0"/>
          </a:p>
          <a:p>
            <a:pPr marL="22860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 sz="2400" dirty="0"/>
              <a:t>Consultancy (n)</a:t>
            </a:r>
            <a:endParaRPr dirty="0"/>
          </a:p>
          <a:p>
            <a:pPr marL="22860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 sz="2400" dirty="0"/>
              <a:t>Consultation (n)</a:t>
            </a:r>
            <a:endParaRPr sz="2400" dirty="0"/>
          </a:p>
          <a:p>
            <a:pPr marL="22860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 sz="2400" dirty="0"/>
              <a:t>Advice (n)</a:t>
            </a:r>
            <a:endParaRPr dirty="0"/>
          </a:p>
          <a:p>
            <a:pPr marL="22860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 sz="2400" dirty="0"/>
              <a:t>Advise (v)</a:t>
            </a:r>
            <a:endParaRPr dirty="0"/>
          </a:p>
          <a:p>
            <a:pPr marL="22860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 sz="2400" dirty="0"/>
              <a:t>Teamwork (n)</a:t>
            </a:r>
            <a:endParaRPr dirty="0"/>
          </a:p>
          <a:p>
            <a:pPr marL="22860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 sz="2400" dirty="0"/>
              <a:t>Collaborate (v)</a:t>
            </a:r>
            <a:endParaRPr dirty="0"/>
          </a:p>
          <a:p>
            <a:pPr marL="22860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 sz="2400" dirty="0"/>
              <a:t>Collaboration (n)</a:t>
            </a:r>
            <a:endParaRPr dirty="0"/>
          </a:p>
          <a:p>
            <a:pPr marL="22860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 sz="2400" dirty="0"/>
              <a:t>Collaborative (</a:t>
            </a:r>
            <a:r>
              <a:rPr lang="en-US" sz="2400" dirty="0" err="1"/>
              <a:t>adj</a:t>
            </a:r>
            <a:r>
              <a:rPr lang="en-US" sz="2400" dirty="0"/>
              <a:t>)</a:t>
            </a:r>
            <a:endParaRPr dirty="0"/>
          </a:p>
          <a:p>
            <a:pPr marL="22860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 sz="2400" dirty="0"/>
              <a:t>Collaboratively (</a:t>
            </a:r>
            <a:r>
              <a:rPr lang="en-US" sz="2400" dirty="0" err="1"/>
              <a:t>adv</a:t>
            </a:r>
            <a:r>
              <a:rPr lang="en-US" sz="2400" dirty="0"/>
              <a:t>)</a:t>
            </a:r>
            <a:endParaRPr dirty="0"/>
          </a:p>
          <a:p>
            <a:pPr marL="228600" lvl="0" indent="-76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endParaRPr sz="2400" dirty="0"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endParaRPr sz="2400" dirty="0"/>
          </a:p>
        </p:txBody>
      </p:sp>
    </p:spTree>
    <p:extLst>
      <p:ext uri="{BB962C8B-B14F-4D97-AF65-F5344CB8AC3E}">
        <p14:creationId xmlns:p14="http://schemas.microsoft.com/office/powerpoint/2010/main" val="332840749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9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9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9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9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9" grpId="0" build="p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p20"/>
          <p:cNvSpPr txBox="1"/>
          <p:nvPr/>
        </p:nvSpPr>
        <p:spPr>
          <a:xfrm>
            <a:off x="831850" y="365127"/>
            <a:ext cx="851535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4400"/>
              <a:buFont typeface="Calibri"/>
              <a:buNone/>
            </a:pPr>
            <a:r>
              <a:rPr lang="en-US" sz="4400" b="1">
                <a:solidFill>
                  <a:schemeClr val="accent5"/>
                </a:solidFill>
                <a:latin typeface="Calibri"/>
                <a:ea typeface="Calibri"/>
                <a:cs typeface="Calibri"/>
                <a:sym typeface="Calibri"/>
              </a:rPr>
              <a:t>Vocab:</a:t>
            </a:r>
            <a:endParaRPr sz="4400" b="1">
              <a:solidFill>
                <a:schemeClr val="accent5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15" name="Google Shape;215;p20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87222" y="3289991"/>
            <a:ext cx="3363606" cy="1394666"/>
          </a:xfrm>
          <a:prstGeom prst="rect">
            <a:avLst/>
          </a:prstGeom>
          <a:noFill/>
          <a:ln>
            <a:noFill/>
          </a:ln>
        </p:spPr>
      </p:pic>
      <p:pic>
        <p:nvPicPr>
          <p:cNvPr id="216" name="Google Shape;216;p20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35463" y="2451338"/>
            <a:ext cx="2044668" cy="769906"/>
          </a:xfrm>
          <a:prstGeom prst="rect">
            <a:avLst/>
          </a:prstGeom>
          <a:noFill/>
          <a:ln>
            <a:noFill/>
          </a:ln>
        </p:spPr>
      </p:pic>
      <p:pic>
        <p:nvPicPr>
          <p:cNvPr id="217" name="Google Shape;217;p20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98954" y="4753404"/>
            <a:ext cx="4373318" cy="1968940"/>
          </a:xfrm>
          <a:prstGeom prst="rect">
            <a:avLst/>
          </a:prstGeom>
          <a:noFill/>
          <a:ln>
            <a:noFill/>
          </a:ln>
        </p:spPr>
      </p:pic>
      <p:pic>
        <p:nvPicPr>
          <p:cNvPr id="218" name="Google Shape;218;p20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5127626" y="2523853"/>
            <a:ext cx="3887394" cy="2246611"/>
          </a:xfrm>
          <a:prstGeom prst="rect">
            <a:avLst/>
          </a:prstGeom>
          <a:noFill/>
          <a:ln>
            <a:noFill/>
          </a:ln>
        </p:spPr>
      </p:pic>
      <p:pic>
        <p:nvPicPr>
          <p:cNvPr id="219" name="Google Shape;219;p20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5127626" y="5000626"/>
            <a:ext cx="4219575" cy="18573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20" name="Google Shape;220;p20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-1209675" y="1338091"/>
            <a:ext cx="13401675" cy="1152525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95372785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p21"/>
          <p:cNvSpPr txBox="1"/>
          <p:nvPr/>
        </p:nvSpPr>
        <p:spPr>
          <a:xfrm>
            <a:off x="831850" y="365127"/>
            <a:ext cx="851535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4400"/>
              <a:buFont typeface="Calibri"/>
              <a:buNone/>
            </a:pPr>
            <a:r>
              <a:rPr lang="en-US" sz="4400" b="1">
                <a:solidFill>
                  <a:schemeClr val="accent5"/>
                </a:solidFill>
                <a:latin typeface="Calibri"/>
                <a:ea typeface="Calibri"/>
                <a:cs typeface="Calibri"/>
                <a:sym typeface="Calibri"/>
              </a:rPr>
              <a:t>Vocab:</a:t>
            </a:r>
            <a:endParaRPr sz="4400" b="1">
              <a:solidFill>
                <a:schemeClr val="accent5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26" name="Google Shape;226;p2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28333" y="2586397"/>
            <a:ext cx="2348080" cy="1399960"/>
          </a:xfrm>
          <a:prstGeom prst="rect">
            <a:avLst/>
          </a:prstGeom>
          <a:noFill/>
          <a:ln>
            <a:noFill/>
          </a:ln>
        </p:spPr>
      </p:pic>
      <p:pic>
        <p:nvPicPr>
          <p:cNvPr id="227" name="Google Shape;227;p21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818788" y="4145083"/>
            <a:ext cx="4941932" cy="2340210"/>
          </a:xfrm>
          <a:prstGeom prst="rect">
            <a:avLst/>
          </a:prstGeom>
          <a:noFill/>
          <a:ln>
            <a:noFill/>
          </a:ln>
        </p:spPr>
      </p:pic>
      <p:pic>
        <p:nvPicPr>
          <p:cNvPr id="228" name="Google Shape;228;p21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642340" y="2603649"/>
            <a:ext cx="2155315" cy="1173535"/>
          </a:xfrm>
          <a:prstGeom prst="rect">
            <a:avLst/>
          </a:prstGeom>
          <a:noFill/>
          <a:ln>
            <a:noFill/>
          </a:ln>
        </p:spPr>
      </p:pic>
      <p:pic>
        <p:nvPicPr>
          <p:cNvPr id="229" name="Google Shape;229;p21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6607836" y="4211081"/>
            <a:ext cx="5214586" cy="2159436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30" name="Google Shape;230;p21"/>
          <p:cNvGrpSpPr/>
          <p:nvPr/>
        </p:nvGrpSpPr>
        <p:grpSpPr>
          <a:xfrm>
            <a:off x="-1228995" y="1338621"/>
            <a:ext cx="13649325" cy="1247775"/>
            <a:chOff x="-1228995" y="1338621"/>
            <a:chExt cx="13649325" cy="1247775"/>
          </a:xfrm>
        </p:grpSpPr>
        <p:pic>
          <p:nvPicPr>
            <p:cNvPr id="231" name="Google Shape;231;p21"/>
            <p:cNvPicPr preferRelativeResize="0"/>
            <p:nvPr/>
          </p:nvPicPr>
          <p:blipFill rotWithShape="1">
            <a:blip r:embed="rId7">
              <a:alphaModFix/>
            </a:blip>
            <a:srcRect/>
            <a:stretch/>
          </p:blipFill>
          <p:spPr>
            <a:xfrm>
              <a:off x="-1228995" y="1338621"/>
              <a:ext cx="13649325" cy="124777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32" name="Google Shape;232;p21"/>
            <p:cNvPicPr preferRelativeResize="0"/>
            <p:nvPr/>
          </p:nvPicPr>
          <p:blipFill rotWithShape="1">
            <a:blip r:embed="rId8">
              <a:alphaModFix/>
            </a:blip>
            <a:srcRect/>
            <a:stretch/>
          </p:blipFill>
          <p:spPr>
            <a:xfrm>
              <a:off x="4046626" y="1703120"/>
              <a:ext cx="904875" cy="295275"/>
            </a:xfrm>
            <a:prstGeom prst="rect">
              <a:avLst/>
            </a:prstGeom>
            <a:noFill/>
            <a:ln>
              <a:noFill/>
            </a:ln>
          </p:spPr>
        </p:pic>
      </p:grpSp>
    </p:spTree>
    <p:extLst>
      <p:ext uri="{BB962C8B-B14F-4D97-AF65-F5344CB8AC3E}">
        <p14:creationId xmlns:p14="http://schemas.microsoft.com/office/powerpoint/2010/main" val="186611768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Google Shape;237;p22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4400"/>
              <a:buFont typeface="Calibri"/>
              <a:buNone/>
            </a:pPr>
            <a:r>
              <a:rPr lang="en-US" b="1">
                <a:solidFill>
                  <a:schemeClr val="accent5"/>
                </a:solidFill>
                <a:latin typeface="Calibri"/>
                <a:ea typeface="Calibri"/>
                <a:cs typeface="Calibri"/>
                <a:sym typeface="Calibri"/>
              </a:rPr>
              <a:t>Vocab:</a:t>
            </a:r>
            <a:endParaRPr b="1">
              <a:solidFill>
                <a:schemeClr val="accent5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38" name="Google Shape;238;p22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46760" y="2864351"/>
            <a:ext cx="4961709" cy="1765559"/>
          </a:xfrm>
          <a:prstGeom prst="rect">
            <a:avLst/>
          </a:prstGeom>
          <a:noFill/>
          <a:ln>
            <a:noFill/>
          </a:ln>
        </p:spPr>
      </p:pic>
      <p:pic>
        <p:nvPicPr>
          <p:cNvPr id="239" name="Google Shape;239;p22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-1238568" y="1326503"/>
            <a:ext cx="13877925" cy="11715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40" name="Google Shape;240;p22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825137" y="5744206"/>
            <a:ext cx="3590925" cy="838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41" name="Google Shape;241;p22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825137" y="4777062"/>
            <a:ext cx="3581400" cy="7524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42" name="Google Shape;242;p22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6863715" y="2864351"/>
            <a:ext cx="5197656" cy="1318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43" name="Google Shape;243;p22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6863715" y="4243048"/>
            <a:ext cx="3355802" cy="131860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0473090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" name="Google Shape;248;p23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4400"/>
              <a:buFont typeface="Calibri"/>
              <a:buNone/>
            </a:pPr>
            <a:r>
              <a:rPr lang="en-US" b="1">
                <a:solidFill>
                  <a:schemeClr val="accent5"/>
                </a:solidFill>
                <a:latin typeface="Calibri"/>
                <a:ea typeface="Calibri"/>
                <a:cs typeface="Calibri"/>
                <a:sym typeface="Calibri"/>
              </a:rPr>
              <a:t>Vocab:</a:t>
            </a:r>
            <a:endParaRPr b="1">
              <a:solidFill>
                <a:schemeClr val="accent5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49" name="Google Shape;249;p23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-1183944" y="1330927"/>
            <a:ext cx="14449425" cy="11334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50" name="Google Shape;250;p23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838201" y="2654571"/>
            <a:ext cx="2649582" cy="1349787"/>
          </a:xfrm>
          <a:prstGeom prst="rect">
            <a:avLst/>
          </a:prstGeom>
          <a:noFill/>
          <a:ln>
            <a:noFill/>
          </a:ln>
        </p:spPr>
      </p:pic>
      <p:pic>
        <p:nvPicPr>
          <p:cNvPr id="251" name="Google Shape;251;p23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838201" y="4289283"/>
            <a:ext cx="5406290" cy="2263929"/>
          </a:xfrm>
          <a:prstGeom prst="rect">
            <a:avLst/>
          </a:prstGeom>
          <a:noFill/>
          <a:ln>
            <a:noFill/>
          </a:ln>
        </p:spPr>
      </p:pic>
      <p:pic>
        <p:nvPicPr>
          <p:cNvPr id="252" name="Google Shape;252;p23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4443412" y="1690941"/>
            <a:ext cx="1514475" cy="295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53" name="Google Shape;253;p23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6944949" y="2615381"/>
            <a:ext cx="5247051" cy="2015935"/>
          </a:xfrm>
          <a:prstGeom prst="rect">
            <a:avLst/>
          </a:prstGeom>
          <a:noFill/>
          <a:ln>
            <a:noFill/>
          </a:ln>
        </p:spPr>
      </p:pic>
      <p:pic>
        <p:nvPicPr>
          <p:cNvPr id="254" name="Google Shape;254;p23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6933140" y="4815969"/>
            <a:ext cx="3982701" cy="1018504"/>
          </a:xfrm>
          <a:prstGeom prst="rect">
            <a:avLst/>
          </a:prstGeom>
          <a:noFill/>
          <a:ln>
            <a:noFill/>
          </a:ln>
        </p:spPr>
      </p:pic>
      <p:pic>
        <p:nvPicPr>
          <p:cNvPr id="255" name="Google Shape;255;p23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6944949" y="5795159"/>
            <a:ext cx="5106568" cy="948262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15786814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chemeClr val="accent5"/>
                </a:solidFill>
              </a:rPr>
              <a:t>1. Who or What is a Consultant?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4"/>
            <a:ext cx="10760242" cy="4831849"/>
          </a:xfrm>
        </p:spPr>
        <p:txBody>
          <a:bodyPr>
            <a:normAutofit/>
          </a:bodyPr>
          <a:lstStyle/>
          <a:p>
            <a:pPr marL="0" indent="0">
              <a:lnSpc>
                <a:spcPct val="110000"/>
              </a:lnSpc>
              <a:spcBef>
                <a:spcPts val="0"/>
              </a:spcBef>
              <a:buNone/>
            </a:pPr>
            <a:r>
              <a:rPr lang="en-US" sz="2400" b="1" dirty="0"/>
              <a:t>A </a:t>
            </a:r>
            <a:r>
              <a:rPr lang="en-US" sz="2400" b="1" dirty="0">
                <a:solidFill>
                  <a:schemeClr val="accent5"/>
                </a:solidFill>
              </a:rPr>
              <a:t>consultant</a:t>
            </a:r>
            <a:r>
              <a:rPr lang="en-US" sz="2400" b="1" dirty="0"/>
              <a:t> is:</a:t>
            </a:r>
          </a:p>
          <a:p>
            <a:pPr marL="0">
              <a:lnSpc>
                <a:spcPct val="110000"/>
              </a:lnSpc>
              <a:spcBef>
                <a:spcPts val="0"/>
              </a:spcBef>
            </a:pPr>
            <a:r>
              <a:rPr lang="en-US" sz="2400" dirty="0"/>
              <a:t>A person who gives </a:t>
            </a:r>
            <a:r>
              <a:rPr lang="en-US" sz="2400" b="1" dirty="0">
                <a:solidFill>
                  <a:schemeClr val="accent5"/>
                </a:solidFill>
              </a:rPr>
              <a:t>advice</a:t>
            </a:r>
            <a:r>
              <a:rPr lang="en-US" sz="2400" dirty="0"/>
              <a:t> on a business area or problem</a:t>
            </a:r>
          </a:p>
          <a:p>
            <a:pPr marL="0">
              <a:lnSpc>
                <a:spcPct val="110000"/>
              </a:lnSpc>
              <a:spcBef>
                <a:spcPts val="0"/>
              </a:spcBef>
            </a:pPr>
            <a:r>
              <a:rPr lang="en-US" sz="2400" dirty="0"/>
              <a:t>Normally an expert or someone with a lot of specialized knowledge about a topic</a:t>
            </a:r>
          </a:p>
          <a:p>
            <a:pPr marL="0" indent="0">
              <a:lnSpc>
                <a:spcPct val="110000"/>
              </a:lnSpc>
              <a:spcBef>
                <a:spcPts val="0"/>
              </a:spcBef>
              <a:buNone/>
            </a:pPr>
            <a:endParaRPr lang="en-US" sz="2400" dirty="0"/>
          </a:p>
          <a:p>
            <a:pPr marL="0" indent="0">
              <a:lnSpc>
                <a:spcPct val="110000"/>
              </a:lnSpc>
              <a:spcBef>
                <a:spcPts val="0"/>
              </a:spcBef>
              <a:buNone/>
            </a:pPr>
            <a:r>
              <a:rPr lang="en-US" sz="2400" b="1" dirty="0"/>
              <a:t>Example: </a:t>
            </a:r>
          </a:p>
          <a:p>
            <a:pPr marL="0" indent="0">
              <a:lnSpc>
                <a:spcPct val="110000"/>
              </a:lnSpc>
              <a:spcBef>
                <a:spcPts val="0"/>
              </a:spcBef>
              <a:buNone/>
            </a:pPr>
            <a:r>
              <a:rPr lang="en-US" sz="2400" dirty="0"/>
              <a:t>An ICT consultant is a person with a high degree of specialized technical knowledge who is able to advise other organizations about technical solutions for ICT related problems.</a:t>
            </a:r>
          </a:p>
          <a:p>
            <a:pPr marL="0">
              <a:lnSpc>
                <a:spcPct val="110000"/>
              </a:lnSpc>
              <a:spcBef>
                <a:spcPts val="0"/>
              </a:spcBef>
            </a:pPr>
            <a:endParaRPr lang="en-US" sz="2400" dirty="0"/>
          </a:p>
          <a:p>
            <a:pPr marL="0">
              <a:lnSpc>
                <a:spcPct val="110000"/>
              </a:lnSpc>
              <a:spcBef>
                <a:spcPts val="0"/>
              </a:spcBef>
            </a:pPr>
            <a:endParaRPr lang="en-US" sz="2400" dirty="0"/>
          </a:p>
          <a:p>
            <a:pPr marL="0" indent="0" algn="ctr">
              <a:lnSpc>
                <a:spcPct val="110000"/>
              </a:lnSpc>
              <a:spcBef>
                <a:spcPts val="0"/>
              </a:spcBef>
              <a:buNone/>
            </a:pPr>
            <a:r>
              <a:rPr lang="en-US" sz="3600" b="1" dirty="0">
                <a:solidFill>
                  <a:schemeClr val="accent5"/>
                </a:solidFill>
              </a:rPr>
              <a:t>In other words, YOU are a consultant!</a:t>
            </a:r>
          </a:p>
        </p:txBody>
      </p:sp>
    </p:spTree>
    <p:extLst>
      <p:ext uri="{BB962C8B-B14F-4D97-AF65-F5344CB8AC3E}">
        <p14:creationId xmlns:p14="http://schemas.microsoft.com/office/powerpoint/2010/main" val="44916356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chemeClr val="accent5"/>
                </a:solidFill>
              </a:rPr>
              <a:t>So, What Do Consultants DO?</a:t>
            </a:r>
            <a:endParaRPr lang="en-GB" b="1" dirty="0">
              <a:solidFill>
                <a:schemeClr val="accent5"/>
              </a:solidFill>
            </a:endParaRPr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1724026"/>
            <a:ext cx="2664367" cy="2415994"/>
          </a:xfrm>
          <a:prstGeom prst="rect">
            <a:avLst/>
          </a:prstGeom>
          <a:ln w="38100">
            <a:solidFill>
              <a:schemeClr val="tx1"/>
            </a:solidFill>
          </a:ln>
        </p:spPr>
      </p:pic>
      <p:pic>
        <p:nvPicPr>
          <p:cNvPr id="13" name="Picture 1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82965" y="1762807"/>
            <a:ext cx="2641788" cy="2378361"/>
          </a:xfrm>
          <a:prstGeom prst="rect">
            <a:avLst/>
          </a:prstGeom>
          <a:ln w="38100">
            <a:solidFill>
              <a:schemeClr val="tx1"/>
            </a:solidFill>
          </a:ln>
        </p:spPr>
      </p:pic>
      <p:pic>
        <p:nvPicPr>
          <p:cNvPr id="14" name="Picture 1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05046" y="1763687"/>
            <a:ext cx="2641789" cy="2385889"/>
          </a:xfrm>
          <a:prstGeom prst="rect">
            <a:avLst/>
          </a:prstGeom>
          <a:ln w="38100">
            <a:solidFill>
              <a:schemeClr val="tx1"/>
            </a:solidFill>
          </a:ln>
        </p:spPr>
      </p:pic>
      <p:pic>
        <p:nvPicPr>
          <p:cNvPr id="15" name="Picture 14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185436" y="4330059"/>
            <a:ext cx="2634261" cy="2400941"/>
          </a:xfrm>
          <a:prstGeom prst="rect">
            <a:avLst/>
          </a:prstGeom>
          <a:ln w="38100">
            <a:solidFill>
              <a:schemeClr val="tx1"/>
            </a:solidFill>
          </a:ln>
        </p:spPr>
      </p:pic>
      <p:pic>
        <p:nvPicPr>
          <p:cNvPr id="16" name="Picture 15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689126" y="4320098"/>
            <a:ext cx="2649315" cy="2393415"/>
          </a:xfrm>
          <a:prstGeom prst="rect">
            <a:avLst/>
          </a:prstGeom>
          <a:ln w="38100">
            <a:solidFill>
              <a:schemeClr val="tx1"/>
            </a:solidFill>
          </a:ln>
        </p:spPr>
      </p:pic>
      <p:pic>
        <p:nvPicPr>
          <p:cNvPr id="17" name="Picture 16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048761" y="4320099"/>
            <a:ext cx="2626735" cy="2393415"/>
          </a:xfrm>
          <a:prstGeom prst="rect">
            <a:avLst/>
          </a:prstGeom>
          <a:ln w="38100"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351816580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ADA9AB-8CAD-4F58-1592-32F560EF3D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chemeClr val="accent5"/>
                </a:solidFill>
              </a:rPr>
              <a:t>Discuss: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50E8B13-9E6E-7405-975F-06EF57E1CF2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What are meetings?  </a:t>
            </a:r>
          </a:p>
          <a:p>
            <a:pPr marL="0" indent="0">
              <a:buNone/>
            </a:pPr>
            <a:r>
              <a:rPr lang="en-US" dirty="0"/>
              <a:t>Can you give examples of some types of meetings?</a:t>
            </a:r>
          </a:p>
          <a:p>
            <a:pPr marL="0" indent="0">
              <a:buNone/>
            </a:pPr>
            <a:r>
              <a:rPr lang="en-US" dirty="0"/>
              <a:t>What are some benefits/advantages of holding meetings?</a:t>
            </a:r>
          </a:p>
          <a:p>
            <a:pPr marL="0" indent="0">
              <a:buNone/>
            </a:pPr>
            <a:r>
              <a:rPr lang="en-US" dirty="0"/>
              <a:t>What are some problems/disadvantages of holding meetings?</a:t>
            </a:r>
          </a:p>
          <a:p>
            <a:pPr marL="0" indent="0">
              <a:buNone/>
            </a:pPr>
            <a:r>
              <a:rPr lang="en-US" dirty="0"/>
              <a:t>How can you make meetings successful?</a:t>
            </a:r>
          </a:p>
          <a:p>
            <a:pPr marL="0" indent="0">
              <a:buNone/>
            </a:pPr>
            <a:r>
              <a:rPr lang="en-US" dirty="0"/>
              <a:t>What group dynamics play a part in meetings?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0213564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1825625"/>
            <a:ext cx="8315325" cy="828675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chemeClr val="accent5"/>
                </a:solidFill>
              </a:rPr>
              <a:t>Meetings Definition</a:t>
            </a:r>
            <a:endParaRPr lang="en-GB" b="1" dirty="0">
              <a:solidFill>
                <a:schemeClr val="accent5"/>
              </a:solidFill>
            </a:endParaRP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603500" y="2789237"/>
            <a:ext cx="8750300" cy="3387726"/>
          </a:xfrm>
        </p:spPr>
        <p:txBody>
          <a:bodyPr>
            <a:normAutofit/>
          </a:bodyPr>
          <a:lstStyle/>
          <a:p>
            <a:pPr marL="11430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2400" dirty="0"/>
              <a:t>A business meeting is a real-time meeting between two or more individuals for the purpose of advancing corporate objectives. </a:t>
            </a:r>
          </a:p>
          <a:p>
            <a:pPr marL="114300" indent="0">
              <a:lnSpc>
                <a:spcPct val="100000"/>
              </a:lnSpc>
              <a:spcBef>
                <a:spcPts val="0"/>
              </a:spcBef>
              <a:buNone/>
            </a:pPr>
            <a:endParaRPr lang="en-US" sz="2400" dirty="0"/>
          </a:p>
          <a:p>
            <a:pPr marL="11430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2400" dirty="0"/>
              <a:t>Business meetings are an example of a formal meeting, and as a result they usually follow a clear structure dictated by their objectives.</a:t>
            </a:r>
          </a:p>
          <a:p>
            <a:pPr marL="114300" indent="0">
              <a:lnSpc>
                <a:spcPct val="100000"/>
              </a:lnSpc>
              <a:spcBef>
                <a:spcPts val="0"/>
              </a:spcBef>
              <a:buNone/>
            </a:pP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378068607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B29A06-FD1E-D26F-301A-82CD3A6ECB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chemeClr val="accent5"/>
                </a:solidFill>
              </a:rPr>
              <a:t>Types of Meetings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CDC0CF7-71F6-5CE8-35CE-304D2DE7CBC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dirty="0"/>
              <a:t>1. STAND UP meetings</a:t>
            </a:r>
          </a:p>
          <a:p>
            <a:pPr>
              <a:lnSpc>
                <a:spcPct val="120000"/>
              </a:lnSpc>
              <a:spcBef>
                <a:spcPts val="0"/>
              </a:spcBef>
            </a:pPr>
            <a:r>
              <a:rPr lang="en-US" dirty="0"/>
              <a:t>Only when necessary</a:t>
            </a:r>
          </a:p>
          <a:p>
            <a:pPr>
              <a:lnSpc>
                <a:spcPct val="120000"/>
              </a:lnSpc>
              <a:spcBef>
                <a:spcPts val="0"/>
              </a:spcBef>
            </a:pPr>
            <a:r>
              <a:rPr lang="en-US" dirty="0"/>
              <a:t>Short</a:t>
            </a:r>
          </a:p>
          <a:p>
            <a:pPr>
              <a:lnSpc>
                <a:spcPct val="120000"/>
              </a:lnSpc>
              <a:spcBef>
                <a:spcPts val="0"/>
              </a:spcBef>
            </a:pPr>
            <a:r>
              <a:rPr lang="en-US" dirty="0"/>
              <a:t>Involving</a:t>
            </a:r>
          </a:p>
          <a:p>
            <a:pPr>
              <a:lnSpc>
                <a:spcPct val="120000"/>
              </a:lnSpc>
              <a:spcBef>
                <a:spcPts val="0"/>
              </a:spcBef>
            </a:pPr>
            <a:r>
              <a:rPr lang="en-US" dirty="0"/>
              <a:t>Some organizations do this for 15 minutes each day to update everyone on everyone’s progress</a:t>
            </a:r>
          </a:p>
          <a:p>
            <a:pPr>
              <a:lnSpc>
                <a:spcPct val="120000"/>
              </a:lnSpc>
              <a:spcBef>
                <a:spcPts val="0"/>
              </a:spcBef>
            </a:pPr>
            <a:endParaRPr lang="en-US" dirty="0"/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dirty="0">
                <a:solidFill>
                  <a:schemeClr val="accent1">
                    <a:lumMod val="75000"/>
                  </a:schemeClr>
                </a:solidFill>
              </a:rPr>
              <a:t>Stand up </a:t>
            </a:r>
            <a:r>
              <a:rPr lang="en-US" dirty="0">
                <a:solidFill>
                  <a:schemeClr val="accent1">
                    <a:lumMod val="75000"/>
                  </a:schemeClr>
                </a:solidFill>
                <a:sym typeface="Wingdings" panose="05000000000000000000" pitchFamily="2" charset="2"/>
              </a:rPr>
              <a:t> Synch up  Wrap it up</a:t>
            </a:r>
          </a:p>
          <a:p>
            <a:pPr>
              <a:lnSpc>
                <a:spcPct val="120000"/>
              </a:lnSpc>
              <a:spcBef>
                <a:spcPts val="0"/>
              </a:spcBef>
            </a:pPr>
            <a:endParaRPr lang="en-US" dirty="0">
              <a:solidFill>
                <a:schemeClr val="accent1">
                  <a:lumMod val="75000"/>
                </a:schemeClr>
              </a:solidFill>
              <a:sym typeface="Wingdings" panose="05000000000000000000" pitchFamily="2" charset="2"/>
            </a:endParaRPr>
          </a:p>
          <a:p>
            <a:pPr>
              <a:lnSpc>
                <a:spcPct val="120000"/>
              </a:lnSpc>
              <a:spcBef>
                <a:spcPts val="0"/>
              </a:spcBef>
            </a:pPr>
            <a:r>
              <a:rPr lang="en-US" dirty="0">
                <a:sym typeface="Wingdings" panose="05000000000000000000" pitchFamily="2" charset="2"/>
              </a:rPr>
              <a:t>Encourages team building and collaboration</a:t>
            </a:r>
          </a:p>
          <a:p>
            <a:pPr>
              <a:lnSpc>
                <a:spcPct val="120000"/>
              </a:lnSpc>
              <a:spcBef>
                <a:spcPts val="0"/>
              </a:spcBef>
            </a:pPr>
            <a:r>
              <a:rPr lang="en-US" dirty="0">
                <a:sym typeface="Wingdings" panose="05000000000000000000" pitchFamily="2" charset="2"/>
              </a:rPr>
              <a:t>Good for Problem Solving</a:t>
            </a: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6767742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E56D044-04AA-EFA8-A4C6-B3E743D149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5FCFDF-4E37-314F-7F0A-7921F96251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chemeClr val="accent5"/>
                </a:solidFill>
              </a:rPr>
              <a:t>Types of Meetings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CDF50E9-6C91-740D-DC6C-06152FB4D2E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 fontScale="92500" lnSpcReduction="10000"/>
          </a:bodyPr>
          <a:lstStyle/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dirty="0"/>
              <a:t>2. SIT DOWN meetings</a:t>
            </a:r>
          </a:p>
          <a:p>
            <a:pPr>
              <a:lnSpc>
                <a:spcPct val="120000"/>
              </a:lnSpc>
              <a:spcBef>
                <a:spcPts val="0"/>
              </a:spcBef>
            </a:pPr>
            <a:r>
              <a:rPr lang="en-US" dirty="0"/>
              <a:t>Very formal, Specific Focus</a:t>
            </a:r>
          </a:p>
          <a:p>
            <a:pPr>
              <a:lnSpc>
                <a:spcPct val="120000"/>
              </a:lnSpc>
              <a:spcBef>
                <a:spcPts val="0"/>
              </a:spcBef>
            </a:pPr>
            <a:r>
              <a:rPr lang="en-US" dirty="0"/>
              <a:t>Follows a specific agenda – can range in time</a:t>
            </a:r>
          </a:p>
          <a:p>
            <a:pPr>
              <a:lnSpc>
                <a:spcPct val="120000"/>
              </a:lnSpc>
              <a:spcBef>
                <a:spcPts val="0"/>
              </a:spcBef>
            </a:pPr>
            <a:r>
              <a:rPr lang="en-US" dirty="0"/>
              <a:t>Encourages participation</a:t>
            </a:r>
          </a:p>
          <a:p>
            <a:pPr>
              <a:lnSpc>
                <a:spcPct val="120000"/>
              </a:lnSpc>
              <a:spcBef>
                <a:spcPts val="0"/>
              </a:spcBef>
            </a:pPr>
            <a:endParaRPr lang="en-US" dirty="0"/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dirty="0">
                <a:solidFill>
                  <a:schemeClr val="accent1">
                    <a:lumMod val="75000"/>
                  </a:schemeClr>
                </a:solidFill>
              </a:rPr>
              <a:t>Goals </a:t>
            </a:r>
            <a:r>
              <a:rPr lang="en-US" dirty="0">
                <a:solidFill>
                  <a:schemeClr val="accent1">
                    <a:lumMod val="75000"/>
                  </a:schemeClr>
                </a:solidFill>
                <a:sym typeface="Wingdings" panose="05000000000000000000" pitchFamily="2" charset="2"/>
              </a:rPr>
              <a:t> Agenda  Schedule/Invite  Act  Track &amp; Report</a:t>
            </a:r>
          </a:p>
          <a:p>
            <a:pPr>
              <a:lnSpc>
                <a:spcPct val="120000"/>
              </a:lnSpc>
              <a:spcBef>
                <a:spcPts val="0"/>
              </a:spcBef>
            </a:pPr>
            <a:endParaRPr lang="en-US" dirty="0">
              <a:solidFill>
                <a:schemeClr val="accent1">
                  <a:lumMod val="75000"/>
                </a:schemeClr>
              </a:solidFill>
              <a:sym typeface="Wingdings" panose="05000000000000000000" pitchFamily="2" charset="2"/>
            </a:endParaRPr>
          </a:p>
          <a:p>
            <a:pPr>
              <a:lnSpc>
                <a:spcPct val="120000"/>
              </a:lnSpc>
              <a:spcBef>
                <a:spcPts val="0"/>
              </a:spcBef>
            </a:pPr>
            <a:r>
              <a:rPr lang="en-US" dirty="0">
                <a:sym typeface="Wingdings" panose="05000000000000000000" pitchFamily="2" charset="2"/>
              </a:rPr>
              <a:t>Encourages effective time management</a:t>
            </a:r>
          </a:p>
          <a:p>
            <a:pPr>
              <a:lnSpc>
                <a:spcPct val="120000"/>
              </a:lnSpc>
              <a:spcBef>
                <a:spcPts val="0"/>
              </a:spcBef>
            </a:pPr>
            <a:r>
              <a:rPr lang="en-US" dirty="0">
                <a:sym typeface="Wingdings" panose="05000000000000000000" pitchFamily="2" charset="2"/>
              </a:rPr>
              <a:t>Good for dealing with Specific Issues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9040656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9968B95-8A51-A441-EADB-ED03D091C5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911818-FF32-018F-717E-E4F1B8B8E0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chemeClr val="accent1">
                    <a:lumMod val="75000"/>
                  </a:schemeClr>
                </a:solidFill>
              </a:rPr>
              <a:t>Why do we have meetings?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ABA910A-AAE5-5B7A-B0BE-9C5A8DCF585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10483173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37897D-D92D-618D-33DA-B18DC30451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93700"/>
            <a:ext cx="10515600" cy="1325563"/>
          </a:xfrm>
        </p:spPr>
        <p:txBody>
          <a:bodyPr/>
          <a:lstStyle/>
          <a:p>
            <a:r>
              <a:rPr lang="en-US" b="1" dirty="0">
                <a:solidFill>
                  <a:schemeClr val="accent1">
                    <a:lumMod val="75000"/>
                  </a:schemeClr>
                </a:solidFill>
              </a:rPr>
              <a:t>Problems with meetings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9334FDC-9BD3-EEFE-41D4-22112BD4B25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 Agenda</a:t>
            </a:r>
          </a:p>
          <a:p>
            <a:r>
              <a:rPr lang="en-US" dirty="0"/>
              <a:t>Late start</a:t>
            </a:r>
          </a:p>
          <a:p>
            <a:r>
              <a:rPr lang="en-US" dirty="0"/>
              <a:t>Meeting goes off topic</a:t>
            </a:r>
          </a:p>
          <a:p>
            <a:r>
              <a:rPr lang="en-US" dirty="0"/>
              <a:t>Too long</a:t>
            </a:r>
          </a:p>
          <a:p>
            <a:r>
              <a:rPr lang="en-US" dirty="0"/>
              <a:t>Wrong people there</a:t>
            </a:r>
          </a:p>
          <a:p>
            <a:r>
              <a:rPr lang="en-US" dirty="0"/>
              <a:t>Someone dominates meeting</a:t>
            </a:r>
          </a:p>
          <a:p>
            <a:r>
              <a:rPr lang="en-US" dirty="0"/>
              <a:t>No follow up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925284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22FEF7-8656-AFEE-4CFE-5AC0CE329B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chemeClr val="accent1">
                    <a:lumMod val="75000"/>
                  </a:schemeClr>
                </a:solidFill>
              </a:rPr>
              <a:t>Decisions: </a:t>
            </a:r>
            <a:r>
              <a:rPr lang="en-US" b="1" dirty="0">
                <a:solidFill>
                  <a:schemeClr val="accent1">
                    <a:lumMod val="75000"/>
                  </a:schemeClr>
                </a:solidFill>
                <a:sym typeface="Wingdings" panose="05000000000000000000" pitchFamily="2" charset="2"/>
              </a:rPr>
              <a:t> Successful Meetings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A5A6B0F-7DFA-FC05-E672-ADD1AF0EF60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marL="114300" indent="0">
              <a:buNone/>
            </a:pPr>
            <a:r>
              <a:rPr lang="en-US" b="1" dirty="0"/>
              <a:t>Before the meeting: PLANNING</a:t>
            </a:r>
          </a:p>
          <a:p>
            <a:r>
              <a:rPr lang="en-US" dirty="0"/>
              <a:t>What should people do to make sure a meeting is well prepared? </a:t>
            </a:r>
          </a:p>
          <a:p>
            <a:pPr marL="114300" indent="0">
              <a:buNone/>
            </a:pPr>
            <a:endParaRPr lang="en-US" dirty="0"/>
          </a:p>
          <a:p>
            <a:pPr marL="114300" indent="0">
              <a:buNone/>
            </a:pPr>
            <a:r>
              <a:rPr lang="en-US" b="1" dirty="0"/>
              <a:t>During the meeting: EXECUTION</a:t>
            </a:r>
          </a:p>
          <a:p>
            <a:r>
              <a:rPr lang="en-US" dirty="0"/>
              <a:t>What can a meeting leader do to keep the meeting focused and make sure everyone can participate? </a:t>
            </a:r>
          </a:p>
          <a:p>
            <a:pPr marL="114300" indent="0">
              <a:buNone/>
            </a:pPr>
            <a:endParaRPr lang="en-US" dirty="0"/>
          </a:p>
          <a:p>
            <a:pPr marL="114300" indent="0">
              <a:buNone/>
            </a:pPr>
            <a:r>
              <a:rPr lang="en-US" b="1" dirty="0"/>
              <a:t>After the meeting: REFLECTION/ ACTION</a:t>
            </a:r>
          </a:p>
          <a:p>
            <a:r>
              <a:rPr lang="en-US" dirty="0"/>
              <a:t>What should happen after a meeting to make sure important information and decisions are not forgotten? </a:t>
            </a:r>
          </a:p>
          <a:p>
            <a:r>
              <a:rPr lang="en-US" dirty="0"/>
              <a:t>If a meeting ends with tasks that need to be completed, what should be recorded, and how can the team make sure they are completed?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7165492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chemeClr val="accent5"/>
                </a:solidFill>
              </a:rPr>
              <a:t>Meeting Management: Pro Tips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042483" y="1825625"/>
            <a:ext cx="4989095" cy="4351338"/>
          </a:xfrm>
        </p:spPr>
        <p:txBody>
          <a:bodyPr>
            <a:noAutofit/>
          </a:bodyPr>
          <a:lstStyle/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2400" b="1" dirty="0"/>
              <a:t>Before:</a:t>
            </a:r>
          </a:p>
          <a:p>
            <a:pPr marL="0">
              <a:lnSpc>
                <a:spcPct val="100000"/>
              </a:lnSpc>
              <a:spcBef>
                <a:spcPts val="0"/>
              </a:spcBef>
            </a:pPr>
            <a:r>
              <a:rPr lang="en-US" sz="2400" dirty="0"/>
              <a:t>Plan your meeting:</a:t>
            </a:r>
          </a:p>
          <a:p>
            <a:pPr marL="0">
              <a:lnSpc>
                <a:spcPct val="100000"/>
              </a:lnSpc>
              <a:spcBef>
                <a:spcPts val="0"/>
              </a:spcBef>
            </a:pPr>
            <a:r>
              <a:rPr lang="en-US" sz="2400" dirty="0"/>
              <a:t>Create an Agenda</a:t>
            </a:r>
          </a:p>
          <a:p>
            <a:pPr marL="0">
              <a:lnSpc>
                <a:spcPct val="100000"/>
              </a:lnSpc>
              <a:spcBef>
                <a:spcPts val="0"/>
              </a:spcBef>
            </a:pPr>
            <a:endParaRPr lang="en-US" sz="2400" dirty="0"/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2400" b="1" dirty="0"/>
              <a:t>During:</a:t>
            </a:r>
          </a:p>
          <a:p>
            <a:pPr marL="0">
              <a:lnSpc>
                <a:spcPct val="100000"/>
              </a:lnSpc>
              <a:spcBef>
                <a:spcPts val="0"/>
              </a:spcBef>
            </a:pPr>
            <a:r>
              <a:rPr lang="en-US" sz="2400" dirty="0"/>
              <a:t>Follow your plan</a:t>
            </a:r>
          </a:p>
          <a:p>
            <a:pPr marL="0">
              <a:lnSpc>
                <a:spcPct val="100000"/>
              </a:lnSpc>
              <a:spcBef>
                <a:spcPts val="0"/>
              </a:spcBef>
            </a:pPr>
            <a:r>
              <a:rPr lang="en-US" sz="2400" dirty="0"/>
              <a:t>Record outcomes</a:t>
            </a:r>
          </a:p>
          <a:p>
            <a:pPr marL="0">
              <a:lnSpc>
                <a:spcPct val="100000"/>
              </a:lnSpc>
              <a:spcBef>
                <a:spcPts val="0"/>
              </a:spcBef>
            </a:pPr>
            <a:endParaRPr lang="en-US" sz="2400" dirty="0"/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2400" b="1" dirty="0"/>
              <a:t>After:</a:t>
            </a:r>
          </a:p>
          <a:p>
            <a:pPr marL="0">
              <a:lnSpc>
                <a:spcPct val="100000"/>
              </a:lnSpc>
              <a:spcBef>
                <a:spcPts val="0"/>
              </a:spcBef>
            </a:pPr>
            <a:r>
              <a:rPr lang="en-US" sz="2400" dirty="0"/>
              <a:t>Summarize discussions and decisions made</a:t>
            </a:r>
          </a:p>
          <a:p>
            <a:pPr marL="0">
              <a:lnSpc>
                <a:spcPct val="100000"/>
              </a:lnSpc>
              <a:spcBef>
                <a:spcPts val="0"/>
              </a:spcBef>
            </a:pPr>
            <a:r>
              <a:rPr lang="en-US" sz="2400" dirty="0"/>
              <a:t>Distribute  your Summary</a:t>
            </a:r>
          </a:p>
          <a:p>
            <a:pPr marL="0">
              <a:lnSpc>
                <a:spcPct val="100000"/>
              </a:lnSpc>
              <a:spcBef>
                <a:spcPts val="0"/>
              </a:spcBef>
            </a:pPr>
            <a:endParaRPr lang="en-US" sz="2400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42484" y="6442489"/>
            <a:ext cx="3972733" cy="382755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9D02017D-9C75-93C4-8DF9-5C11BA63E65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8200" y="1690688"/>
            <a:ext cx="5992061" cy="4077269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D6B5F72E-2336-041F-0121-1C1794977F1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76783" y="4386649"/>
            <a:ext cx="2482517" cy="20558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2115158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B15DC0-663A-2018-8FCA-0F58226F2F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chemeClr val="accent5"/>
                </a:solidFill>
              </a:rPr>
              <a:t>Before: Creating an Agenda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2E7421F-A85F-3D34-CF41-64B3F1E24D7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 fontScale="92500"/>
          </a:bodyPr>
          <a:lstStyle/>
          <a:p>
            <a:pPr>
              <a:defRPr/>
            </a:pPr>
            <a:r>
              <a:rPr lang="en-US" sz="22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Define the meeting’s purpose and expected outcomes</a:t>
            </a:r>
          </a:p>
          <a:p>
            <a:pPr>
              <a:defRPr/>
            </a:pPr>
            <a:r>
              <a:rPr lang="en-US" sz="22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Compile the list of Agenda Items</a:t>
            </a:r>
          </a:p>
          <a:p>
            <a:pPr>
              <a:defRPr/>
            </a:pPr>
            <a:r>
              <a:rPr lang="en-US" sz="22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Assign the person responsible to lead the discussion on each item</a:t>
            </a:r>
          </a:p>
          <a:p>
            <a:pPr>
              <a:defRPr/>
            </a:pPr>
            <a:r>
              <a:rPr lang="en-US" sz="22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Next to each major topic, include the type of action needed, the type of output expected (</a:t>
            </a:r>
            <a:r>
              <a:rPr lang="en-US" sz="2200" i="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decision, vote, action assigned to someone</a:t>
            </a:r>
            <a:r>
              <a:rPr lang="en-US" sz="22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), and time estimates for addressing each topic</a:t>
            </a:r>
          </a:p>
          <a:p>
            <a:pPr>
              <a:defRPr/>
            </a:pPr>
            <a:endParaRPr lang="en-US" sz="10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  <a:p>
            <a:pPr>
              <a:defRPr/>
            </a:pPr>
            <a:r>
              <a:rPr lang="en-US" sz="22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The agenda should include:</a:t>
            </a:r>
          </a:p>
          <a:p>
            <a:pPr lvl="1">
              <a:defRPr/>
            </a:pPr>
            <a:r>
              <a:rPr lang="en-US" sz="22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Review the prior meeting’s minutes</a:t>
            </a:r>
          </a:p>
          <a:p>
            <a:pPr lvl="1">
              <a:defRPr/>
            </a:pPr>
            <a:r>
              <a:rPr lang="en-US" sz="22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Review the action items of the previous meeting</a:t>
            </a:r>
          </a:p>
          <a:p>
            <a:pPr lvl="1">
              <a:defRPr/>
            </a:pPr>
            <a:r>
              <a:rPr lang="en-US" sz="22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Informational items</a:t>
            </a:r>
          </a:p>
          <a:p>
            <a:pPr lvl="1">
              <a:defRPr/>
            </a:pPr>
            <a:r>
              <a:rPr lang="en-US" sz="22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Discussion items</a:t>
            </a:r>
          </a:p>
          <a:p>
            <a:pPr lvl="1">
              <a:defRPr/>
            </a:pPr>
            <a:r>
              <a:rPr lang="en-US" sz="22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Action items </a:t>
            </a:r>
          </a:p>
          <a:p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2B23C20-F5E3-0FFD-D4FA-91A07A5D2D2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89324" y="4001294"/>
            <a:ext cx="2609336" cy="21756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8305069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538F27-58D2-ED17-AE6F-EE1FAD9B8F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chemeClr val="accent5"/>
                </a:solidFill>
              </a:rPr>
              <a:t>During: Taking Notes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D8BF5A7-85E7-0FD7-67B2-3DDA009F42B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>
              <a:defRPr/>
            </a:pPr>
            <a:r>
              <a:rPr lang="en-US" b="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Stay focused: </a:t>
            </a:r>
            <a:r>
              <a:rPr lang="en-US" dirty="0">
                <a:solidFill>
                  <a:schemeClr val="tx1">
                    <a:lumMod val="85000"/>
                    <a:lumOff val="15000"/>
                  </a:schemeClr>
                </a:solidFill>
              </a:rPr>
              <a:t>Record important ideas, decisions, and actions. </a:t>
            </a:r>
          </a:p>
          <a:p>
            <a:pPr>
              <a:defRPr/>
            </a:pPr>
            <a:r>
              <a:rPr lang="en-US" b="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Write by hand: </a:t>
            </a:r>
            <a:r>
              <a:rPr lang="en-US" dirty="0">
                <a:solidFill>
                  <a:schemeClr val="tx1">
                    <a:lumMod val="85000"/>
                    <a:lumOff val="15000"/>
                  </a:schemeClr>
                </a:solidFill>
              </a:rPr>
              <a:t>Take notes on paper and then type them up after the meeting. </a:t>
            </a:r>
          </a:p>
          <a:p>
            <a:pPr>
              <a:defRPr/>
            </a:pPr>
            <a:r>
              <a:rPr lang="en-US" b="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Keep it simple: </a:t>
            </a:r>
            <a:r>
              <a:rPr lang="en-US" dirty="0">
                <a:solidFill>
                  <a:schemeClr val="tx1">
                    <a:lumMod val="85000"/>
                    <a:lumOff val="15000"/>
                  </a:schemeClr>
                </a:solidFill>
              </a:rPr>
              <a:t>Record the date, time, meeting title, and key information. </a:t>
            </a:r>
          </a:p>
          <a:p>
            <a:pPr>
              <a:defRPr/>
            </a:pPr>
            <a:r>
              <a:rPr lang="en-US" b="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Organize afterwards: </a:t>
            </a:r>
            <a:r>
              <a:rPr lang="en-US" dirty="0">
                <a:solidFill>
                  <a:schemeClr val="tx1">
                    <a:lumMod val="85000"/>
                    <a:lumOff val="15000"/>
                  </a:schemeClr>
                </a:solidFill>
              </a:rPr>
              <a:t>Group actions, decisions, and information together. </a:t>
            </a:r>
          </a:p>
          <a:p>
            <a:pPr>
              <a:defRPr/>
            </a:pPr>
            <a:r>
              <a:rPr lang="en-US" b="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Review and summarize: </a:t>
            </a:r>
            <a:r>
              <a:rPr lang="en-US" dirty="0">
                <a:solidFill>
                  <a:schemeClr val="tx1">
                    <a:lumMod val="85000"/>
                    <a:lumOff val="15000"/>
                  </a:schemeClr>
                </a:solidFill>
              </a:rPr>
              <a:t>Highlight important points and write a short summary.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6206732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13767C-36AD-20BD-4972-5BD7BED345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chemeClr val="accent5"/>
                </a:solidFill>
              </a:rPr>
              <a:t>After: Meeting Minutes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3F990BA-AC04-99FF-2C95-C386638EC15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 fontScale="92500" lnSpcReduction="20000"/>
          </a:bodyPr>
          <a:lstStyle/>
          <a:p>
            <a:pPr>
              <a:defRPr/>
            </a:pPr>
            <a:r>
              <a:rPr lang="en-US" sz="22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Distribute with 24 hours</a:t>
            </a:r>
          </a:p>
          <a:p>
            <a:pPr>
              <a:defRPr/>
            </a:pPr>
            <a:r>
              <a:rPr lang="en-US" sz="22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Need to include details of:</a:t>
            </a:r>
          </a:p>
          <a:p>
            <a:pPr lvl="1">
              <a:defRPr/>
            </a:pPr>
            <a:r>
              <a:rPr lang="en-US" sz="18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Names of attendees</a:t>
            </a:r>
          </a:p>
          <a:p>
            <a:pPr lvl="1">
              <a:defRPr/>
            </a:pPr>
            <a:r>
              <a:rPr lang="en-US" sz="18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Notations of who was absent</a:t>
            </a:r>
          </a:p>
          <a:p>
            <a:pPr lvl="1">
              <a:defRPr/>
            </a:pPr>
            <a:r>
              <a:rPr lang="en-US" sz="18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Acceptance/Corrections to the previous meeting minutes</a:t>
            </a:r>
          </a:p>
          <a:p>
            <a:pPr lvl="1">
              <a:defRPr/>
            </a:pPr>
            <a:r>
              <a:rPr lang="en-US" sz="18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Decisions made (</a:t>
            </a:r>
            <a:r>
              <a:rPr lang="en-US" sz="1800" i="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motions made, votes, etc.</a:t>
            </a:r>
            <a:r>
              <a:rPr lang="en-US" sz="18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) </a:t>
            </a:r>
          </a:p>
          <a:p>
            <a:pPr lvl="1">
              <a:defRPr/>
            </a:pPr>
            <a:r>
              <a:rPr lang="en-US" sz="18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Next steps planned</a:t>
            </a:r>
          </a:p>
          <a:p>
            <a:pPr lvl="1">
              <a:defRPr/>
            </a:pPr>
            <a:r>
              <a:rPr lang="en-US" sz="18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Identification and tracking of action items (</a:t>
            </a:r>
            <a:r>
              <a:rPr lang="en-US" sz="1800" i="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and responsibilities</a:t>
            </a:r>
            <a:r>
              <a:rPr lang="en-US" sz="18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)</a:t>
            </a:r>
          </a:p>
          <a:p>
            <a:pPr lvl="1">
              <a:defRPr/>
            </a:pPr>
            <a:r>
              <a:rPr lang="en-US" sz="18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Date of next meeting</a:t>
            </a:r>
          </a:p>
          <a:p>
            <a:pPr lvl="1">
              <a:defRPr/>
            </a:pPr>
            <a:r>
              <a:rPr lang="en-US" sz="18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Copies of supporting documents</a:t>
            </a:r>
          </a:p>
          <a:p>
            <a:pPr>
              <a:defRPr/>
            </a:pPr>
            <a:r>
              <a:rPr lang="en-US" sz="22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Be objective</a:t>
            </a:r>
          </a:p>
          <a:p>
            <a:pPr>
              <a:defRPr/>
            </a:pPr>
            <a:r>
              <a:rPr lang="en-US" sz="22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Use the same tense</a:t>
            </a:r>
          </a:p>
          <a:p>
            <a:pPr>
              <a:defRPr/>
            </a:pPr>
            <a:r>
              <a:rPr lang="en-US" sz="22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Avoid names (</a:t>
            </a:r>
            <a:r>
              <a:rPr lang="en-US" sz="2200" i="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except for motions &amp; seconds</a:t>
            </a:r>
            <a:r>
              <a:rPr lang="en-US" sz="22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)</a:t>
            </a:r>
          </a:p>
          <a:p>
            <a:pPr>
              <a:defRPr/>
            </a:pPr>
            <a:r>
              <a:rPr lang="en-US" sz="22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Refer to other documents in an appendix, don’t include them in the minutes</a:t>
            </a:r>
          </a:p>
          <a:p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09195B8-DB40-B151-116A-7DF8589B92C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65522" y="1825625"/>
            <a:ext cx="2568147" cy="21671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31178695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947400" cy="1325563"/>
          </a:xfrm>
        </p:spPr>
        <p:txBody>
          <a:bodyPr/>
          <a:lstStyle/>
          <a:p>
            <a:r>
              <a:rPr lang="en-GB" b="1" dirty="0">
                <a:solidFill>
                  <a:schemeClr val="accent5"/>
                </a:solidFill>
              </a:rPr>
              <a:t>How To Run a Business Meeting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41000" cy="4351338"/>
          </a:xfrm>
        </p:spPr>
        <p:txBody>
          <a:bodyPr>
            <a:normAutofit/>
          </a:bodyPr>
          <a:lstStyle/>
          <a:p>
            <a:pPr marL="114300" indent="0">
              <a:lnSpc>
                <a:spcPct val="110000"/>
              </a:lnSpc>
              <a:spcBef>
                <a:spcPts val="0"/>
              </a:spcBef>
              <a:buNone/>
            </a:pPr>
            <a:endParaRPr lang="en-GB" sz="2400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8200" y="1825625"/>
            <a:ext cx="4560647" cy="549275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A68C65FD-6599-3C3D-E42E-745208FFED3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13965" y="1961615"/>
            <a:ext cx="2499682" cy="20396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15500558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AC29D4-07E1-CE28-1127-772B1A9BC8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b="1" dirty="0">
                <a:solidFill>
                  <a:schemeClr val="accent5"/>
                </a:solidFill>
              </a:rPr>
              <a:t>Meeting Management Vocabulary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C86FCCE-AC96-6C4A-EEEB-B8722B31711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157741A-8DED-FA62-4A7C-068851D1A7A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1823430"/>
            <a:ext cx="6592220" cy="43535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00169958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2" name="Google Shape;282;p25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lvl="0">
              <a:buClr>
                <a:schemeClr val="accent5"/>
              </a:buClr>
              <a:buSzPts val="4400"/>
            </a:pPr>
            <a:r>
              <a:rPr lang="en-US" b="1" dirty="0">
                <a:solidFill>
                  <a:schemeClr val="accent5"/>
                </a:solidFill>
                <a:latin typeface="Calibri"/>
                <a:ea typeface="Calibri"/>
                <a:cs typeface="Calibri"/>
                <a:sym typeface="Calibri"/>
              </a:rPr>
              <a:t>Role </a:t>
            </a:r>
            <a:r>
              <a:rPr lang="en-US" b="1" dirty="0">
                <a:solidFill>
                  <a:schemeClr val="accent5"/>
                </a:solidFill>
              </a:rPr>
              <a:t>Play: Business Information Briefing</a:t>
            </a:r>
            <a:endParaRPr b="1" dirty="0">
              <a:solidFill>
                <a:schemeClr val="accent5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3" name="Google Shape;283;p25"/>
          <p:cNvSpPr txBox="1">
            <a:spLocks noGrp="1"/>
          </p:cNvSpPr>
          <p:nvPr>
            <p:ph type="body" idx="1"/>
          </p:nvPr>
        </p:nvSpPr>
        <p:spPr>
          <a:xfrm>
            <a:off x="838199" y="1690688"/>
            <a:ext cx="11209639" cy="51673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960"/>
              <a:buNone/>
            </a:pPr>
            <a:r>
              <a:rPr lang="en-US" sz="2400" b="1" dirty="0">
                <a:solidFill>
                  <a:schemeClr val="accent5"/>
                </a:solidFill>
              </a:rPr>
              <a:t>SITUATION:  IMAGINE:</a:t>
            </a:r>
            <a:endParaRPr sz="2400" dirty="0"/>
          </a:p>
          <a:p>
            <a:pPr marL="228600" lvl="0" indent="-228600">
              <a:lnSpc>
                <a:spcPct val="100000"/>
              </a:lnSpc>
              <a:spcBef>
                <a:spcPts val="0"/>
              </a:spcBef>
              <a:buSzPts val="1960"/>
            </a:pPr>
            <a:r>
              <a:rPr lang="en-US" sz="2400" dirty="0"/>
              <a:t>You are a team of business consultants working for Mahidol University.</a:t>
            </a:r>
          </a:p>
          <a:p>
            <a:pPr marL="228600" lvl="0" indent="-228600">
              <a:lnSpc>
                <a:spcPct val="100000"/>
              </a:lnSpc>
              <a:spcBef>
                <a:spcPts val="0"/>
              </a:spcBef>
              <a:buSzPts val="1960"/>
            </a:pPr>
            <a:r>
              <a:rPr lang="en-US" sz="2400" dirty="0"/>
              <a:t>University management has identified a problem and asked your consultancy to investigate it.</a:t>
            </a:r>
          </a:p>
          <a:p>
            <a:pPr marL="228600" lvl="0" indent="-228600">
              <a:lnSpc>
                <a:spcPct val="100000"/>
              </a:lnSpc>
              <a:spcBef>
                <a:spcPts val="0"/>
              </a:spcBef>
              <a:buSzPts val="1960"/>
            </a:pPr>
            <a:endParaRPr lang="en-US" sz="2400" dirty="0"/>
          </a:p>
          <a:p>
            <a:pPr marL="0" lvl="0" indent="0">
              <a:lnSpc>
                <a:spcPct val="100000"/>
              </a:lnSpc>
              <a:spcBef>
                <a:spcPts val="0"/>
              </a:spcBef>
              <a:buSzPts val="1960"/>
              <a:buNone/>
            </a:pPr>
            <a:r>
              <a:rPr lang="en-US" sz="2400" b="1" dirty="0">
                <a:solidFill>
                  <a:schemeClr val="accent5"/>
                </a:solidFill>
              </a:rPr>
              <a:t>Audience: </a:t>
            </a:r>
            <a:r>
              <a:rPr lang="en-US" sz="2400" dirty="0"/>
              <a:t>University management</a:t>
            </a:r>
          </a:p>
          <a:p>
            <a:pPr marL="228600" lvl="0" indent="-228600">
              <a:lnSpc>
                <a:spcPct val="100000"/>
              </a:lnSpc>
              <a:spcBef>
                <a:spcPts val="0"/>
              </a:spcBef>
              <a:buSzPts val="1960"/>
            </a:pPr>
            <a:endParaRPr lang="en-US" sz="2400" dirty="0"/>
          </a:p>
          <a:p>
            <a:pPr marL="0" lvl="0" indent="0">
              <a:lnSpc>
                <a:spcPct val="100000"/>
              </a:lnSpc>
              <a:spcBef>
                <a:spcPts val="0"/>
              </a:spcBef>
              <a:buSzPts val="1960"/>
              <a:buNone/>
            </a:pPr>
            <a:r>
              <a:rPr lang="en-US" sz="2400" b="1" dirty="0">
                <a:solidFill>
                  <a:schemeClr val="accent5"/>
                </a:solidFill>
              </a:rPr>
              <a:t>Purpose: </a:t>
            </a:r>
            <a:r>
              <a:rPr lang="en-US" sz="2400" dirty="0"/>
              <a:t>Find out what students think and experience, identify the most important findings, and report them to management.</a:t>
            </a:r>
          </a:p>
          <a:p>
            <a:pPr marL="228600" lvl="0" indent="-228600">
              <a:lnSpc>
                <a:spcPct val="100000"/>
              </a:lnSpc>
              <a:spcBef>
                <a:spcPts val="0"/>
              </a:spcBef>
              <a:buSzPts val="1960"/>
            </a:pPr>
            <a:endParaRPr lang="en-US" sz="2400" dirty="0"/>
          </a:p>
          <a:p>
            <a:pPr marL="0" lvl="0" indent="0">
              <a:lnSpc>
                <a:spcPct val="100000"/>
              </a:lnSpc>
              <a:spcBef>
                <a:spcPts val="0"/>
              </a:spcBef>
              <a:buSzPts val="1960"/>
              <a:buNone/>
            </a:pPr>
            <a:r>
              <a:rPr lang="en-US" sz="2400" b="1" dirty="0">
                <a:solidFill>
                  <a:schemeClr val="accent5"/>
                </a:solidFill>
              </a:rPr>
              <a:t>Important</a:t>
            </a:r>
            <a:r>
              <a:rPr lang="en-US" sz="2400" dirty="0">
                <a:solidFill>
                  <a:schemeClr val="accent5"/>
                </a:solidFill>
              </a:rPr>
              <a:t>: </a:t>
            </a:r>
            <a:r>
              <a:rPr lang="en-US" sz="2400" dirty="0"/>
              <a:t>Your consultancy investigates the problem. You do not provide solutions or recommendations.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C8382853-8BD2-F8D3-C0B8-BB620BCC965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43018" y="5799015"/>
            <a:ext cx="4677428" cy="523948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A9EFF395-4691-CE04-7C78-D82E8367C15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297692" y="877331"/>
            <a:ext cx="1645508" cy="15198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0751420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EE9D982-AA54-2983-6EB4-2E7EC0E776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4F5495-AD52-2D08-BC63-B0AA82F8F1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chemeClr val="accent5"/>
                </a:solidFill>
              </a:rPr>
              <a:t>Consultancy Groups: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F365001-4957-386F-0BC4-2DDE5AFAA51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4"/>
            <a:ext cx="11353800" cy="4930776"/>
          </a:xfrm>
        </p:spPr>
        <p:txBody>
          <a:bodyPr>
            <a:noAutofit/>
          </a:bodyPr>
          <a:lstStyle/>
          <a:p>
            <a:pPr marL="114300" indent="0">
              <a:spcAft>
                <a:spcPts val="600"/>
              </a:spcAft>
              <a:buNone/>
              <a:defRPr sz="1900"/>
            </a:pPr>
            <a:r>
              <a:rPr lang="en-US" sz="1800" b="1" dirty="0"/>
              <a:t>Today, your consultancy will get ready for the investigation.</a:t>
            </a:r>
          </a:p>
          <a:p>
            <a:pPr marL="114300" indent="0">
              <a:spcAft>
                <a:spcPts val="600"/>
              </a:spcAft>
              <a:buNone/>
              <a:defRPr sz="1900"/>
            </a:pPr>
            <a:r>
              <a:rPr lang="en-US" sz="1800" dirty="0"/>
              <a:t>1. Form your group of 3–4 people.</a:t>
            </a:r>
          </a:p>
          <a:p>
            <a:pPr marL="114300" indent="0">
              <a:spcAft>
                <a:spcPts val="600"/>
              </a:spcAft>
              <a:buNone/>
              <a:defRPr sz="1900"/>
            </a:pPr>
            <a:r>
              <a:rPr lang="en-US" sz="1800" dirty="0"/>
              <a:t>2. Choose ONE of the 3 situations.</a:t>
            </a:r>
          </a:p>
          <a:p>
            <a:pPr marL="114300" indent="0">
              <a:spcAft>
                <a:spcPts val="600"/>
              </a:spcAft>
              <a:buNone/>
              <a:defRPr sz="1900"/>
            </a:pPr>
            <a:r>
              <a:rPr lang="en-US" sz="1800" dirty="0"/>
              <a:t>3. Agree on group-work roles and responsibilities.</a:t>
            </a:r>
          </a:p>
          <a:p>
            <a:pPr marL="114300" indent="0">
              <a:spcAft>
                <a:spcPts val="600"/>
              </a:spcAft>
              <a:buNone/>
              <a:defRPr sz="1900"/>
            </a:pPr>
            <a:r>
              <a:rPr lang="en-US" sz="1800" dirty="0"/>
              <a:t>4. Set up your communication channel.</a:t>
            </a:r>
          </a:p>
          <a:p>
            <a:pPr marL="114300" indent="0">
              <a:spcAft>
                <a:spcPts val="600"/>
              </a:spcAft>
              <a:buNone/>
              <a:defRPr sz="1900"/>
            </a:pPr>
            <a:r>
              <a:rPr lang="en-US" sz="1800" dirty="0"/>
              <a:t>5. Share your work/study availability.</a:t>
            </a:r>
          </a:p>
          <a:p>
            <a:pPr marL="114300" indent="0">
              <a:spcAft>
                <a:spcPts val="600"/>
              </a:spcAft>
              <a:buNone/>
              <a:defRPr sz="1900"/>
            </a:pPr>
            <a:r>
              <a:rPr lang="en-US" sz="1800" dirty="0"/>
              <a:t>6. Decide when you will hold your assessed team meeting.</a:t>
            </a:r>
          </a:p>
          <a:p>
            <a:pPr marL="114300" indent="0">
              <a:spcAft>
                <a:spcPts val="600"/>
              </a:spcAft>
              <a:buNone/>
              <a:defRPr sz="1900"/>
            </a:pPr>
            <a:r>
              <a:rPr lang="en-US" sz="1800" dirty="0"/>
              <a:t>7. Review the project instructions before the meeting.</a:t>
            </a:r>
          </a:p>
          <a:p>
            <a:pPr marL="114300" indent="0">
              <a:spcAft>
                <a:spcPts val="600"/>
              </a:spcAft>
              <a:buNone/>
              <a:defRPr sz="1900"/>
            </a:pPr>
            <a:r>
              <a:rPr lang="en-US" sz="1800" dirty="0"/>
              <a:t>8. Start preparing information and possible questionnaire questions for your meeting</a:t>
            </a:r>
          </a:p>
          <a:p>
            <a:pPr marL="114300" indent="0">
              <a:spcAft>
                <a:spcPts val="600"/>
              </a:spcAft>
              <a:buNone/>
              <a:defRPr sz="1900"/>
            </a:pPr>
            <a:endParaRPr lang="en-US" sz="1800" dirty="0"/>
          </a:p>
          <a:p>
            <a:pPr marL="114300" indent="0">
              <a:spcAft>
                <a:spcPts val="600"/>
              </a:spcAft>
              <a:buNone/>
              <a:defRPr sz="1900"/>
            </a:pPr>
            <a:r>
              <a:rPr lang="en-US" sz="1800" b="1" dirty="0"/>
              <a:t>Your goal today: Be ready to plan and conduct you online meeting outside of class.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endParaRPr lang="en-US" sz="24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2EA840C-4D09-FBAA-86D6-5C022ED751E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80414" y="5935974"/>
            <a:ext cx="4915586" cy="447737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A5AD30B2-B501-3609-A6F9-3F1B4318F37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58647" y="939112"/>
            <a:ext cx="2259227" cy="20759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1841290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chemeClr val="accent5"/>
                </a:solidFill>
              </a:rPr>
              <a:t>Consultancy Groups: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3"/>
            <a:ext cx="11353800" cy="5032377"/>
          </a:xfrm>
        </p:spPr>
        <p:txBody>
          <a:bodyPr>
            <a:noAutofit/>
          </a:bodyPr>
          <a:lstStyle/>
          <a:p>
            <a:pPr marL="114300" indent="0">
              <a:spcAft>
                <a:spcPts val="600"/>
              </a:spcAft>
              <a:buNone/>
              <a:defRPr sz="1900"/>
            </a:pPr>
            <a:r>
              <a:rPr lang="en-US" sz="1600" b="1" dirty="0"/>
              <a:t>Choose ONE situation. </a:t>
            </a:r>
          </a:p>
          <a:p>
            <a:pPr marL="114300" indent="0">
              <a:spcAft>
                <a:spcPts val="600"/>
              </a:spcAft>
              <a:buNone/>
              <a:defRPr sz="1900"/>
            </a:pPr>
            <a:r>
              <a:rPr lang="en-US" sz="1600" dirty="0"/>
              <a:t>You need to collect information on this issue before reporting your findings.</a:t>
            </a:r>
          </a:p>
          <a:p>
            <a:pPr>
              <a:spcAft>
                <a:spcPts val="600"/>
              </a:spcAft>
              <a:defRPr sz="1900"/>
            </a:pPr>
            <a:r>
              <a:rPr lang="en-US" sz="1600" dirty="0"/>
              <a:t>Situation 1: Group Project Problems</a:t>
            </a:r>
          </a:p>
          <a:p>
            <a:pPr lvl="1">
              <a:spcAft>
                <a:spcPts val="200"/>
              </a:spcAft>
              <a:defRPr sz="1600"/>
            </a:pPr>
            <a:r>
              <a:rPr lang="en-US" sz="1600" dirty="0"/>
              <a:t>What problems do students experience when working in groups?</a:t>
            </a:r>
          </a:p>
          <a:p>
            <a:pPr lvl="1">
              <a:spcAft>
                <a:spcPts val="200"/>
              </a:spcAft>
              <a:defRPr sz="1600"/>
            </a:pPr>
            <a:r>
              <a:rPr lang="en-US" sz="1600" dirty="0"/>
              <a:t>How often do these problems occur?</a:t>
            </a:r>
          </a:p>
          <a:p>
            <a:pPr lvl="1">
              <a:spcAft>
                <a:spcPts val="200"/>
              </a:spcAft>
              <a:defRPr sz="1600"/>
            </a:pPr>
            <a:r>
              <a:rPr lang="en-US" sz="1600" dirty="0"/>
              <a:t>What do students think about group projects?</a:t>
            </a:r>
          </a:p>
          <a:p>
            <a:pPr>
              <a:spcAft>
                <a:spcPts val="600"/>
              </a:spcAft>
              <a:defRPr sz="1900"/>
            </a:pPr>
            <a:r>
              <a:rPr lang="en-US" sz="1600" dirty="0"/>
              <a:t>Situation 2: Campus Study Space Problems</a:t>
            </a:r>
          </a:p>
          <a:p>
            <a:pPr lvl="1">
              <a:spcAft>
                <a:spcPts val="200"/>
              </a:spcAft>
              <a:defRPr sz="1600"/>
            </a:pPr>
            <a:r>
              <a:rPr lang="en-US" sz="1600" dirty="0"/>
              <a:t>What problems do students experience when looking for study spaces?</a:t>
            </a:r>
          </a:p>
          <a:p>
            <a:pPr lvl="1">
              <a:spcAft>
                <a:spcPts val="200"/>
              </a:spcAft>
              <a:defRPr sz="1600"/>
            </a:pPr>
            <a:r>
              <a:rPr lang="en-US" sz="1600" dirty="0"/>
              <a:t>When do these problems occur?</a:t>
            </a:r>
          </a:p>
          <a:p>
            <a:pPr lvl="1">
              <a:spcAft>
                <a:spcPts val="200"/>
              </a:spcAft>
              <a:defRPr sz="1600"/>
            </a:pPr>
            <a:r>
              <a:rPr lang="en-US" sz="1600" dirty="0"/>
              <a:t>How do students feel about the current study spaces?</a:t>
            </a:r>
          </a:p>
          <a:p>
            <a:pPr>
              <a:spcAft>
                <a:spcPts val="600"/>
              </a:spcAft>
              <a:defRPr sz="1900"/>
            </a:pPr>
            <a:r>
              <a:rPr lang="en-US" sz="1600" dirty="0"/>
              <a:t>Situation 3: University Technology Problems</a:t>
            </a:r>
          </a:p>
          <a:p>
            <a:pPr lvl="1">
              <a:spcAft>
                <a:spcPts val="200"/>
              </a:spcAft>
              <a:defRPr sz="1600"/>
            </a:pPr>
            <a:r>
              <a:rPr lang="en-US" sz="1600" dirty="0"/>
              <a:t>What technology problems do students experience?</a:t>
            </a:r>
          </a:p>
          <a:p>
            <a:pPr lvl="1">
              <a:spcAft>
                <a:spcPts val="200"/>
              </a:spcAft>
              <a:defRPr sz="1600"/>
            </a:pPr>
            <a:r>
              <a:rPr lang="en-US" sz="1600" dirty="0"/>
              <a:t>How often do these problems occur?</a:t>
            </a:r>
          </a:p>
          <a:p>
            <a:pPr lvl="1">
              <a:spcAft>
                <a:spcPts val="200"/>
              </a:spcAft>
              <a:defRPr sz="1600"/>
            </a:pPr>
            <a:r>
              <a:rPr lang="en-US" sz="1600" dirty="0"/>
              <a:t>How do these problems affect students?</a:t>
            </a:r>
            <a:endParaRPr lang="en-US" sz="18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E14C346-B00A-7623-C39D-713986059EE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80171" y="1353065"/>
            <a:ext cx="2259227" cy="20759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6263157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F2C9A6-141D-70C2-1952-545314D71C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chemeClr val="accent5"/>
                </a:solidFill>
              </a:rPr>
              <a:t>Questionnaire Design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C6C98DE-BFCD-3D26-3F2E-9BDEAD505BE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14300">
              <a:spcAft>
                <a:spcPts val="600"/>
              </a:spcAft>
              <a:defRPr sz="1900"/>
            </a:pPr>
            <a:r>
              <a:rPr lang="en-US" dirty="0"/>
              <a:t>Start with What You Need to Know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E4BADED-F52F-643E-5503-AFE3770002C0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pPr>
              <a:spcAft>
                <a:spcPts val="600"/>
              </a:spcAft>
              <a:defRPr sz="1900"/>
            </a:pPr>
            <a:r>
              <a:rPr lang="en-US" dirty="0"/>
              <a:t>Start with the investigation purpose </a:t>
            </a:r>
          </a:p>
          <a:p>
            <a:pPr>
              <a:spcAft>
                <a:spcPts val="600"/>
              </a:spcAft>
              <a:defRPr sz="1900"/>
            </a:pPr>
            <a:r>
              <a:rPr lang="en-US" dirty="0"/>
              <a:t>Put important questions early</a:t>
            </a:r>
          </a:p>
          <a:p>
            <a:pPr>
              <a:spcAft>
                <a:spcPts val="600"/>
              </a:spcAft>
              <a:defRPr sz="1900"/>
            </a:pPr>
            <a:r>
              <a:rPr lang="en-US" dirty="0"/>
              <a:t>Ask only for information you need and will use </a:t>
            </a:r>
          </a:p>
          <a:p>
            <a:pPr>
              <a:spcAft>
                <a:spcPts val="600"/>
              </a:spcAft>
              <a:defRPr sz="1900"/>
            </a:pPr>
            <a:r>
              <a:rPr lang="en-US" dirty="0"/>
              <a:t>Make sure questions will support your later analysis</a:t>
            </a:r>
          </a:p>
          <a:p>
            <a:pPr>
              <a:spcAft>
                <a:spcPts val="600"/>
              </a:spcAft>
              <a:defRPr sz="1900"/>
            </a:pPr>
            <a:r>
              <a:rPr lang="en-US" dirty="0"/>
              <a:t>Use open questions when you need explanation</a:t>
            </a:r>
          </a:p>
          <a:p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B9479A4-A72C-A21C-987D-B6B051C3CD2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 marL="114300">
              <a:spcAft>
                <a:spcPts val="600"/>
              </a:spcAft>
              <a:defRPr sz="1900"/>
            </a:pPr>
            <a:r>
              <a:rPr lang="en-US" dirty="0"/>
              <a:t>Write Clear, Useful Questions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D641382-2D5F-5C19-EFD4-581E1F70A906}"/>
              </a:ext>
            </a:extLst>
          </p:cNvPr>
          <p:cNvSpPr>
            <a:spLocks noGrp="1"/>
          </p:cNvSpPr>
          <p:nvPr>
            <p:ph sz="quarter" idx="4"/>
          </p:nvPr>
        </p:nvSpPr>
        <p:spPr/>
        <p:txBody>
          <a:bodyPr/>
          <a:lstStyle/>
          <a:p>
            <a:pPr>
              <a:spcAft>
                <a:spcPts val="600"/>
              </a:spcAft>
              <a:defRPr sz="1900"/>
            </a:pPr>
            <a:r>
              <a:rPr lang="en-US" dirty="0"/>
              <a:t>Use simple, direct language </a:t>
            </a:r>
          </a:p>
          <a:p>
            <a:pPr>
              <a:spcAft>
                <a:spcPts val="600"/>
              </a:spcAft>
              <a:defRPr sz="1900"/>
            </a:pPr>
            <a:r>
              <a:rPr lang="en-US" dirty="0"/>
              <a:t>Ask one thing at a time </a:t>
            </a:r>
          </a:p>
          <a:p>
            <a:pPr>
              <a:spcAft>
                <a:spcPts val="600"/>
              </a:spcAft>
              <a:defRPr sz="1900"/>
            </a:pPr>
            <a:r>
              <a:rPr lang="en-US" dirty="0"/>
              <a:t>Do not suggest the answer in  your questions</a:t>
            </a:r>
          </a:p>
          <a:p>
            <a:pPr>
              <a:spcAft>
                <a:spcPts val="600"/>
              </a:spcAft>
              <a:defRPr sz="1900"/>
            </a:pPr>
            <a:r>
              <a:rPr lang="en-US" dirty="0"/>
              <a:t>Make response options appropriate and non-overlapping</a:t>
            </a:r>
          </a:p>
          <a:p>
            <a:pPr marL="50800" indent="0">
              <a:buNone/>
            </a:pPr>
            <a:endParaRPr lang="en-US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C00696DA-386D-7D5C-2AB2-E3CE94E5691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67616" y="4684503"/>
            <a:ext cx="4039164" cy="1505160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139D1D12-DA3D-5B8B-DCEC-C09C1CB9FD8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386581" y="365125"/>
            <a:ext cx="2254642" cy="19152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81676104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0581643-07EC-6CE8-ECB0-5DDEF4A406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7732D0-0CA3-4307-E754-0B0C3C95EA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chemeClr val="accent5"/>
                </a:solidFill>
              </a:rPr>
              <a:t>Business Briefing Deliverables for Next Week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51B5929-2C57-E2D5-E3CA-5E1F006335A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19100" y="1553775"/>
            <a:ext cx="11353800" cy="5118873"/>
          </a:xfrm>
        </p:spPr>
        <p:txBody>
          <a:bodyPr>
            <a:noAutofit/>
          </a:bodyPr>
          <a:lstStyle/>
          <a:p>
            <a:pPr marL="114300" indent="0">
              <a:spcAft>
                <a:spcPts val="600"/>
              </a:spcAft>
              <a:buNone/>
              <a:defRPr sz="1900"/>
            </a:pPr>
            <a:r>
              <a:rPr lang="en-US" sz="2400" b="1" dirty="0"/>
              <a:t>Your assessed team meeting takes place outside class and must be recorded.</a:t>
            </a:r>
          </a:p>
          <a:p>
            <a:pPr marL="114300" indent="0">
              <a:spcAft>
                <a:spcPts val="600"/>
              </a:spcAft>
              <a:buNone/>
              <a:defRPr sz="1900"/>
            </a:pPr>
            <a:endParaRPr lang="en-US" sz="2400" b="1" dirty="0"/>
          </a:p>
          <a:p>
            <a:pPr marL="114300" indent="0">
              <a:spcAft>
                <a:spcPts val="600"/>
              </a:spcAft>
              <a:buNone/>
              <a:defRPr sz="1900"/>
            </a:pPr>
            <a:r>
              <a:rPr lang="en-US" sz="2400" b="1" dirty="0"/>
              <a:t>Next week you should submit the following through the progress update email to the CEO:</a:t>
            </a:r>
          </a:p>
          <a:p>
            <a:pPr lvl="0">
              <a:buFont typeface="+mj-lt"/>
              <a:buAutoNum type="arabicPeriod"/>
            </a:pPr>
            <a:r>
              <a:rPr lang="en-US" sz="2400" dirty="0"/>
              <a:t>Team Meeting Recording </a:t>
            </a:r>
          </a:p>
          <a:p>
            <a:pPr lvl="0">
              <a:buFont typeface="+mj-lt"/>
              <a:buAutoNum type="arabicPeriod"/>
            </a:pPr>
            <a:r>
              <a:rPr lang="en-US" sz="2400" dirty="0"/>
              <a:t>Meeting Minutes </a:t>
            </a:r>
          </a:p>
          <a:p>
            <a:pPr lvl="0">
              <a:buFont typeface="+mj-lt"/>
              <a:buAutoNum type="arabicPeriod"/>
            </a:pPr>
            <a:r>
              <a:rPr lang="en-US" sz="2400" dirty="0"/>
              <a:t>Final Questionnaire </a:t>
            </a:r>
          </a:p>
          <a:p>
            <a:pPr lvl="0">
              <a:buFont typeface="+mj-lt"/>
              <a:buAutoNum type="arabicPeriod"/>
            </a:pPr>
            <a:r>
              <a:rPr lang="en-US" sz="2400" dirty="0"/>
              <a:t>15–20 Questionnaire Responses </a:t>
            </a:r>
          </a:p>
          <a:p>
            <a:pPr lvl="0">
              <a:buFont typeface="+mj-lt"/>
              <a:buAutoNum type="arabicPeriod"/>
            </a:pPr>
            <a:r>
              <a:rPr lang="en-US" sz="2400" dirty="0"/>
              <a:t>Progress Update to the CEO</a:t>
            </a:r>
          </a:p>
        </p:txBody>
      </p:sp>
    </p:spTree>
    <p:extLst>
      <p:ext uri="{BB962C8B-B14F-4D97-AF65-F5344CB8AC3E}">
        <p14:creationId xmlns:p14="http://schemas.microsoft.com/office/powerpoint/2010/main" val="228628277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AE6E21C-36B2-443D-AF8C-966E3B4595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C4A5D9-6DF9-1200-280F-6AFC7D9379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chemeClr val="accent5"/>
                </a:solidFill>
              </a:rPr>
              <a:t>Lesson Recap: Key Takeaways 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8F73D29-AD9A-1D54-C8CC-9D9CCDD845B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4"/>
            <a:ext cx="11353800" cy="4667252"/>
          </a:xfrm>
        </p:spPr>
        <p:txBody>
          <a:bodyPr>
            <a:noAutofit/>
          </a:bodyPr>
          <a:lstStyle/>
          <a:p>
            <a:pPr lvl="0"/>
            <a:r>
              <a:rPr lang="en-US" sz="2000" b="1" dirty="0"/>
              <a:t>Consultation</a:t>
            </a:r>
            <a:r>
              <a:rPr lang="en-US" sz="2000" dirty="0"/>
              <a:t>: Consultants provide advice and expertise to help address a business problem </a:t>
            </a:r>
          </a:p>
          <a:p>
            <a:pPr lvl="0"/>
            <a:r>
              <a:rPr lang="en-US" sz="2000" b="1" dirty="0"/>
              <a:t>Business Meetings</a:t>
            </a:r>
            <a:r>
              <a:rPr lang="en-US" sz="2000" dirty="0"/>
              <a:t>: Meetings help teams share information, make decisions, and coordinate work </a:t>
            </a:r>
          </a:p>
          <a:p>
            <a:pPr lvl="0"/>
            <a:r>
              <a:rPr lang="en-US" sz="2000" b="1" dirty="0"/>
              <a:t>Meeting Management</a:t>
            </a:r>
            <a:r>
              <a:rPr lang="en-US" sz="2000" dirty="0"/>
              <a:t>: Effective meetings require preparation, clear management, and follow-up </a:t>
            </a:r>
          </a:p>
          <a:p>
            <a:pPr lvl="0"/>
            <a:r>
              <a:rPr lang="en-US" sz="2000" b="1" dirty="0"/>
              <a:t>Agendas</a:t>
            </a:r>
            <a:r>
              <a:rPr lang="en-US" sz="2000" dirty="0"/>
              <a:t>: A good agenda gives a meeting a clear purpose, structure, and expected outcomes </a:t>
            </a:r>
          </a:p>
          <a:p>
            <a:pPr lvl="0"/>
            <a:r>
              <a:rPr lang="en-US" sz="2000" b="1" dirty="0"/>
              <a:t>Meeting Minutes</a:t>
            </a:r>
            <a:r>
              <a:rPr lang="en-US" sz="2000" dirty="0"/>
              <a:t>: Good minutes record important discussion, decisions, responsibilities, and next steps </a:t>
            </a:r>
          </a:p>
          <a:p>
            <a:pPr lvl="0"/>
            <a:r>
              <a:rPr lang="en-US" sz="2000" b="1" dirty="0"/>
              <a:t>Action Items</a:t>
            </a:r>
            <a:r>
              <a:rPr lang="en-US" sz="2000" dirty="0"/>
              <a:t>: Clear action items identify the task that needs to be completed, the responsible person, and the deadline </a:t>
            </a:r>
          </a:p>
          <a:p>
            <a:pPr lvl="0"/>
            <a:r>
              <a:rPr lang="en-US" sz="2000" b="1" dirty="0"/>
              <a:t>Professional Teamwork</a:t>
            </a:r>
            <a:r>
              <a:rPr lang="en-US" sz="2000" dirty="0"/>
              <a:t>: Effective teams communicate clearly, participate actively, and follow through on responsibilities</a:t>
            </a:r>
            <a:endParaRPr lang="en-US" sz="2000" b="1" dirty="0"/>
          </a:p>
          <a:p>
            <a:pPr marL="114300" indent="0">
              <a:spcAft>
                <a:spcPts val="600"/>
              </a:spcAft>
              <a:buNone/>
              <a:defRPr sz="1900"/>
            </a:pPr>
            <a:r>
              <a:rPr lang="en-US" sz="2000" b="1" dirty="0"/>
              <a:t>Good consultants need more than good ideas. They need to communicate clearly, manage meetings effectively, and work professionally as a team.</a:t>
            </a:r>
          </a:p>
        </p:txBody>
      </p:sp>
    </p:spTree>
    <p:extLst>
      <p:ext uri="{BB962C8B-B14F-4D97-AF65-F5344CB8AC3E}">
        <p14:creationId xmlns:p14="http://schemas.microsoft.com/office/powerpoint/2010/main" val="70084843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Google Shape;235;p24"/>
          <p:cNvSpPr txBox="1">
            <a:spLocks noGrp="1"/>
          </p:cNvSpPr>
          <p:nvPr>
            <p:ph type="title"/>
          </p:nvPr>
        </p:nvSpPr>
        <p:spPr>
          <a:xfrm>
            <a:off x="808722" y="2153266"/>
            <a:ext cx="10519678" cy="41094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ct val="100000"/>
              <a:buFont typeface="Calibri"/>
              <a:buNone/>
            </a:pPr>
            <a:r>
              <a:rPr lang="en-US" sz="3600" b="1" dirty="0">
                <a:solidFill>
                  <a:schemeClr val="tx1"/>
                </a:solidFill>
                <a:latin typeface="Calibri"/>
                <a:ea typeface="Calibri"/>
                <a:cs typeface="Calibri"/>
                <a:sym typeface="Calibri"/>
              </a:rPr>
              <a:t>Congratulations </a:t>
            </a:r>
            <a:r>
              <a:rPr lang="en-US" sz="3600" b="1" dirty="0">
                <a:latin typeface="Calibri"/>
                <a:ea typeface="Calibri"/>
                <a:cs typeface="Calibri"/>
                <a:sym typeface="Calibri"/>
              </a:rPr>
              <a:t>on surviving another class</a:t>
            </a:r>
            <a:br>
              <a:rPr lang="en-US" sz="3600" b="1" dirty="0">
                <a:solidFill>
                  <a:schemeClr val="accent5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lang="en-US" sz="3600" b="1" dirty="0">
                <a:solidFill>
                  <a:schemeClr val="accent5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3600" b="1" dirty="0">
                <a:solidFill>
                  <a:schemeClr val="accent5"/>
                </a:solidFill>
                <a:latin typeface="Calibri"/>
                <a:ea typeface="Calibri"/>
                <a:cs typeface="Calibri"/>
                <a:sym typeface="Calibri"/>
              </a:rPr>
              <a:t>THANK YOU </a:t>
            </a:r>
            <a:r>
              <a:rPr lang="en-US" sz="3600" b="1" dirty="0">
                <a:latin typeface="Calibri"/>
                <a:ea typeface="Calibri"/>
                <a:cs typeface="Calibri"/>
                <a:sym typeface="Calibri"/>
              </a:rPr>
              <a:t>for your participation today</a:t>
            </a:r>
            <a:br>
              <a:rPr lang="en-US" sz="4400" b="1" dirty="0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lang="en-US" sz="4400" b="1" dirty="0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lang="en-US" sz="3000" b="1" dirty="0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3000" b="1" dirty="0">
                <a:latin typeface="Calibri"/>
                <a:ea typeface="Calibri"/>
                <a:cs typeface="Calibri"/>
                <a:sym typeface="Calibri"/>
              </a:rPr>
              <a:t>Have a great week everyone!</a:t>
            </a:r>
            <a:br>
              <a:rPr lang="en-US" sz="3000" b="1" dirty="0">
                <a:latin typeface="Calibri"/>
                <a:ea typeface="Calibri"/>
                <a:cs typeface="Calibri"/>
                <a:sym typeface="Calibri"/>
              </a:rPr>
            </a:br>
            <a:br>
              <a:rPr lang="en-US" sz="3000" b="1" dirty="0">
                <a:latin typeface="Calibri"/>
                <a:ea typeface="Calibri"/>
                <a:cs typeface="Calibri"/>
                <a:sym typeface="Calibri"/>
              </a:rPr>
            </a:br>
            <a:r>
              <a:rPr lang="en-US" sz="3000" b="1" dirty="0">
                <a:latin typeface="Calibri"/>
                <a:ea typeface="Calibri"/>
                <a:cs typeface="Calibri"/>
                <a:sym typeface="Calibri"/>
              </a:rPr>
              <a:t>See you next week</a:t>
            </a:r>
            <a:br>
              <a:rPr lang="en-US" sz="3000" b="1" dirty="0">
                <a:latin typeface="Calibri"/>
                <a:ea typeface="Calibri"/>
                <a:cs typeface="Calibri"/>
                <a:sym typeface="Calibri"/>
              </a:rPr>
            </a:br>
            <a:r>
              <a:rPr lang="en-US" sz="3000" b="1" dirty="0">
                <a:latin typeface="Calibri"/>
                <a:ea typeface="Calibri"/>
                <a:cs typeface="Calibri"/>
                <a:sym typeface="Calibri"/>
              </a:rPr>
              <a:t>Until then, Take Care &amp; Stay Safe</a:t>
            </a:r>
            <a:endParaRPr sz="3000" b="1" dirty="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6" name="Google Shape;236;p24"/>
          <p:cNvSpPr txBox="1"/>
          <p:nvPr/>
        </p:nvSpPr>
        <p:spPr>
          <a:xfrm>
            <a:off x="808722" y="408341"/>
            <a:ext cx="78867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4400"/>
              <a:buFont typeface="Calibri"/>
              <a:buNone/>
            </a:pPr>
            <a:r>
              <a:rPr lang="en-US" sz="4400" b="1">
                <a:solidFill>
                  <a:schemeClr val="accent5"/>
                </a:solidFill>
                <a:latin typeface="Calibri"/>
                <a:ea typeface="Calibri"/>
                <a:cs typeface="Calibri"/>
                <a:sym typeface="Calibri"/>
              </a:rPr>
              <a:t>Finally….</a:t>
            </a:r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5" grpId="0"/>
    </p:bldLst>
  </p:timing>
</p:sld>
</file>

<file path=ppt/theme/theme1.xml><?xml version="1.0" encoding="utf-8"?>
<a:theme xmlns:a="http://schemas.openxmlformats.org/drawingml/2006/main" name="Office Theme">
  <a:themeElements>
    <a:clrScheme name="Office Them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2112</TotalTime>
  <Words>1669</Words>
  <Application>Microsoft Office PowerPoint</Application>
  <PresentationFormat>Widescreen</PresentationFormat>
  <Paragraphs>278</Paragraphs>
  <Slides>31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31</vt:i4>
      </vt:variant>
    </vt:vector>
  </HeadingPairs>
  <TitlesOfParts>
    <vt:vector size="35" baseType="lpstr">
      <vt:lpstr>Arial</vt:lpstr>
      <vt:lpstr>Calibri</vt:lpstr>
      <vt:lpstr>Wingdings</vt:lpstr>
      <vt:lpstr>Office Theme</vt:lpstr>
      <vt:lpstr>ITLG311 - Business Communication</vt:lpstr>
      <vt:lpstr>Previously:</vt:lpstr>
      <vt:lpstr>This Week:</vt:lpstr>
      <vt:lpstr>Resources</vt:lpstr>
      <vt:lpstr>Additional Vocabulary for Today</vt:lpstr>
      <vt:lpstr>PowerPoint Presentation</vt:lpstr>
      <vt:lpstr>PowerPoint Presentation</vt:lpstr>
      <vt:lpstr>Vocab:</vt:lpstr>
      <vt:lpstr>Vocab:</vt:lpstr>
      <vt:lpstr>1. Who or What is a Consultant?</vt:lpstr>
      <vt:lpstr>So, What Do Consultants DO?</vt:lpstr>
      <vt:lpstr>Discuss:</vt:lpstr>
      <vt:lpstr>Meetings Definition</vt:lpstr>
      <vt:lpstr>Types of Meetings</vt:lpstr>
      <vt:lpstr>Types of Meetings</vt:lpstr>
      <vt:lpstr>Why do we have meetings?</vt:lpstr>
      <vt:lpstr>Problems with meetings</vt:lpstr>
      <vt:lpstr>Decisions:  Successful Meetings</vt:lpstr>
      <vt:lpstr>Meeting Management: Pro Tips</vt:lpstr>
      <vt:lpstr>Before: Creating an Agenda</vt:lpstr>
      <vt:lpstr>During: Taking Notes</vt:lpstr>
      <vt:lpstr>After: Meeting Minutes</vt:lpstr>
      <vt:lpstr>How To Run a Business Meeting</vt:lpstr>
      <vt:lpstr>Meeting Management Vocabulary</vt:lpstr>
      <vt:lpstr>Role Play: Business Information Briefing</vt:lpstr>
      <vt:lpstr>Consultancy Groups:</vt:lpstr>
      <vt:lpstr>Consultancy Groups:</vt:lpstr>
      <vt:lpstr>Questionnaire Design</vt:lpstr>
      <vt:lpstr>Business Briefing Deliverables for Next Week</vt:lpstr>
      <vt:lpstr>Lesson Recap: Key Takeaways </vt:lpstr>
      <vt:lpstr>Congratulations on surviving another class  THANK YOU for your participation today   Have a great week everyone!  See you next week Until then, Take Care &amp; Stay Safe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ITLG301 - Business Writing</dc:title>
  <dc:creator>MUICT</dc:creator>
  <cp:lastModifiedBy>martin willemse</cp:lastModifiedBy>
  <cp:revision>78</cp:revision>
  <cp:lastPrinted>2024-08-14T07:19:40Z</cp:lastPrinted>
  <dcterms:created xsi:type="dcterms:W3CDTF">2018-08-21T03:27:20Z</dcterms:created>
  <dcterms:modified xsi:type="dcterms:W3CDTF">2026-09-07T10:00:00Z</dcterms:modified>
</cp:coreProperties>
</file>