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handoutMasterIdLst>
    <p:handoutMasterId r:id="rId41"/>
  </p:handoutMasterIdLst>
  <p:sldIdLst>
    <p:sldId id="256" r:id="rId2"/>
    <p:sldId id="258" r:id="rId3"/>
    <p:sldId id="306" r:id="rId4"/>
    <p:sldId id="280" r:id="rId5"/>
    <p:sldId id="301" r:id="rId6"/>
    <p:sldId id="260" r:id="rId7"/>
    <p:sldId id="289" r:id="rId8"/>
    <p:sldId id="291" r:id="rId9"/>
    <p:sldId id="290" r:id="rId10"/>
    <p:sldId id="292" r:id="rId11"/>
    <p:sldId id="281" r:id="rId12"/>
    <p:sldId id="262" r:id="rId13"/>
    <p:sldId id="263" r:id="rId14"/>
    <p:sldId id="293" r:id="rId15"/>
    <p:sldId id="265" r:id="rId16"/>
    <p:sldId id="283" r:id="rId17"/>
    <p:sldId id="284" r:id="rId18"/>
    <p:sldId id="296" r:id="rId19"/>
    <p:sldId id="269" r:id="rId20"/>
    <p:sldId id="270" r:id="rId21"/>
    <p:sldId id="271" r:id="rId22"/>
    <p:sldId id="295" r:id="rId23"/>
    <p:sldId id="294" r:id="rId24"/>
    <p:sldId id="297" r:id="rId25"/>
    <p:sldId id="272" r:id="rId26"/>
    <p:sldId id="286" r:id="rId27"/>
    <p:sldId id="287" r:id="rId28"/>
    <p:sldId id="273" r:id="rId29"/>
    <p:sldId id="274" r:id="rId30"/>
    <p:sldId id="275" r:id="rId31"/>
    <p:sldId id="276" r:id="rId32"/>
    <p:sldId id="277" r:id="rId33"/>
    <p:sldId id="288" r:id="rId34"/>
    <p:sldId id="302" r:id="rId35"/>
    <p:sldId id="303" r:id="rId36"/>
    <p:sldId id="304" r:id="rId37"/>
    <p:sldId id="305" r:id="rId38"/>
    <p:sldId id="279" r:id="rId39"/>
  </p:sldIdLst>
  <p:sldSz cx="12192000" cy="6858000"/>
  <p:notesSz cx="9926638" cy="67976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jSCHeoZCtWExpjhyH3NR7XLlC4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71622" autoAdjust="0"/>
  </p:normalViewPr>
  <p:slideViewPr>
    <p:cSldViewPr snapToGrid="0">
      <p:cViewPr varScale="1">
        <p:scale>
          <a:sx n="30" d="100"/>
          <a:sy n="30" d="100"/>
        </p:scale>
        <p:origin x="136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413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2925" y="0"/>
            <a:ext cx="4302125" cy="341313"/>
          </a:xfrm>
          <a:prstGeom prst="rect">
            <a:avLst/>
          </a:prstGeom>
        </p:spPr>
        <p:txBody>
          <a:bodyPr vert="horz" lIns="91440" tIns="45720" rIns="91440" bIns="45720" rtlCol="0"/>
          <a:lstStyle>
            <a:lvl1pPr algn="r">
              <a:defRPr sz="1200"/>
            </a:lvl1pPr>
          </a:lstStyle>
          <a:p>
            <a:fld id="{CD4DE614-5192-4850-9082-B83B51ED06C9}" type="datetimeFigureOut">
              <a:rPr lang="en-US" smtClean="0"/>
              <a:t>7/30/2026</a:t>
            </a:fld>
            <a:endParaRPr lang="en-US"/>
          </a:p>
        </p:txBody>
      </p:sp>
      <p:sp>
        <p:nvSpPr>
          <p:cNvPr id="4" name="Footer Placeholder 3"/>
          <p:cNvSpPr>
            <a:spLocks noGrp="1"/>
          </p:cNvSpPr>
          <p:nvPr>
            <p:ph type="ftr" sz="quarter" idx="2"/>
          </p:nvPr>
        </p:nvSpPr>
        <p:spPr>
          <a:xfrm>
            <a:off x="0" y="6456363"/>
            <a:ext cx="4302125" cy="3413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2925" y="6456363"/>
            <a:ext cx="4302125" cy="341312"/>
          </a:xfrm>
          <a:prstGeom prst="rect">
            <a:avLst/>
          </a:prstGeom>
        </p:spPr>
        <p:txBody>
          <a:bodyPr vert="horz" lIns="91440" tIns="45720" rIns="91440" bIns="45720" rtlCol="0" anchor="b"/>
          <a:lstStyle>
            <a:lvl1pPr algn="r">
              <a:defRPr sz="1200"/>
            </a:lvl1pPr>
          </a:lstStyle>
          <a:p>
            <a:fld id="{3E3E138A-DF68-4C8F-8392-DB2546251147}" type="slidenum">
              <a:rPr lang="en-US" smtClean="0"/>
              <a:t>‹#›</a:t>
            </a:fld>
            <a:endParaRPr lang="en-US"/>
          </a:p>
        </p:txBody>
      </p:sp>
    </p:spTree>
    <p:extLst>
      <p:ext uri="{BB962C8B-B14F-4D97-AF65-F5344CB8AC3E}">
        <p14:creationId xmlns:p14="http://schemas.microsoft.com/office/powerpoint/2010/main" val="149264211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29.326"/>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95 15 24575,'0'0'0,"-6"0"0,-10 0 0,-20-7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30.018"/>
    </inkml:context>
    <inkml:brush xml:id="br0">
      <inkml:brushProperty name="width" value="0.05" units="cm"/>
      <inkml:brushProperty name="height" value="0.05" units="cm"/>
      <inkml:brushProperty name="color" value="#AE198D"/>
      <inkml:brushProperty name="inkEffects" value="galaxy"/>
      <inkml:brushProperty name="anchorX" value="1110.4801"/>
      <inkml:brushProperty name="anchorY" value="1030.59607"/>
      <inkml:brushProperty name="scaleFactor" value="0.5"/>
    </inkml:brush>
  </inkml:definitions>
  <inkml:trace contextRef="#ctx0" brushRef="#br0">1 1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30.400"/>
    </inkml:context>
    <inkml:brush xml:id="br0">
      <inkml:brushProperty name="width" value="0.05" units="cm"/>
      <inkml:brushProperty name="height" value="0.05" units="cm"/>
      <inkml:brushProperty name="color" value="#AE198D"/>
      <inkml:brushProperty name="inkEffects" value="galaxy"/>
      <inkml:brushProperty name="anchorX" value="94.48003"/>
      <inkml:brushProperty name="anchorY" value="14.59601"/>
      <inkml:brushProperty name="scaleFactor" value="0.5"/>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30.863"/>
    </inkml:context>
    <inkml:brush xml:id="br0">
      <inkml:brushProperty name="width" value="0.05" units="cm"/>
      <inkml:brushProperty name="height" value="0.05" units="cm"/>
      <inkml:brushProperty name="color" value="#AE198D"/>
      <inkml:brushProperty name="inkEffects" value="galaxy"/>
      <inkml:brushProperty name="anchorX" value="-921.52002"/>
      <inkml:brushProperty name="anchorY" value="-1001.40399"/>
      <inkml:brushProperty name="scaleFactor" value="0.5"/>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31.347"/>
    </inkml:context>
    <inkml:brush xml:id="br0">
      <inkml:brushProperty name="width" value="0.05" units="cm"/>
      <inkml:brushProperty name="height" value="0.05" units="cm"/>
      <inkml:brushProperty name="color" value="#AE198D"/>
      <inkml:brushProperty name="inkEffects" value="galaxy"/>
      <inkml:brushProperty name="anchorX" value="-1937.52014"/>
      <inkml:brushProperty name="anchorY" value="-2017.40417"/>
      <inkml:brushProperty name="scaleFactor" value="0.5"/>
    </inkml:brush>
  </inkml:definitions>
  <inkml:trace contextRef="#ctx0" brushRef="#br0">1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31.743"/>
    </inkml:context>
    <inkml:brush xml:id="br0">
      <inkml:brushProperty name="width" value="0.05" units="cm"/>
      <inkml:brushProperty name="height" value="0.05" units="cm"/>
      <inkml:brushProperty name="color" value="#AE198D"/>
      <inkml:brushProperty name="inkEffects" value="galaxy"/>
      <inkml:brushProperty name="anchorX" value="-2953.52026"/>
      <inkml:brushProperty name="anchorY" value="-3033.40405"/>
      <inkml:brushProperty name="scaleFactor" value="0.5"/>
    </inkml:brush>
  </inkml:definitions>
  <inkml:trace contextRef="#ctx0" brushRef="#br0">1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48.189"/>
    </inkml:context>
    <inkml:brush xml:id="br0">
      <inkml:brushProperty name="width" value="0.05" units="cm"/>
      <inkml:brushProperty name="height" value="0.05" units="cm"/>
      <inkml:brushProperty name="color" value="#AE198D"/>
      <inkml:brushProperty name="inkEffects" value="galaxy"/>
      <inkml:brushProperty name="anchorX" value="-9625.68457"/>
      <inkml:brushProperty name="anchorY" value="-10466.03906"/>
      <inkml:brushProperty name="scaleFactor" value="0.5"/>
    </inkml:brush>
  </inkml:definitions>
  <inkml:trace contextRef="#ctx0" brushRef="#br0">1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48.840"/>
    </inkml:context>
    <inkml:brush xml:id="br0">
      <inkml:brushProperty name="width" value="0.05" units="cm"/>
      <inkml:brushProperty name="height" value="0.05" units="cm"/>
      <inkml:brushProperty name="color" value="#AE198D"/>
      <inkml:brushProperty name="inkEffects" value="galaxy"/>
      <inkml:brushProperty name="anchorX" value="-10641.68457"/>
      <inkml:brushProperty name="anchorY" value="-11482.03809"/>
      <inkml:brushProperty name="scaleFactor" value="0.5"/>
    </inkml:brush>
  </inkml:definitions>
  <inkml:trace contextRef="#ctx0" brushRef="#br0">0 0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4T06:15:51.952"/>
    </inkml:context>
    <inkml:brush xml:id="br0">
      <inkml:brushProperty name="width" value="0.05" units="cm"/>
      <inkml:brushProperty name="height" value="0.05" units="cm"/>
      <inkml:brushProperty name="color" value="#AE198D"/>
      <inkml:brushProperty name="inkEffects" value="galaxy"/>
      <inkml:brushProperty name="anchorX" value="-11657.68457"/>
      <inkml:brushProperty name="anchorY" value="-12498.03809"/>
      <inkml:brushProperty name="scaleFactor" value="0.5"/>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54750" y="509825"/>
            <a:ext cx="6618075" cy="2549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2312" cy="25495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FD31D1-4A77-4D83-87D7-B5B265649ACC}" type="slidenum">
              <a:rPr lang="en-US" smtClean="0"/>
              <a:t>5</a:t>
            </a:fld>
            <a:endParaRPr lang="en-US"/>
          </a:p>
        </p:txBody>
      </p:sp>
    </p:spTree>
    <p:extLst>
      <p:ext uri="{BB962C8B-B14F-4D97-AF65-F5344CB8AC3E}">
        <p14:creationId xmlns:p14="http://schemas.microsoft.com/office/powerpoint/2010/main" val="3685368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 this as a jumping off point</a:t>
            </a:r>
          </a:p>
          <a:p>
            <a:pPr marL="0" lvl="0" indent="0" algn="l" rtl="0">
              <a:spcBef>
                <a:spcPts val="0"/>
              </a:spcBef>
              <a:spcAft>
                <a:spcPts val="0"/>
              </a:spcAft>
              <a:buNone/>
            </a:pPr>
            <a:r>
              <a:rPr lang="en-US" dirty="0"/>
              <a:t>Following slides answer each question in further detail</a:t>
            </a:r>
            <a:endParaRPr dirty="0"/>
          </a:p>
        </p:txBody>
      </p:sp>
      <p:sp>
        <p:nvSpPr>
          <p:cNvPr id="107" name="Google Shape;107;p5: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1: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a:t>Refer to Syllabus</a:t>
            </a:r>
            <a:endParaRPr b="1"/>
          </a:p>
        </p:txBody>
      </p:sp>
      <p:sp>
        <p:nvSpPr>
          <p:cNvPr id="106" name="Google Shape;106;p11: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8: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Maybe highlight the words internally and externally.</a:t>
            </a:r>
          </a:p>
          <a:p>
            <a:pPr marL="0" lvl="0" indent="0" algn="l" rtl="0">
              <a:lnSpc>
                <a:spcPct val="100000"/>
              </a:lnSpc>
              <a:spcBef>
                <a:spcPts val="0"/>
              </a:spcBef>
              <a:spcAft>
                <a:spcPts val="0"/>
              </a:spcAft>
              <a:buSzPts val="1100"/>
              <a:buNone/>
            </a:pPr>
            <a:r>
              <a:rPr lang="en-US" dirty="0"/>
              <a:t>Also link effective communication to improved clarity, collaboration and stronger relationships in the workplace </a:t>
            </a:r>
          </a:p>
          <a:p>
            <a:pPr marL="0" lvl="0" indent="0" algn="l" rtl="0">
              <a:lnSpc>
                <a:spcPct val="100000"/>
              </a:lnSpc>
              <a:spcBef>
                <a:spcPts val="0"/>
              </a:spcBef>
              <a:spcAft>
                <a:spcPts val="0"/>
              </a:spcAft>
              <a:buSzPts val="1100"/>
              <a:buNone/>
            </a:pPr>
            <a:endParaRPr dirty="0"/>
          </a:p>
        </p:txBody>
      </p:sp>
      <p:sp>
        <p:nvSpPr>
          <p:cNvPr id="120" name="Google Shape;120;p6: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39: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9: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2312" cy="2549525"/>
          </a:xfrm>
        </p:spPr>
      </p:sp>
      <p:sp>
        <p:nvSpPr>
          <p:cNvPr id="3" name="Notes Placeholder 2"/>
          <p:cNvSpPr>
            <a:spLocks noGrp="1"/>
          </p:cNvSpPr>
          <p:nvPr>
            <p:ph type="body" idx="1"/>
          </p:nvPr>
        </p:nvSpPr>
        <p:spPr/>
        <p:txBody>
          <a:bodyPr/>
          <a:lstStyle/>
          <a:p>
            <a:pPr marL="158750" indent="0">
              <a:buNone/>
            </a:pPr>
            <a:r>
              <a:rPr lang="en-US" dirty="0"/>
              <a:t>List as many as you can think of….. </a:t>
            </a:r>
          </a:p>
          <a:p>
            <a:endParaRPr lang="en-US" dirty="0"/>
          </a:p>
          <a:p>
            <a:pPr marL="158750" indent="0">
              <a:buNone/>
            </a:pPr>
            <a:r>
              <a:rPr lang="en-US" b="1" dirty="0"/>
              <a:t>Formats:</a:t>
            </a:r>
          </a:p>
          <a:p>
            <a:r>
              <a:rPr lang="en-US" dirty="0"/>
              <a:t>Face to Face/Email/Formal Business Meetings/Social Media/Team Messaging</a:t>
            </a:r>
          </a:p>
          <a:p>
            <a:pPr marL="158750" indent="0">
              <a:buNone/>
            </a:pPr>
            <a:endParaRPr lang="en-US" dirty="0"/>
          </a:p>
          <a:p>
            <a:pPr marL="158750" indent="0">
              <a:buNone/>
            </a:pPr>
            <a:r>
              <a:rPr lang="en-US" b="1" dirty="0"/>
              <a:t>Functions:</a:t>
            </a:r>
          </a:p>
          <a:p>
            <a:r>
              <a:rPr lang="en-US" dirty="0"/>
              <a:t>Requesting/Providing</a:t>
            </a:r>
            <a:r>
              <a:rPr lang="en-US" baseline="0" dirty="0"/>
              <a:t> – information or tangible objects</a:t>
            </a:r>
          </a:p>
          <a:p>
            <a:r>
              <a:rPr lang="en-US" baseline="0" dirty="0"/>
              <a:t>Complaining/Apologizing – quality of standards/service/experience</a:t>
            </a:r>
          </a:p>
          <a:p>
            <a:r>
              <a:rPr lang="en-US" baseline="0" dirty="0"/>
              <a:t>Replying: confirmation or acceptance/rejection</a:t>
            </a:r>
          </a:p>
          <a:p>
            <a:endParaRPr lang="en-US" baseline="0" dirty="0"/>
          </a:p>
          <a:p>
            <a:pPr marL="158750" indent="0">
              <a:buNone/>
            </a:pPr>
            <a:r>
              <a:rPr lang="en-US" b="1" baseline="0" dirty="0"/>
              <a:t>Main Message:</a:t>
            </a:r>
          </a:p>
          <a:p>
            <a:r>
              <a:rPr lang="en-US" dirty="0"/>
              <a:t>Informational</a:t>
            </a:r>
          </a:p>
          <a:p>
            <a:r>
              <a:rPr lang="en-US" dirty="0"/>
              <a:t>Instructional</a:t>
            </a:r>
          </a:p>
          <a:p>
            <a:r>
              <a:rPr lang="en-US" dirty="0"/>
              <a:t>Persuasive</a:t>
            </a:r>
          </a:p>
          <a:p>
            <a:r>
              <a:rPr lang="en-US" dirty="0"/>
              <a:t>Transactional</a:t>
            </a:r>
          </a:p>
          <a:p>
            <a:endParaRPr lang="en-US" dirty="0"/>
          </a:p>
          <a:p>
            <a:pPr marL="158750" lvl="0" indent="0" algn="l" rtl="0">
              <a:lnSpc>
                <a:spcPct val="100000"/>
              </a:lnSpc>
              <a:spcBef>
                <a:spcPts val="0"/>
              </a:spcBef>
              <a:spcAft>
                <a:spcPts val="0"/>
              </a:spcAft>
              <a:buSzPts val="1100"/>
              <a:buNone/>
            </a:pPr>
            <a:r>
              <a:rPr lang="en-US" b="1" dirty="0"/>
              <a:t>Situations Include: </a:t>
            </a:r>
          </a:p>
          <a:p>
            <a:pPr marL="457200" lvl="0" indent="-298450" algn="l" rtl="0">
              <a:lnSpc>
                <a:spcPct val="100000"/>
              </a:lnSpc>
              <a:spcBef>
                <a:spcPts val="0"/>
              </a:spcBef>
              <a:spcAft>
                <a:spcPts val="0"/>
              </a:spcAft>
              <a:buSzPts val="1100"/>
            </a:pPr>
            <a:r>
              <a:rPr lang="en-US" dirty="0"/>
              <a:t>Reporting a software bug </a:t>
            </a:r>
          </a:p>
          <a:p>
            <a:pPr marL="457200" lvl="0" indent="-298450" algn="l" rtl="0">
              <a:lnSpc>
                <a:spcPct val="100000"/>
              </a:lnSpc>
              <a:spcBef>
                <a:spcPts val="0"/>
              </a:spcBef>
              <a:spcAft>
                <a:spcPts val="0"/>
              </a:spcAft>
              <a:buSzPts val="1100"/>
            </a:pPr>
            <a:r>
              <a:rPr lang="en-US" dirty="0"/>
              <a:t>Responding to a customer inquiry </a:t>
            </a:r>
          </a:p>
          <a:p>
            <a:pPr marL="457200" lvl="0" indent="-298450" algn="l" rtl="0">
              <a:lnSpc>
                <a:spcPct val="100000"/>
              </a:lnSpc>
              <a:spcBef>
                <a:spcPts val="0"/>
              </a:spcBef>
              <a:spcAft>
                <a:spcPts val="0"/>
              </a:spcAft>
              <a:buSzPts val="1100"/>
            </a:pPr>
            <a:r>
              <a:rPr lang="en-US" dirty="0"/>
              <a:t>Responding to a customer complaint </a:t>
            </a:r>
          </a:p>
          <a:p>
            <a:pPr marL="457200" lvl="0" indent="-298450" algn="l" rtl="0">
              <a:lnSpc>
                <a:spcPct val="100000"/>
              </a:lnSpc>
              <a:spcBef>
                <a:spcPts val="0"/>
              </a:spcBef>
              <a:spcAft>
                <a:spcPts val="0"/>
              </a:spcAft>
              <a:buSzPts val="1100"/>
            </a:pPr>
            <a:r>
              <a:rPr lang="en-US" dirty="0"/>
              <a:t>Requesting technical support </a:t>
            </a:r>
          </a:p>
          <a:p>
            <a:pPr marL="457200" lvl="0" indent="-298450" algn="l" rtl="0">
              <a:lnSpc>
                <a:spcPct val="100000"/>
              </a:lnSpc>
              <a:spcBef>
                <a:spcPts val="0"/>
              </a:spcBef>
              <a:spcAft>
                <a:spcPts val="0"/>
              </a:spcAft>
              <a:buSzPts val="1100"/>
            </a:pPr>
            <a:r>
              <a:rPr lang="en-US" dirty="0"/>
              <a:t>Announcing scheduled system maintenance </a:t>
            </a:r>
          </a:p>
          <a:p>
            <a:pPr marL="457200" lvl="0" indent="-298450" algn="l" rtl="0">
              <a:lnSpc>
                <a:spcPct val="100000"/>
              </a:lnSpc>
              <a:spcBef>
                <a:spcPts val="0"/>
              </a:spcBef>
              <a:spcAft>
                <a:spcPts val="0"/>
              </a:spcAft>
              <a:buSzPts val="1100"/>
            </a:pPr>
            <a:r>
              <a:rPr lang="en-US" dirty="0"/>
              <a:t>Providing a project progress update </a:t>
            </a:r>
          </a:p>
          <a:p>
            <a:pPr marL="457200" lvl="0" indent="-298450" algn="l" rtl="0">
              <a:lnSpc>
                <a:spcPct val="100000"/>
              </a:lnSpc>
              <a:spcBef>
                <a:spcPts val="0"/>
              </a:spcBef>
              <a:spcAft>
                <a:spcPts val="0"/>
              </a:spcAft>
              <a:buSzPts val="1100"/>
            </a:pPr>
            <a:r>
              <a:rPr lang="en-US" dirty="0"/>
              <a:t>Scheduling or inviting colleagues to a meeting </a:t>
            </a:r>
          </a:p>
          <a:p>
            <a:pPr marL="457200" lvl="0" indent="-298450" algn="l" rtl="0">
              <a:lnSpc>
                <a:spcPct val="100000"/>
              </a:lnSpc>
              <a:spcBef>
                <a:spcPts val="0"/>
              </a:spcBef>
              <a:spcAft>
                <a:spcPts val="0"/>
              </a:spcAft>
              <a:buSzPts val="1100"/>
            </a:pPr>
            <a:r>
              <a:rPr lang="en-US" dirty="0"/>
              <a:t>Explaining a technical issue to a client Requesting information or clarification </a:t>
            </a:r>
          </a:p>
          <a:p>
            <a:pPr marL="457200" lvl="0" indent="-298450" algn="l" rtl="0">
              <a:lnSpc>
                <a:spcPct val="100000"/>
              </a:lnSpc>
              <a:spcBef>
                <a:spcPts val="0"/>
              </a:spcBef>
              <a:spcAft>
                <a:spcPts val="0"/>
              </a:spcAft>
              <a:buSzPts val="1100"/>
            </a:pPr>
            <a:r>
              <a:rPr lang="en-US" dirty="0"/>
              <a:t>Giving instructions or assigning tasks </a:t>
            </a:r>
          </a:p>
          <a:p>
            <a:pPr marL="457200" lvl="0" indent="-298450" algn="l" rtl="0">
              <a:lnSpc>
                <a:spcPct val="100000"/>
              </a:lnSpc>
              <a:spcBef>
                <a:spcPts val="0"/>
              </a:spcBef>
              <a:spcAft>
                <a:spcPts val="0"/>
              </a:spcAft>
              <a:buSzPts val="1100"/>
            </a:pPr>
            <a:r>
              <a:rPr lang="en-US" dirty="0"/>
              <a:t>Reporting a cybersecurity or system incident </a:t>
            </a:r>
          </a:p>
          <a:p>
            <a:pPr marL="457200" lvl="0" indent="-298450" algn="l" rtl="0">
              <a:lnSpc>
                <a:spcPct val="100000"/>
              </a:lnSpc>
              <a:spcBef>
                <a:spcPts val="0"/>
              </a:spcBef>
              <a:spcAft>
                <a:spcPts val="0"/>
              </a:spcAft>
              <a:buSzPts val="1100"/>
            </a:pPr>
            <a:r>
              <a:rPr lang="en-US" dirty="0"/>
              <a:t>Requesting approval for a project or purchase </a:t>
            </a:r>
          </a:p>
          <a:p>
            <a:pPr marL="457200" lvl="0" indent="-298450" algn="l" rtl="0">
              <a:lnSpc>
                <a:spcPct val="100000"/>
              </a:lnSpc>
              <a:spcBef>
                <a:spcPts val="0"/>
              </a:spcBef>
              <a:spcAft>
                <a:spcPts val="0"/>
              </a:spcAft>
              <a:buSzPts val="1100"/>
            </a:pPr>
            <a:r>
              <a:rPr lang="en-US" dirty="0"/>
              <a:t>Sharing meeting minutes or decisions </a:t>
            </a:r>
          </a:p>
          <a:p>
            <a:pPr marL="457200" lvl="0" indent="-298450" algn="l" rtl="0">
              <a:lnSpc>
                <a:spcPct val="100000"/>
              </a:lnSpc>
              <a:spcBef>
                <a:spcPts val="0"/>
              </a:spcBef>
              <a:spcAft>
                <a:spcPts val="0"/>
              </a:spcAft>
              <a:buSzPts val="1100"/>
            </a:pPr>
            <a:r>
              <a:rPr lang="en-US" dirty="0"/>
              <a:t>Explaining a project delay or unexpected problem </a:t>
            </a:r>
            <a:endParaRPr lang="en-US" b="1" dirty="0"/>
          </a:p>
          <a:p>
            <a:pPr marL="158750" indent="0">
              <a:buNone/>
            </a:pPr>
            <a:endParaRPr lang="en-US" dirty="0"/>
          </a:p>
        </p:txBody>
      </p:sp>
    </p:spTree>
    <p:extLst>
      <p:ext uri="{BB962C8B-B14F-4D97-AF65-F5344CB8AC3E}">
        <p14:creationId xmlns:p14="http://schemas.microsoft.com/office/powerpoint/2010/main" val="4040280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9: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2312" cy="2549525"/>
          </a:xfrm>
        </p:spPr>
      </p:sp>
      <p:sp>
        <p:nvSpPr>
          <p:cNvPr id="3" name="Notes Placeholder 2"/>
          <p:cNvSpPr>
            <a:spLocks noGrp="1"/>
          </p:cNvSpPr>
          <p:nvPr>
            <p:ph type="body" idx="1"/>
          </p:nvPr>
        </p:nvSpPr>
        <p:spPr/>
        <p:txBody>
          <a:bodyPr/>
          <a:lstStyle/>
          <a:p>
            <a:pPr marL="158750" indent="0">
              <a:buNone/>
            </a:pPr>
            <a:r>
              <a:rPr lang="en-US" dirty="0"/>
              <a:t>List as many as possible known media/platforms</a:t>
            </a:r>
          </a:p>
          <a:p>
            <a:r>
              <a:rPr lang="en-US" dirty="0"/>
              <a:t>General Written Communication</a:t>
            </a:r>
          </a:p>
          <a:p>
            <a:r>
              <a:rPr lang="en-US" dirty="0"/>
              <a:t>Email/Memo</a:t>
            </a:r>
          </a:p>
          <a:p>
            <a:r>
              <a:rPr lang="en-US" dirty="0"/>
              <a:t>TV</a:t>
            </a:r>
          </a:p>
          <a:p>
            <a:r>
              <a:rPr lang="en-US" dirty="0"/>
              <a:t>Advertising</a:t>
            </a:r>
          </a:p>
          <a:p>
            <a:r>
              <a:rPr lang="en-US" dirty="0"/>
              <a:t>Telephone Calls</a:t>
            </a:r>
          </a:p>
          <a:p>
            <a:r>
              <a:rPr lang="en-US" dirty="0"/>
              <a:t>Chat/Messaging Apps</a:t>
            </a:r>
          </a:p>
          <a:p>
            <a:r>
              <a:rPr lang="en-US" dirty="0"/>
              <a:t>Meeting Management</a:t>
            </a:r>
          </a:p>
          <a:p>
            <a:r>
              <a:rPr lang="en-US" dirty="0"/>
              <a:t>Social Media – Twitter/X, Facebook, LinkedIn, Instagram</a:t>
            </a:r>
          </a:p>
          <a:p>
            <a:r>
              <a:rPr lang="en-US" dirty="0"/>
              <a:t>Slack</a:t>
            </a:r>
          </a:p>
          <a:p>
            <a:r>
              <a:rPr lang="en-US" dirty="0"/>
              <a:t>MS Teams</a:t>
            </a:r>
          </a:p>
          <a:p>
            <a:r>
              <a:rPr lang="en-US" dirty="0"/>
              <a:t>Websites</a:t>
            </a:r>
          </a:p>
          <a:p>
            <a:r>
              <a:rPr lang="en-US" dirty="0"/>
              <a:t>Posters, Brochures,</a:t>
            </a:r>
            <a:r>
              <a:rPr lang="en-US" baseline="0" dirty="0"/>
              <a:t> Leaflets</a:t>
            </a:r>
          </a:p>
          <a:p>
            <a:endParaRPr lang="en-US" baseline="0" dirty="0"/>
          </a:p>
          <a:p>
            <a:pPr marL="158750" indent="0">
              <a:buNone/>
            </a:pPr>
            <a:r>
              <a:rPr lang="en-US" baseline="0" dirty="0"/>
              <a:t>See next pages for list and clear focus</a:t>
            </a:r>
            <a:endParaRPr lang="en-US" dirty="0"/>
          </a:p>
        </p:txBody>
      </p:sp>
    </p:spTree>
    <p:extLst>
      <p:ext uri="{BB962C8B-B14F-4D97-AF65-F5344CB8AC3E}">
        <p14:creationId xmlns:p14="http://schemas.microsoft.com/office/powerpoint/2010/main" val="3322452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377CC12-BC1C-0673-9DBD-E647CA948265}"/>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21B440E3-4EE0-9F52-0775-870B7926A257}"/>
              </a:ext>
            </a:extLst>
          </p:cNvPr>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1F613460-AB69-227D-8BD0-2ED23256781D}"/>
              </a:ext>
            </a:extLst>
          </p:cNvPr>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7038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7" name="Google Shape;177;p15: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6: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2: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4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2: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Intelligent Style Guide</a:t>
            </a:r>
            <a:endParaRPr dirty="0"/>
          </a:p>
          <a:p>
            <a:pPr marL="0" lvl="0" indent="0" algn="l" rtl="0">
              <a:lnSpc>
                <a:spcPct val="100000"/>
              </a:lnSpc>
              <a:spcBef>
                <a:spcPts val="0"/>
              </a:spcBef>
              <a:spcAft>
                <a:spcPts val="0"/>
              </a:spcAft>
              <a:buSzPts val="1100"/>
              <a:buNone/>
            </a:pPr>
            <a:r>
              <a:rPr lang="en-US" dirty="0"/>
              <a:t>Fundamental Business Vocab – Glossary of Terms</a:t>
            </a:r>
            <a:endParaRPr dirty="0"/>
          </a:p>
          <a:p>
            <a:pPr marL="0" lvl="0" indent="0" algn="l" rtl="0">
              <a:lnSpc>
                <a:spcPct val="100000"/>
              </a:lnSpc>
              <a:spcBef>
                <a:spcPts val="0"/>
              </a:spcBef>
              <a:spcAft>
                <a:spcPts val="0"/>
              </a:spcAft>
              <a:buSzPts val="1100"/>
              <a:buNone/>
            </a:pPr>
            <a:r>
              <a:rPr lang="en-US" dirty="0"/>
              <a:t>Essential English Computer Terms</a:t>
            </a:r>
            <a:endParaRPr dirty="0"/>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US" b="1" dirty="0">
                <a:solidFill>
                  <a:srgbClr val="FF0000"/>
                </a:solidFill>
              </a:rPr>
              <a:t>STUDENTS WILL NEED TO KNOW </a:t>
            </a:r>
            <a:r>
              <a:rPr lang="en-US" dirty="0"/>
              <a:t>– This is content that will be included in MYCOURSES UNIT QUIZZES</a:t>
            </a:r>
            <a:endParaRPr dirty="0"/>
          </a:p>
        </p:txBody>
      </p:sp>
      <p:sp>
        <p:nvSpPr>
          <p:cNvPr id="165" name="Google Shape;165;p1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9EABD57-7438-7175-C724-C60FFBA56724}"/>
            </a:ext>
          </a:extLst>
        </p:cNvPr>
        <p:cNvGrpSpPr/>
        <p:nvPr/>
      </p:nvGrpSpPr>
      <p:grpSpPr>
        <a:xfrm>
          <a:off x="0" y="0"/>
          <a:ext cx="0" cy="0"/>
          <a:chOff x="0" y="0"/>
          <a:chExt cx="0" cy="0"/>
        </a:xfrm>
      </p:grpSpPr>
      <p:sp>
        <p:nvSpPr>
          <p:cNvPr id="171" name="Google Shape;171;p42:notes">
            <a:extLst>
              <a:ext uri="{FF2B5EF4-FFF2-40B4-BE49-F238E27FC236}">
                <a16:creationId xmlns:a16="http://schemas.microsoft.com/office/drawing/2014/main" id="{B25CC5BD-5FE9-4FB8-0640-E7722CF897CA}"/>
              </a:ext>
            </a:extLst>
          </p:cNvPr>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Highlight how word choice changes the effectiveness of business communication</a:t>
            </a:r>
            <a:endParaRPr dirty="0"/>
          </a:p>
        </p:txBody>
      </p:sp>
      <p:sp>
        <p:nvSpPr>
          <p:cNvPr id="172" name="Google Shape;172;p42:notes">
            <a:extLst>
              <a:ext uri="{FF2B5EF4-FFF2-40B4-BE49-F238E27FC236}">
                <a16:creationId xmlns:a16="http://schemas.microsoft.com/office/drawing/2014/main" id="{F855FC2D-A7BD-5FF4-E0E0-5059C2E9A6BC}"/>
              </a:ext>
            </a:extLst>
          </p:cNvPr>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2128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0" name="Google Shape;200;p19: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2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97163" y="509588"/>
            <a:ext cx="4532312" cy="2549525"/>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9566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4: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3" name="Google Shape;233;p2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4"/>
          <p:cNvSpPr>
            <a:spLocks noGrp="1"/>
          </p:cNvSpPr>
          <p:nvPr>
            <p:ph type="pic" idx="2"/>
          </p:nvPr>
        </p:nvSpPr>
        <p:spPr>
          <a:xfrm>
            <a:off x="5183188" y="987425"/>
            <a:ext cx="6172200" cy="4873625"/>
          </a:xfrm>
          <a:prstGeom prst="rect">
            <a:avLst/>
          </a:prstGeom>
          <a:noFill/>
          <a:ln>
            <a:noFill/>
          </a:ln>
        </p:spPr>
      </p:sp>
      <p:sp>
        <p:nvSpPr>
          <p:cNvPr id="64" name="Google Shape;64;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customXml" Target="../ink/ink6.xml"/><Relationship Id="rId18" Type="http://schemas.openxmlformats.org/officeDocument/2006/relationships/image" Target="../media/image29.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6.png"/><Relationship Id="rId17" Type="http://schemas.openxmlformats.org/officeDocument/2006/relationships/customXml" Target="../ink/ink8.xml"/><Relationship Id="rId2" Type="http://schemas.openxmlformats.org/officeDocument/2006/relationships/notesSlide" Target="../notesSlides/notesSlide29.xml"/><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25.png"/><Relationship Id="rId19" Type="http://schemas.openxmlformats.org/officeDocument/2006/relationships/customXml" Target="../ink/ink9.xml"/><Relationship Id="rId4" Type="http://schemas.openxmlformats.org/officeDocument/2006/relationships/image" Target="../media/image22.png"/><Relationship Id="rId9" Type="http://schemas.openxmlformats.org/officeDocument/2006/relationships/customXml" Target="../ink/ink4.xml"/><Relationship Id="rId14"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0" y="1122364"/>
            <a:ext cx="12192000" cy="13160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5"/>
              </a:buClr>
              <a:buSzPts val="6000"/>
              <a:buFont typeface="Calibri"/>
              <a:buNone/>
            </a:pPr>
            <a:r>
              <a:rPr lang="en-US" sz="6000" b="1" dirty="0">
                <a:solidFill>
                  <a:schemeClr val="accent5"/>
                </a:solidFill>
                <a:latin typeface="Calibri"/>
                <a:ea typeface="Calibri"/>
                <a:cs typeface="Calibri"/>
                <a:sym typeface="Calibri"/>
              </a:rPr>
              <a:t>ITLG311 - Business Communication</a:t>
            </a:r>
            <a:endParaRPr dirty="0"/>
          </a:p>
        </p:txBody>
      </p:sp>
      <p:sp>
        <p:nvSpPr>
          <p:cNvPr id="85" name="Google Shape;85;p1"/>
          <p:cNvSpPr txBox="1">
            <a:spLocks noGrp="1"/>
          </p:cNvSpPr>
          <p:nvPr>
            <p:ph type="subTitle" idx="1"/>
          </p:nvPr>
        </p:nvSpPr>
        <p:spPr>
          <a:xfrm>
            <a:off x="0" y="3353680"/>
            <a:ext cx="12192000" cy="165576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800"/>
              <a:buNone/>
            </a:pPr>
            <a:r>
              <a:rPr lang="en-US" sz="2800" b="1" dirty="0"/>
              <a:t>Faculty of ICT, </a:t>
            </a:r>
            <a:r>
              <a:rPr lang="en-US" sz="2800" b="1" dirty="0" err="1"/>
              <a:t>Mahidol</a:t>
            </a:r>
            <a:r>
              <a:rPr lang="en-US" sz="2800" b="1" dirty="0"/>
              <a:t> University</a:t>
            </a:r>
            <a:endParaRPr dirty="0"/>
          </a:p>
          <a:p>
            <a:pPr marL="0" lvl="0" indent="0" algn="ctr" rtl="0">
              <a:lnSpc>
                <a:spcPct val="90000"/>
              </a:lnSpc>
              <a:spcBef>
                <a:spcPts val="1000"/>
              </a:spcBef>
              <a:spcAft>
                <a:spcPts val="0"/>
              </a:spcAft>
              <a:buClr>
                <a:schemeClr val="dk1"/>
              </a:buClr>
              <a:buSzPts val="2800"/>
              <a:buNone/>
            </a:pPr>
            <a:r>
              <a:rPr lang="en-US" sz="2800" b="1" dirty="0"/>
              <a:t>Semester 1</a:t>
            </a:r>
            <a:r>
              <a:rPr lang="en-US" sz="2800" b="1"/>
              <a:t>, 2026/2027</a:t>
            </a:r>
            <a:endParaRPr dirty="0"/>
          </a:p>
          <a:p>
            <a:pPr marL="0" lvl="0" indent="0" algn="ctr" rtl="0">
              <a:lnSpc>
                <a:spcPct val="90000"/>
              </a:lnSpc>
              <a:spcBef>
                <a:spcPts val="1000"/>
              </a:spcBef>
              <a:spcAft>
                <a:spcPts val="0"/>
              </a:spcAft>
              <a:buClr>
                <a:schemeClr val="dk1"/>
              </a:buClr>
              <a:buSzPts val="2800"/>
              <a:buNone/>
            </a:pPr>
            <a:r>
              <a:rPr lang="en-US" sz="2800" b="1" dirty="0"/>
              <a:t>Session 01: Getting Started</a:t>
            </a:r>
          </a:p>
          <a:p>
            <a:pPr marL="0" lvl="0" indent="0" algn="ctr" rtl="0">
              <a:lnSpc>
                <a:spcPct val="90000"/>
              </a:lnSpc>
              <a:spcBef>
                <a:spcPts val="1000"/>
              </a:spcBef>
              <a:spcAft>
                <a:spcPts val="0"/>
              </a:spcAft>
              <a:buClr>
                <a:schemeClr val="dk1"/>
              </a:buClr>
              <a:buSzPts val="2800"/>
              <a:buNone/>
            </a:pPr>
            <a:endParaRPr lang="en-US" sz="2800" b="1" dirty="0"/>
          </a:p>
          <a:p>
            <a:pPr marL="0" lvl="0" indent="0" algn="ctr" rtl="0">
              <a:lnSpc>
                <a:spcPct val="90000"/>
              </a:lnSpc>
              <a:spcBef>
                <a:spcPts val="1000"/>
              </a:spcBef>
              <a:spcAft>
                <a:spcPts val="0"/>
              </a:spcAft>
              <a:buClr>
                <a:schemeClr val="dk1"/>
              </a:buClr>
              <a:buSzPts val="2800"/>
              <a:buNone/>
            </a:pPr>
            <a:r>
              <a:rPr lang="en-US" sz="2800" b="1" dirty="0">
                <a:solidFill>
                  <a:schemeClr val="accent5"/>
                </a:solidFill>
              </a:rPr>
              <a:t>UNIT 1: WHAT IS BUSINESS COMMUNICATION?</a:t>
            </a:r>
            <a:endParaRPr sz="2800" b="1" dirty="0">
              <a:solidFill>
                <a:schemeClr val="accent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800"/>
              <a:buFont typeface="Calibri"/>
              <a:buNone/>
            </a:pPr>
            <a:r>
              <a:rPr lang="en-US" b="1" dirty="0">
                <a:solidFill>
                  <a:schemeClr val="accent5"/>
                </a:solidFill>
                <a:latin typeface="Calibri"/>
                <a:ea typeface="Calibri"/>
                <a:cs typeface="Calibri"/>
                <a:sym typeface="Calibri"/>
              </a:rPr>
              <a:t>Course Resources:</a:t>
            </a:r>
            <a:endParaRPr sz="4000" dirty="0"/>
          </a:p>
        </p:txBody>
      </p:sp>
      <p:sp>
        <p:nvSpPr>
          <p:cNvPr id="97" name="Google Shape;97;p3"/>
          <p:cNvSpPr/>
          <p:nvPr/>
        </p:nvSpPr>
        <p:spPr>
          <a:xfrm>
            <a:off x="838200" y="1690688"/>
            <a:ext cx="9781674" cy="4062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dk1"/>
                </a:solidFill>
                <a:latin typeface="Calibri"/>
                <a:ea typeface="Calibri"/>
                <a:cs typeface="Calibri"/>
                <a:sym typeface="Calibri"/>
              </a:rPr>
              <a:t>MyCourses:</a:t>
            </a:r>
            <a:endParaRPr dirty="0"/>
          </a:p>
          <a:p>
            <a:pPr marL="342900" marR="0" lvl="0" indent="-34290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Course Information</a:t>
            </a:r>
            <a:endParaRPr dirty="0"/>
          </a:p>
          <a:p>
            <a:pPr marL="342900" marR="0" lvl="0" indent="-34290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Supplementary Resources</a:t>
            </a:r>
            <a:endParaRPr dirty="0"/>
          </a:p>
          <a:p>
            <a:pPr marL="342900" marR="0" lvl="0" indent="-34290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Quizzes</a:t>
            </a:r>
            <a:endParaRPr dirty="0"/>
          </a:p>
          <a:p>
            <a:pPr marL="342900" marR="0" lvl="0" indent="-34290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Assessment Instructions</a:t>
            </a:r>
            <a:endParaRPr dirty="0"/>
          </a:p>
          <a:p>
            <a:pPr marL="342900" marR="0" lvl="0" indent="-34290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Assessment Submission Points</a:t>
            </a: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Arial"/>
              <a:buChar char="•"/>
            </a:pPr>
            <a:endParaRPr lang="en-US" sz="1800"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800"/>
            </a:pPr>
            <a:endParaRPr sz="18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Getting Started:</a:t>
            </a:r>
            <a:endParaRPr b="1" dirty="0">
              <a:solidFill>
                <a:schemeClr val="accent5"/>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2E66E679-A7FD-6279-D11C-CE7A79B70671}"/>
              </a:ext>
            </a:extLst>
          </p:cNvPr>
          <p:cNvPicPr>
            <a:picLocks noChangeAspect="1"/>
          </p:cNvPicPr>
          <p:nvPr/>
        </p:nvPicPr>
        <p:blipFill>
          <a:blip r:embed="rId3"/>
          <a:stretch>
            <a:fillRect/>
          </a:stretch>
        </p:blipFill>
        <p:spPr>
          <a:xfrm>
            <a:off x="6741009" y="0"/>
            <a:ext cx="2994599"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rPr>
              <a:t>Today:</a:t>
            </a:r>
          </a:p>
        </p:txBody>
      </p:sp>
      <p:sp>
        <p:nvSpPr>
          <p:cNvPr id="3" name="Text Placeholder 2"/>
          <p:cNvSpPr>
            <a:spLocks noGrp="1"/>
          </p:cNvSpPr>
          <p:nvPr>
            <p:ph type="body" idx="1"/>
          </p:nvPr>
        </p:nvSpPr>
        <p:spPr/>
        <p:txBody>
          <a:bodyPr>
            <a:normAutofit/>
          </a:bodyPr>
          <a:lstStyle/>
          <a:p>
            <a:r>
              <a:rPr lang="en-US" sz="2400" dirty="0"/>
              <a:t>Understand the purpose and goals of the course</a:t>
            </a:r>
          </a:p>
          <a:p>
            <a:r>
              <a:rPr lang="en-US" sz="2400" dirty="0"/>
              <a:t>Understand Lesson structures, Activities &amp; Evaluations</a:t>
            </a:r>
          </a:p>
          <a:p>
            <a:r>
              <a:rPr lang="en-US" sz="2400" dirty="0"/>
              <a:t>Recognize fundamental aspects of Business Communication</a:t>
            </a:r>
          </a:p>
          <a:p>
            <a:r>
              <a:rPr lang="en-US" sz="2400" dirty="0"/>
              <a:t>Recognizing the audience and adapting communicative needs</a:t>
            </a:r>
          </a:p>
        </p:txBody>
      </p:sp>
    </p:spTree>
    <p:extLst>
      <p:ext uri="{BB962C8B-B14F-4D97-AF65-F5344CB8AC3E}">
        <p14:creationId xmlns:p14="http://schemas.microsoft.com/office/powerpoint/2010/main" val="9812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3EE75-D622-45BF-93BD-EFC777E19608}"/>
              </a:ext>
            </a:extLst>
          </p:cNvPr>
          <p:cNvSpPr>
            <a:spLocks noGrp="1"/>
          </p:cNvSpPr>
          <p:nvPr>
            <p:ph type="title"/>
          </p:nvPr>
        </p:nvSpPr>
        <p:spPr/>
        <p:txBody>
          <a:bodyPr/>
          <a:lstStyle/>
          <a:p>
            <a:r>
              <a:rPr lang="en-US" b="1">
                <a:solidFill>
                  <a:schemeClr val="accent5"/>
                </a:solidFill>
              </a:rPr>
              <a:t>Class Expectations</a:t>
            </a:r>
            <a:endParaRPr lang="en-US" b="1" dirty="0">
              <a:latin typeface="+mn-lt"/>
            </a:endParaRPr>
          </a:p>
        </p:txBody>
      </p:sp>
      <p:graphicFrame>
        <p:nvGraphicFramePr>
          <p:cNvPr id="4" name="Content Placeholder 3">
            <a:extLst>
              <a:ext uri="{FF2B5EF4-FFF2-40B4-BE49-F238E27FC236}">
                <a16:creationId xmlns:a16="http://schemas.microsoft.com/office/drawing/2014/main" id="{F9C42B7E-EB61-0761-E273-788770D1B9E5}"/>
              </a:ext>
            </a:extLst>
          </p:cNvPr>
          <p:cNvGraphicFramePr>
            <a:graphicFrameLocks noGrp="1"/>
          </p:cNvGraphicFramePr>
          <p:nvPr>
            <p:ph idx="1"/>
            <p:extLst>
              <p:ext uri="{D42A27DB-BD31-4B8C-83A1-F6EECF244321}">
                <p14:modId xmlns:p14="http://schemas.microsoft.com/office/powerpoint/2010/main" val="3637204852"/>
              </p:ext>
            </p:extLst>
          </p:nvPr>
        </p:nvGraphicFramePr>
        <p:xfrm>
          <a:off x="838200" y="1511809"/>
          <a:ext cx="10515600" cy="5120640"/>
        </p:xfrm>
        <a:graphic>
          <a:graphicData uri="http://schemas.openxmlformats.org/drawingml/2006/table">
            <a:tbl>
              <a:tblPr firstRow="1" bandRow="1">
                <a:tableStyleId>{5C22544A-7EE6-4342-B048-85BDC9FD1C3A}</a:tableStyleId>
              </a:tblPr>
              <a:tblGrid>
                <a:gridCol w="5269992">
                  <a:extLst>
                    <a:ext uri="{9D8B030D-6E8A-4147-A177-3AD203B41FA5}">
                      <a16:colId xmlns:a16="http://schemas.microsoft.com/office/drawing/2014/main" val="3522807244"/>
                    </a:ext>
                  </a:extLst>
                </a:gridCol>
                <a:gridCol w="5245608">
                  <a:extLst>
                    <a:ext uri="{9D8B030D-6E8A-4147-A177-3AD203B41FA5}">
                      <a16:colId xmlns:a16="http://schemas.microsoft.com/office/drawing/2014/main" val="4233014586"/>
                    </a:ext>
                  </a:extLst>
                </a:gridCol>
              </a:tblGrid>
              <a:tr h="2269672">
                <a:tc>
                  <a:txBody>
                    <a:bodyPr/>
                    <a:lstStyle/>
                    <a:p>
                      <a:r>
                        <a:rPr lang="en-US" sz="1800" u="sng" dirty="0">
                          <a:solidFill>
                            <a:schemeClr val="tx1"/>
                          </a:solidFill>
                          <a:latin typeface="Calibri" panose="020F0502020204030204" pitchFamily="34" charset="0"/>
                          <a:ea typeface="Calibri" panose="020F0502020204030204" pitchFamily="34" charset="0"/>
                          <a:cs typeface="Calibri" panose="020F0502020204030204" pitchFamily="34" charset="0"/>
                        </a:rPr>
                        <a:t>Attendance</a:t>
                      </a:r>
                    </a:p>
                    <a:p>
                      <a:endParaRPr lang="en-US" sz="1800" u="sng"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80% required ! </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Less than 80% = no final exam</a:t>
                      </a:r>
                    </a:p>
                    <a:p>
                      <a:endPar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Be on time! </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&gt; 20 mins = late</a:t>
                      </a:r>
                    </a:p>
                    <a:p>
                      <a:r>
                        <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rPr>
                        <a:t>&gt;30 mins = absent</a:t>
                      </a:r>
                    </a:p>
                  </a:txBody>
                  <a:tcPr/>
                </a:tc>
                <a:tc>
                  <a:txBody>
                    <a:bodyPr/>
                    <a:lstStyle/>
                    <a:p>
                      <a:r>
                        <a:rPr lang="en-US" sz="1800" u="sng" dirty="0">
                          <a:solidFill>
                            <a:schemeClr val="tx1"/>
                          </a:solidFill>
                          <a:latin typeface="+mn-lt"/>
                        </a:rPr>
                        <a:t>Preparation</a:t>
                      </a:r>
                    </a:p>
                    <a:p>
                      <a:endParaRPr lang="en-US" sz="1800" u="sng" dirty="0">
                        <a:solidFill>
                          <a:schemeClr val="tx1"/>
                        </a:solidFill>
                        <a:latin typeface="+mn-lt"/>
                      </a:endParaRPr>
                    </a:p>
                    <a:p>
                      <a:pPr marL="285750" indent="-285750">
                        <a:buFont typeface="Arial" panose="020B0604020202020204" pitchFamily="34" charset="0"/>
                        <a:buChar char="•"/>
                      </a:pPr>
                      <a:r>
                        <a:rPr lang="en-US" sz="1800" b="0" dirty="0">
                          <a:solidFill>
                            <a:schemeClr val="tx1"/>
                          </a:solidFill>
                          <a:latin typeface="+mn-lt"/>
                        </a:rPr>
                        <a:t>Laptop or tablet. (Not phone!)</a:t>
                      </a:r>
                    </a:p>
                    <a:p>
                      <a:pPr marL="742950" lvl="1" indent="-285750">
                        <a:buFont typeface="Arial" panose="020B0604020202020204" pitchFamily="34" charset="0"/>
                        <a:buChar char="•"/>
                      </a:pPr>
                      <a:r>
                        <a:rPr lang="en-US" sz="1800" b="0" dirty="0">
                          <a:solidFill>
                            <a:schemeClr val="tx1"/>
                          </a:solidFill>
                          <a:latin typeface="+mn-lt"/>
                        </a:rPr>
                        <a:t>	MyCourses, Google Drive</a:t>
                      </a:r>
                    </a:p>
                    <a:p>
                      <a:pPr marL="285750" indent="-285750">
                        <a:buFont typeface="Arial" panose="020B0604020202020204" pitchFamily="34" charset="0"/>
                        <a:buChar char="•"/>
                      </a:pPr>
                      <a:r>
                        <a:rPr lang="en-US" sz="1800" b="0" dirty="0">
                          <a:solidFill>
                            <a:schemeClr val="tx1"/>
                          </a:solidFill>
                          <a:latin typeface="+mn-lt"/>
                        </a:rPr>
                        <a:t>English to English Dictionary</a:t>
                      </a:r>
                    </a:p>
                    <a:p>
                      <a:pPr marL="285750" indent="-285750">
                        <a:buFont typeface="Arial" panose="020B0604020202020204" pitchFamily="34" charset="0"/>
                        <a:buChar char="•"/>
                      </a:pPr>
                      <a:r>
                        <a:rPr lang="en-US" sz="1800" b="0" dirty="0">
                          <a:solidFill>
                            <a:schemeClr val="tx1"/>
                          </a:solidFill>
                          <a:latin typeface="+mn-lt"/>
                        </a:rPr>
                        <a:t>Textbook </a:t>
                      </a:r>
                    </a:p>
                    <a:p>
                      <a:pPr marL="285750" indent="-285750">
                        <a:buFont typeface="Arial" panose="020B0604020202020204" pitchFamily="34" charset="0"/>
                        <a:buChar char="•"/>
                      </a:pPr>
                      <a:r>
                        <a:rPr lang="en-US" sz="1800" b="0" dirty="0">
                          <a:solidFill>
                            <a:schemeClr val="tx1"/>
                          </a:solidFill>
                          <a:latin typeface="+mn-lt"/>
                        </a:rPr>
                        <a:t>Paper and pens</a:t>
                      </a:r>
                    </a:p>
                    <a:p>
                      <a:endParaRPr lang="en-US" sz="1800" dirty="0"/>
                    </a:p>
                  </a:txBody>
                  <a:tcPr/>
                </a:tc>
                <a:extLst>
                  <a:ext uri="{0D108BD9-81ED-4DB2-BD59-A6C34878D82A}">
                    <a16:rowId xmlns:a16="http://schemas.microsoft.com/office/drawing/2014/main" val="2610530035"/>
                  </a:ext>
                </a:extLst>
              </a:tr>
              <a:tr h="2814392">
                <a:tc>
                  <a:txBody>
                    <a:bodyPr/>
                    <a:lstStyle/>
                    <a:p>
                      <a:r>
                        <a:rPr lang="en-US" sz="1800" b="1" u="sng" dirty="0">
                          <a:solidFill>
                            <a:schemeClr val="tx1"/>
                          </a:solidFill>
                          <a:latin typeface="+mn-lt"/>
                        </a:rPr>
                        <a:t>Sick or Absent</a:t>
                      </a:r>
                    </a:p>
                    <a:p>
                      <a:endParaRPr lang="en-US" sz="1800" u="sng" dirty="0">
                        <a:solidFill>
                          <a:schemeClr val="tx1"/>
                        </a:solidFill>
                        <a:latin typeface="+mn-lt"/>
                      </a:endParaRPr>
                    </a:p>
                    <a:p>
                      <a:r>
                        <a:rPr lang="en-US" sz="1800" dirty="0">
                          <a:solidFill>
                            <a:schemeClr val="tx1"/>
                          </a:solidFill>
                          <a:latin typeface="+mn-lt"/>
                        </a:rPr>
                        <a:t>Email Instructor.</a:t>
                      </a:r>
                    </a:p>
                    <a:p>
                      <a:endParaRPr lang="en-US" sz="1800" dirty="0">
                        <a:solidFill>
                          <a:schemeClr val="tx1"/>
                        </a:solidFill>
                        <a:latin typeface="+mn-lt"/>
                      </a:endParaRPr>
                    </a:p>
                    <a:p>
                      <a:r>
                        <a:rPr lang="en-US" sz="1800" dirty="0">
                          <a:solidFill>
                            <a:schemeClr val="tx1"/>
                          </a:solidFill>
                          <a:latin typeface="+mn-lt"/>
                        </a:rPr>
                        <a:t>It is </a:t>
                      </a:r>
                      <a:r>
                        <a:rPr lang="en-US" sz="1800" u="sng" dirty="0">
                          <a:solidFill>
                            <a:schemeClr val="tx1"/>
                          </a:solidFill>
                          <a:latin typeface="+mn-lt"/>
                        </a:rPr>
                        <a:t>your</a:t>
                      </a:r>
                      <a:r>
                        <a:rPr lang="en-US" sz="1800" dirty="0">
                          <a:solidFill>
                            <a:schemeClr val="tx1"/>
                          </a:solidFill>
                          <a:latin typeface="+mn-lt"/>
                        </a:rPr>
                        <a:t> responsibility to follow up on any missing information, materials, and assignments. </a:t>
                      </a:r>
                      <a:br>
                        <a:rPr lang="en-US" sz="1800" dirty="0">
                          <a:solidFill>
                            <a:schemeClr val="tx1"/>
                          </a:solidFill>
                          <a:latin typeface="+mn-lt"/>
                        </a:rPr>
                      </a:br>
                      <a:br>
                        <a:rPr lang="en-US" sz="1800" dirty="0">
                          <a:solidFill>
                            <a:schemeClr val="tx1"/>
                          </a:solidFill>
                          <a:latin typeface="+mn-lt"/>
                        </a:rPr>
                      </a:br>
                      <a:r>
                        <a:rPr lang="en-US" sz="1800" dirty="0">
                          <a:solidFill>
                            <a:schemeClr val="tx1"/>
                          </a:solidFill>
                          <a:latin typeface="+mn-lt"/>
                        </a:rPr>
                        <a:t>Do not forget to do the make-up work!</a:t>
                      </a:r>
                    </a:p>
                  </a:txBody>
                  <a:tcPr/>
                </a:tc>
                <a:tc>
                  <a:txBody>
                    <a:bodyPr/>
                    <a:lstStyle/>
                    <a:p>
                      <a:r>
                        <a:rPr lang="en-US" sz="1800" b="1" u="sng" dirty="0">
                          <a:latin typeface="Calibri" panose="020F0502020204030204" pitchFamily="34" charset="0"/>
                          <a:ea typeface="Calibri" panose="020F0502020204030204" pitchFamily="34" charset="0"/>
                          <a:cs typeface="Calibri" panose="020F0502020204030204" pitchFamily="34" charset="0"/>
                        </a:rPr>
                        <a:t>Be an Active Learner</a:t>
                      </a:r>
                    </a:p>
                    <a:p>
                      <a:endParaRPr lang="en-US" sz="1800" u="sng"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Manage your self and your time!</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No social media, chat apps, or games</a:t>
                      </a:r>
                    </a:p>
                    <a:p>
                      <a:r>
                        <a:rPr lang="en-US" sz="1800" dirty="0">
                          <a:latin typeface="Calibri" panose="020F0502020204030204" pitchFamily="34" charset="0"/>
                          <a:ea typeface="Calibri" panose="020F0502020204030204" pitchFamily="34" charset="0"/>
                          <a:cs typeface="Calibri" panose="020F0502020204030204" pitchFamily="34" charset="0"/>
                        </a:rPr>
                        <a:t>No Chat-GPT or AI work</a:t>
                      </a:r>
                    </a:p>
                    <a:p>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US" sz="1800" dirty="0">
                          <a:latin typeface="Calibri" panose="020F0502020204030204" pitchFamily="34" charset="0"/>
                          <a:ea typeface="Calibri" panose="020F0502020204030204" pitchFamily="34" charset="0"/>
                          <a:cs typeface="Calibri" panose="020F0502020204030204" pitchFamily="34" charset="0"/>
                        </a:rPr>
                        <a:t>Engage with your materials. </a:t>
                      </a:r>
                      <a:br>
                        <a:rPr lang="en-US" sz="1800" dirty="0">
                          <a:latin typeface="Calibri" panose="020F0502020204030204" pitchFamily="34" charset="0"/>
                          <a:ea typeface="Calibri" panose="020F0502020204030204" pitchFamily="34" charset="0"/>
                          <a:cs typeface="Calibri" panose="020F0502020204030204" pitchFamily="34" charset="0"/>
                        </a:rPr>
                      </a:br>
                      <a:r>
                        <a:rPr lang="en-US" sz="1800" dirty="0">
                          <a:latin typeface="Calibri" panose="020F0502020204030204" pitchFamily="34" charset="0"/>
                          <a:ea typeface="Calibri" panose="020F0502020204030204" pitchFamily="34" charset="0"/>
                          <a:cs typeface="Calibri" panose="020F0502020204030204" pitchFamily="34" charset="0"/>
                        </a:rPr>
                        <a:t>Question. Analyze. Learn. Have an opinion.</a:t>
                      </a:r>
                    </a:p>
                    <a:p>
                      <a:endParaRPr lang="en-US" sz="1800" dirty="0"/>
                    </a:p>
                  </a:txBody>
                  <a:tcPr/>
                </a:tc>
                <a:extLst>
                  <a:ext uri="{0D108BD9-81ED-4DB2-BD59-A6C34878D82A}">
                    <a16:rowId xmlns:a16="http://schemas.microsoft.com/office/drawing/2014/main" val="3657540793"/>
                  </a:ext>
                </a:extLst>
              </a:tr>
            </a:tbl>
          </a:graphicData>
        </a:graphic>
      </p:graphicFrame>
    </p:spTree>
    <p:extLst>
      <p:ext uri="{BB962C8B-B14F-4D97-AF65-F5344CB8AC3E}">
        <p14:creationId xmlns:p14="http://schemas.microsoft.com/office/powerpoint/2010/main" val="3527185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838200" y="413250"/>
            <a:ext cx="10515600" cy="127117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5"/>
              </a:buClr>
              <a:buSzPts val="4800"/>
              <a:buFont typeface="Calibri"/>
              <a:buNone/>
            </a:pPr>
            <a:r>
              <a:rPr lang="en-US" b="1" dirty="0">
                <a:solidFill>
                  <a:schemeClr val="accent5"/>
                </a:solidFill>
                <a:latin typeface="Calibri"/>
                <a:ea typeface="Calibri"/>
                <a:cs typeface="Calibri"/>
                <a:sym typeface="Calibri"/>
              </a:rPr>
              <a:t>Getting Started:</a:t>
            </a:r>
            <a:endParaRPr b="1" dirty="0">
              <a:solidFill>
                <a:schemeClr val="accent5"/>
              </a:solidFill>
              <a:latin typeface="Calibri"/>
              <a:ea typeface="Calibri"/>
              <a:cs typeface="Calibri"/>
              <a:sym typeface="Calibri"/>
            </a:endParaRPr>
          </a:p>
        </p:txBody>
      </p:sp>
      <p:sp>
        <p:nvSpPr>
          <p:cNvPr id="110" name="Google Shape;110;p5"/>
          <p:cNvSpPr/>
          <p:nvPr/>
        </p:nvSpPr>
        <p:spPr>
          <a:xfrm>
            <a:off x="838200" y="1800546"/>
            <a:ext cx="10515600" cy="4893607"/>
          </a:xfrm>
          <a:prstGeom prst="rect">
            <a:avLst/>
          </a:prstGeom>
          <a:noFill/>
          <a:ln>
            <a:noFill/>
          </a:ln>
        </p:spPr>
        <p:txBody>
          <a:bodyPr spcFirstLastPara="1" wrap="square" lIns="91425" tIns="45700" rIns="91425" bIns="45700" anchor="t" anchorCtr="0">
            <a:spAutoFit/>
          </a:bodyPr>
          <a:lstStyle/>
          <a:p>
            <a:r>
              <a:rPr lang="en-US" sz="2400" dirty="0">
                <a:solidFill>
                  <a:schemeClr val="dk1"/>
                </a:solidFill>
                <a:latin typeface="Calibri"/>
                <a:ea typeface="Calibri"/>
                <a:cs typeface="Calibri"/>
                <a:sym typeface="Calibri"/>
              </a:rPr>
              <a:t>What </a:t>
            </a:r>
            <a:r>
              <a:rPr lang="en-US" sz="2400" b="1" u="sng" dirty="0">
                <a:solidFill>
                  <a:schemeClr val="dk1"/>
                </a:solidFill>
                <a:latin typeface="Calibri"/>
                <a:ea typeface="Calibri"/>
                <a:cs typeface="Calibri"/>
                <a:sym typeface="Calibri"/>
              </a:rPr>
              <a:t>IS</a:t>
            </a:r>
            <a:r>
              <a:rPr lang="en-US" sz="2400" dirty="0">
                <a:solidFill>
                  <a:schemeClr val="dk1"/>
                </a:solidFill>
                <a:latin typeface="Calibri"/>
                <a:ea typeface="Calibri"/>
                <a:cs typeface="Calibri"/>
                <a:sym typeface="Calibri"/>
              </a:rPr>
              <a:t> Business Communication? </a:t>
            </a:r>
          </a:p>
          <a:p>
            <a:pPr marL="0" marR="0" lvl="0" indent="0" algn="l" rtl="0">
              <a:spcBef>
                <a:spcPts val="0"/>
              </a:spcBef>
              <a:spcAft>
                <a:spcPts val="0"/>
              </a:spcAft>
              <a:buNone/>
            </a:pPr>
            <a:endParaRPr lang="en-US"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What are common </a:t>
            </a:r>
            <a:r>
              <a:rPr lang="en-US" sz="2400" b="1" dirty="0">
                <a:solidFill>
                  <a:schemeClr val="dk1"/>
                </a:solidFill>
                <a:latin typeface="Calibri"/>
                <a:ea typeface="Calibri"/>
                <a:cs typeface="Calibri"/>
                <a:sym typeface="Calibri"/>
              </a:rPr>
              <a:t>business situations</a:t>
            </a:r>
            <a:r>
              <a:rPr lang="en-US" sz="2400" dirty="0">
                <a:solidFill>
                  <a:schemeClr val="dk1"/>
                </a:solidFill>
                <a:latin typeface="Calibri"/>
                <a:ea typeface="Calibri"/>
                <a:cs typeface="Calibri"/>
                <a:sym typeface="Calibri"/>
              </a:rPr>
              <a:t> that require effective communications?</a:t>
            </a:r>
          </a:p>
          <a:p>
            <a:pPr marL="0" marR="0" lvl="0" indent="0" algn="l" rtl="0">
              <a:spcBef>
                <a:spcPts val="0"/>
              </a:spcBef>
              <a:spcAft>
                <a:spcPts val="0"/>
              </a:spcAft>
              <a:buNone/>
            </a:pPr>
            <a:endParaRPr lang="en-US"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How can we define </a:t>
            </a:r>
            <a:r>
              <a:rPr lang="en-US" sz="2400" b="1" u="sng" dirty="0">
                <a:solidFill>
                  <a:schemeClr val="dk1"/>
                </a:solidFill>
                <a:latin typeface="Calibri"/>
                <a:ea typeface="Calibri"/>
                <a:cs typeface="Calibri"/>
                <a:sym typeface="Calibri"/>
              </a:rPr>
              <a:t>‘good communication’</a:t>
            </a:r>
            <a:r>
              <a:rPr lang="en-US" sz="2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lvl="0"/>
            <a:r>
              <a:rPr lang="en-US" sz="2400" b="1" u="sng" dirty="0">
                <a:solidFill>
                  <a:schemeClr val="dk1"/>
                </a:solidFill>
                <a:latin typeface="Calibri"/>
                <a:ea typeface="Calibri"/>
                <a:cs typeface="Calibri"/>
                <a:sym typeface="Calibri"/>
              </a:rPr>
              <a:t>Why</a:t>
            </a:r>
            <a:r>
              <a:rPr lang="en-US" sz="2400" u="sng" dirty="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is good communication </a:t>
            </a:r>
            <a:r>
              <a:rPr lang="en-US" sz="2400" b="1" u="sng" dirty="0">
                <a:solidFill>
                  <a:schemeClr val="dk1"/>
                </a:solidFill>
                <a:latin typeface="Calibri"/>
                <a:ea typeface="Calibri"/>
                <a:cs typeface="Calibri"/>
                <a:sym typeface="Calibri"/>
              </a:rPr>
              <a:t>important</a:t>
            </a:r>
            <a:r>
              <a:rPr lang="en-US" sz="2400" b="1" dirty="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for Business situations?</a:t>
            </a:r>
            <a:endParaRPr dirty="0"/>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What is the </a:t>
            </a:r>
            <a:r>
              <a:rPr lang="en-US" sz="2400" b="1" u="sng" dirty="0">
                <a:solidFill>
                  <a:schemeClr val="dk1"/>
                </a:solidFill>
                <a:latin typeface="Calibri"/>
                <a:ea typeface="Calibri"/>
                <a:cs typeface="Calibri"/>
                <a:sym typeface="Calibri"/>
              </a:rPr>
              <a:t>purpose</a:t>
            </a:r>
            <a:r>
              <a:rPr lang="en-US" sz="2400" dirty="0">
                <a:solidFill>
                  <a:schemeClr val="dk1"/>
                </a:solidFill>
                <a:latin typeface="Calibri"/>
                <a:ea typeface="Calibri"/>
                <a:cs typeface="Calibri"/>
                <a:sym typeface="Calibri"/>
              </a:rPr>
              <a:t> of communication?</a:t>
            </a:r>
            <a:endParaRPr dirty="0"/>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b="1" u="sng" dirty="0">
                <a:solidFill>
                  <a:schemeClr val="dk1"/>
                </a:solidFill>
                <a:latin typeface="Calibri"/>
                <a:ea typeface="Calibri"/>
                <a:cs typeface="Calibri"/>
                <a:sym typeface="Calibri"/>
              </a:rPr>
              <a:t>Who or What</a:t>
            </a:r>
            <a:r>
              <a:rPr lang="en-US" sz="2400" b="1" dirty="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do you think is the </a:t>
            </a:r>
            <a:r>
              <a:rPr lang="en-US" sz="2400" b="1" i="1" u="sng" dirty="0">
                <a:solidFill>
                  <a:schemeClr val="dk1"/>
                </a:solidFill>
                <a:latin typeface="Calibri"/>
                <a:ea typeface="Calibri"/>
                <a:cs typeface="Calibri"/>
                <a:sym typeface="Calibri"/>
              </a:rPr>
              <a:t>(business)</a:t>
            </a:r>
            <a:r>
              <a:rPr lang="en-US" sz="2400" b="1" u="sng" dirty="0">
                <a:solidFill>
                  <a:schemeClr val="dk1"/>
                </a:solidFill>
                <a:latin typeface="Calibri"/>
                <a:ea typeface="Calibri"/>
                <a:cs typeface="Calibri"/>
                <a:sym typeface="Calibri"/>
              </a:rPr>
              <a:t> audience</a:t>
            </a:r>
            <a:r>
              <a:rPr lang="en-US" sz="24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b="1" u="sng" dirty="0">
                <a:solidFill>
                  <a:schemeClr val="dk1"/>
                </a:solidFill>
                <a:latin typeface="Calibri"/>
                <a:ea typeface="Calibri"/>
                <a:cs typeface="Calibri"/>
                <a:sym typeface="Calibri"/>
              </a:rPr>
              <a:t>What</a:t>
            </a:r>
            <a:r>
              <a:rPr lang="en-US" sz="2400" dirty="0">
                <a:solidFill>
                  <a:schemeClr val="dk1"/>
                </a:solidFill>
                <a:latin typeface="Calibri"/>
                <a:ea typeface="Calibri"/>
                <a:cs typeface="Calibri"/>
                <a:sym typeface="Calibri"/>
              </a:rPr>
              <a:t> do you think </a:t>
            </a:r>
            <a:r>
              <a:rPr lang="en-US" sz="2400" b="1" u="sng" dirty="0">
                <a:solidFill>
                  <a:schemeClr val="dk1"/>
                </a:solidFill>
                <a:latin typeface="Calibri"/>
                <a:ea typeface="Calibri"/>
                <a:cs typeface="Calibri"/>
                <a:sym typeface="Calibri"/>
              </a:rPr>
              <a:t>you will learn</a:t>
            </a:r>
            <a:r>
              <a:rPr lang="en-US" sz="2400" dirty="0">
                <a:solidFill>
                  <a:schemeClr val="dk1"/>
                </a:solidFill>
                <a:latin typeface="Calibri"/>
                <a:ea typeface="Calibri"/>
                <a:cs typeface="Calibri"/>
                <a:sym typeface="Calibri"/>
              </a:rPr>
              <a:t> in this course?</a:t>
            </a:r>
            <a:endParaRPr sz="24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800"/>
              <a:buFont typeface="Calibri"/>
              <a:buNone/>
            </a:pPr>
            <a:r>
              <a:rPr lang="en-US" sz="4800" b="1">
                <a:solidFill>
                  <a:schemeClr val="accent5"/>
                </a:solidFill>
                <a:latin typeface="Calibri"/>
                <a:ea typeface="Calibri"/>
                <a:cs typeface="Calibri"/>
                <a:sym typeface="Calibri"/>
              </a:rPr>
              <a:t>In this course you will…</a:t>
            </a:r>
            <a:endParaRPr/>
          </a:p>
        </p:txBody>
      </p:sp>
      <p:pic>
        <p:nvPicPr>
          <p:cNvPr id="109" name="Google Shape;109;p11"/>
          <p:cNvPicPr preferRelativeResize="0"/>
          <p:nvPr/>
        </p:nvPicPr>
        <p:blipFill rotWithShape="1">
          <a:blip r:embed="rId3">
            <a:alphaModFix/>
          </a:blip>
          <a:srcRect/>
          <a:stretch/>
        </p:blipFill>
        <p:spPr>
          <a:xfrm>
            <a:off x="838200" y="1690688"/>
            <a:ext cx="4486275" cy="485775"/>
          </a:xfrm>
          <a:prstGeom prst="rect">
            <a:avLst/>
          </a:prstGeom>
          <a:noFill/>
          <a:ln>
            <a:noFill/>
          </a:ln>
        </p:spPr>
      </p:pic>
      <p:pic>
        <p:nvPicPr>
          <p:cNvPr id="3" name="Picture 2">
            <a:extLst>
              <a:ext uri="{FF2B5EF4-FFF2-40B4-BE49-F238E27FC236}">
                <a16:creationId xmlns:a16="http://schemas.microsoft.com/office/drawing/2014/main" id="{3B012313-C117-A2F6-A6E0-CF55441DE492}"/>
              </a:ext>
            </a:extLst>
          </p:cNvPr>
          <p:cNvPicPr>
            <a:picLocks noChangeAspect="1"/>
          </p:cNvPicPr>
          <p:nvPr/>
        </p:nvPicPr>
        <p:blipFill>
          <a:blip r:embed="rId4"/>
          <a:stretch>
            <a:fillRect/>
          </a:stretch>
        </p:blipFill>
        <p:spPr>
          <a:xfrm>
            <a:off x="2129246" y="2303463"/>
            <a:ext cx="3195229" cy="4322310"/>
          </a:xfrm>
          <a:prstGeom prst="rect">
            <a:avLst/>
          </a:prstGeom>
        </p:spPr>
      </p:pic>
      <p:pic>
        <p:nvPicPr>
          <p:cNvPr id="5" name="Picture 4">
            <a:extLst>
              <a:ext uri="{FF2B5EF4-FFF2-40B4-BE49-F238E27FC236}">
                <a16:creationId xmlns:a16="http://schemas.microsoft.com/office/drawing/2014/main" id="{0C54F3A5-A064-9710-BFCC-80D02F37AE54}"/>
              </a:ext>
            </a:extLst>
          </p:cNvPr>
          <p:cNvPicPr>
            <a:picLocks noChangeAspect="1"/>
          </p:cNvPicPr>
          <p:nvPr/>
        </p:nvPicPr>
        <p:blipFill>
          <a:blip r:embed="rId5"/>
          <a:stretch>
            <a:fillRect/>
          </a:stretch>
        </p:blipFill>
        <p:spPr>
          <a:xfrm>
            <a:off x="5602363" y="2303463"/>
            <a:ext cx="3528573" cy="43223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Questions so far?</a:t>
            </a:r>
            <a:endParaRPr/>
          </a:p>
        </p:txBody>
      </p:sp>
      <p:sp>
        <p:nvSpPr>
          <p:cNvPr id="117" name="Google Shape;11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a:solidFill>
                  <a:schemeClr val="accent5"/>
                </a:solidFill>
                <a:latin typeface="Calibri"/>
                <a:ea typeface="Calibri"/>
                <a:cs typeface="Calibri"/>
                <a:sym typeface="Calibri"/>
              </a:rPr>
              <a:t>What </a:t>
            </a:r>
            <a:r>
              <a:rPr lang="en-US" b="1" u="sng">
                <a:solidFill>
                  <a:schemeClr val="accent5"/>
                </a:solidFill>
                <a:latin typeface="Calibri"/>
                <a:ea typeface="Calibri"/>
                <a:cs typeface="Calibri"/>
                <a:sym typeface="Calibri"/>
              </a:rPr>
              <a:t>IS</a:t>
            </a:r>
            <a:r>
              <a:rPr lang="en-US" b="1">
                <a:solidFill>
                  <a:schemeClr val="accent5"/>
                </a:solidFill>
                <a:latin typeface="Calibri"/>
                <a:ea typeface="Calibri"/>
                <a:cs typeface="Calibri"/>
                <a:sym typeface="Calibri"/>
              </a:rPr>
              <a:t> Business Communication?</a:t>
            </a:r>
            <a:endParaRPr>
              <a:solidFill>
                <a:schemeClr val="accent5"/>
              </a:solidFill>
              <a:latin typeface="Calibri"/>
              <a:ea typeface="Calibri"/>
              <a:cs typeface="Calibri"/>
              <a:sym typeface="Calibri"/>
            </a:endParaRPr>
          </a:p>
        </p:txBody>
      </p:sp>
      <p:pic>
        <p:nvPicPr>
          <p:cNvPr id="123" name="Google Shape;123;p6"/>
          <p:cNvPicPr preferRelativeResize="0"/>
          <p:nvPr/>
        </p:nvPicPr>
        <p:blipFill rotWithShape="1">
          <a:blip r:embed="rId3">
            <a:alphaModFix/>
          </a:blip>
          <a:srcRect/>
          <a:stretch/>
        </p:blipFill>
        <p:spPr>
          <a:xfrm>
            <a:off x="695325" y="1690688"/>
            <a:ext cx="10658475" cy="847725"/>
          </a:xfrm>
          <a:prstGeom prst="rect">
            <a:avLst/>
          </a:prstGeom>
          <a:noFill/>
          <a:ln>
            <a:noFill/>
          </a:ln>
        </p:spPr>
      </p:pic>
      <p:pic>
        <p:nvPicPr>
          <p:cNvPr id="124" name="Google Shape;124;p6"/>
          <p:cNvPicPr preferRelativeResize="0"/>
          <p:nvPr/>
        </p:nvPicPr>
        <p:blipFill rotWithShape="1">
          <a:blip r:embed="rId4">
            <a:alphaModFix/>
          </a:blip>
          <a:srcRect/>
          <a:stretch/>
        </p:blipFill>
        <p:spPr>
          <a:xfrm>
            <a:off x="2233612" y="2763994"/>
            <a:ext cx="7724775" cy="2733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a:solidFill>
                  <a:schemeClr val="accent5"/>
                </a:solidFill>
                <a:latin typeface="Calibri"/>
                <a:ea typeface="Calibri"/>
                <a:cs typeface="Calibri"/>
                <a:sym typeface="Calibri"/>
              </a:rPr>
              <a:t>What </a:t>
            </a:r>
            <a:r>
              <a:rPr lang="en-US" b="1" u="sng">
                <a:solidFill>
                  <a:schemeClr val="accent5"/>
                </a:solidFill>
                <a:latin typeface="Calibri"/>
                <a:ea typeface="Calibri"/>
                <a:cs typeface="Calibri"/>
                <a:sym typeface="Calibri"/>
              </a:rPr>
              <a:t>IS</a:t>
            </a:r>
            <a:r>
              <a:rPr lang="en-US" b="1">
                <a:solidFill>
                  <a:schemeClr val="accent5"/>
                </a:solidFill>
                <a:latin typeface="Calibri"/>
                <a:ea typeface="Calibri"/>
                <a:cs typeface="Calibri"/>
                <a:sym typeface="Calibri"/>
              </a:rPr>
              <a:t> Business Communication?</a:t>
            </a:r>
            <a:endParaRPr>
              <a:solidFill>
                <a:schemeClr val="accent5"/>
              </a:solidFill>
              <a:latin typeface="Calibri"/>
              <a:ea typeface="Calibri"/>
              <a:cs typeface="Calibri"/>
              <a:sym typeface="Calibri"/>
            </a:endParaRPr>
          </a:p>
        </p:txBody>
      </p:sp>
      <p:pic>
        <p:nvPicPr>
          <p:cNvPr id="130" name="Google Shape;130;p39"/>
          <p:cNvPicPr preferRelativeResize="0"/>
          <p:nvPr/>
        </p:nvPicPr>
        <p:blipFill rotWithShape="1">
          <a:blip r:embed="rId3">
            <a:alphaModFix/>
          </a:blip>
          <a:srcRect/>
          <a:stretch/>
        </p:blipFill>
        <p:spPr>
          <a:xfrm>
            <a:off x="838200" y="1690688"/>
            <a:ext cx="7124700" cy="1600200"/>
          </a:xfrm>
          <a:prstGeom prst="rect">
            <a:avLst/>
          </a:prstGeom>
          <a:noFill/>
          <a:ln>
            <a:noFill/>
          </a:ln>
        </p:spPr>
      </p:pic>
      <p:pic>
        <p:nvPicPr>
          <p:cNvPr id="131" name="Google Shape;131;p39"/>
          <p:cNvPicPr preferRelativeResize="0"/>
          <p:nvPr/>
        </p:nvPicPr>
        <p:blipFill rotWithShape="1">
          <a:blip r:embed="rId4">
            <a:alphaModFix/>
          </a:blip>
          <a:srcRect/>
          <a:stretch/>
        </p:blipFill>
        <p:spPr>
          <a:xfrm>
            <a:off x="838200" y="3454401"/>
            <a:ext cx="7610475" cy="1162050"/>
          </a:xfrm>
          <a:prstGeom prst="rect">
            <a:avLst/>
          </a:prstGeom>
          <a:noFill/>
          <a:ln>
            <a:noFill/>
          </a:ln>
        </p:spPr>
      </p:pic>
      <p:pic>
        <p:nvPicPr>
          <p:cNvPr id="132" name="Google Shape;132;p39"/>
          <p:cNvPicPr preferRelativeResize="0"/>
          <p:nvPr/>
        </p:nvPicPr>
        <p:blipFill rotWithShape="1">
          <a:blip r:embed="rId5">
            <a:alphaModFix/>
          </a:blip>
          <a:srcRect/>
          <a:stretch/>
        </p:blipFill>
        <p:spPr>
          <a:xfrm>
            <a:off x="904875" y="4779964"/>
            <a:ext cx="6991350" cy="2085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rPr>
              <a:t>Common Business Situations:</a:t>
            </a:r>
          </a:p>
        </p:txBody>
      </p:sp>
      <p:sp>
        <p:nvSpPr>
          <p:cNvPr id="3" name="Text Placeholder 2"/>
          <p:cNvSpPr>
            <a:spLocks noGrp="1"/>
          </p:cNvSpPr>
          <p:nvPr>
            <p:ph type="body" idx="1"/>
          </p:nvPr>
        </p:nvSpPr>
        <p:spPr/>
        <p:txBody>
          <a:bodyPr>
            <a:normAutofit/>
          </a:bodyPr>
          <a:lstStyle/>
          <a:p>
            <a:pPr marL="114300" indent="0">
              <a:lnSpc>
                <a:spcPct val="100000"/>
              </a:lnSpc>
              <a:spcBef>
                <a:spcPts val="0"/>
              </a:spcBef>
              <a:buNone/>
            </a:pPr>
            <a:r>
              <a:rPr lang="en-US" sz="2400" b="1" dirty="0"/>
              <a:t>Q: What are some examples of business situations that require effective communication that you can think of?</a:t>
            </a:r>
          </a:p>
          <a:p>
            <a:pPr>
              <a:lnSpc>
                <a:spcPct val="100000"/>
              </a:lnSpc>
              <a:spcBef>
                <a:spcPts val="0"/>
              </a:spcBef>
            </a:pPr>
            <a:r>
              <a:rPr lang="en-US" sz="2400" dirty="0">
                <a:solidFill>
                  <a:srgbClr val="FF0000"/>
                </a:solidFill>
              </a:rPr>
              <a:t>Tip: think Internal and External</a:t>
            </a:r>
          </a:p>
        </p:txBody>
      </p:sp>
    </p:spTree>
    <p:extLst>
      <p:ext uri="{BB962C8B-B14F-4D97-AF65-F5344CB8AC3E}">
        <p14:creationId xmlns:p14="http://schemas.microsoft.com/office/powerpoint/2010/main" val="392084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a:solidFill>
                  <a:schemeClr val="accent5"/>
                </a:solidFill>
                <a:latin typeface="Calibri"/>
                <a:ea typeface="Calibri"/>
                <a:cs typeface="Calibri"/>
                <a:sym typeface="Calibri"/>
              </a:rPr>
              <a:t>Good Communication</a:t>
            </a:r>
            <a:endParaRPr b="1">
              <a:solidFill>
                <a:schemeClr val="accent5"/>
              </a:solidFill>
              <a:latin typeface="Calibri"/>
              <a:ea typeface="Calibri"/>
              <a:cs typeface="Calibri"/>
              <a:sym typeface="Calibri"/>
            </a:endParaRPr>
          </a:p>
        </p:txBody>
      </p:sp>
      <p:sp>
        <p:nvSpPr>
          <p:cNvPr id="125" name="Google Shape;125;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Clr>
                <a:schemeClr val="dk1"/>
              </a:buClr>
              <a:buSzPts val="2400"/>
              <a:buNone/>
            </a:pPr>
            <a:r>
              <a:rPr lang="en-US" sz="2400" b="1" dirty="0">
                <a:solidFill>
                  <a:srgbClr val="FF0000"/>
                </a:solidFill>
              </a:rPr>
              <a:t>Good</a:t>
            </a:r>
            <a:r>
              <a:rPr lang="en-US" sz="2400" b="1" dirty="0"/>
              <a:t> Communication is a key to success:</a:t>
            </a:r>
            <a:endParaRPr dirty="0"/>
          </a:p>
          <a:p>
            <a:pPr marL="0" lvl="0" indent="0" algn="l" rtl="0">
              <a:lnSpc>
                <a:spcPct val="110000"/>
              </a:lnSpc>
              <a:spcBef>
                <a:spcPts val="0"/>
              </a:spcBef>
              <a:spcAft>
                <a:spcPts val="0"/>
              </a:spcAft>
              <a:buClr>
                <a:schemeClr val="dk1"/>
              </a:buClr>
              <a:buSzPts val="2400"/>
              <a:buNone/>
            </a:pPr>
            <a:r>
              <a:rPr lang="en-US" sz="2400" dirty="0"/>
              <a:t>Communication is a two-way process focused on</a:t>
            </a:r>
            <a:endParaRPr dirty="0"/>
          </a:p>
          <a:p>
            <a:pPr marL="228600" lvl="0" indent="-228600" algn="l" rtl="0">
              <a:lnSpc>
                <a:spcPct val="110000"/>
              </a:lnSpc>
              <a:spcBef>
                <a:spcPts val="0"/>
              </a:spcBef>
              <a:spcAft>
                <a:spcPts val="0"/>
              </a:spcAft>
              <a:buClr>
                <a:schemeClr val="dk1"/>
              </a:buClr>
              <a:buSzPts val="2400"/>
              <a:buChar char="•"/>
            </a:pPr>
            <a:r>
              <a:rPr lang="en-US" sz="2400" dirty="0"/>
              <a:t>Expressing your ideas clearly and precisely</a:t>
            </a:r>
            <a:endParaRPr dirty="0"/>
          </a:p>
          <a:p>
            <a:pPr marL="228600" lvl="0" indent="-228600" algn="l" rtl="0">
              <a:lnSpc>
                <a:spcPct val="110000"/>
              </a:lnSpc>
              <a:spcBef>
                <a:spcPts val="0"/>
              </a:spcBef>
              <a:spcAft>
                <a:spcPts val="0"/>
              </a:spcAft>
              <a:buClr>
                <a:schemeClr val="dk1"/>
              </a:buClr>
              <a:buSzPts val="2400"/>
              <a:buChar char="•"/>
            </a:pPr>
            <a:r>
              <a:rPr lang="en-US" sz="2400" dirty="0"/>
              <a:t>Listening to, and understanding ideas of others</a:t>
            </a:r>
            <a:endParaRPr dirty="0"/>
          </a:p>
          <a:p>
            <a:pPr marL="228600" lvl="0" indent="-228600" algn="l" rtl="0">
              <a:lnSpc>
                <a:spcPct val="110000"/>
              </a:lnSpc>
              <a:spcBef>
                <a:spcPts val="0"/>
              </a:spcBef>
              <a:spcAft>
                <a:spcPts val="0"/>
              </a:spcAft>
              <a:buClr>
                <a:schemeClr val="dk1"/>
              </a:buClr>
              <a:buSzPts val="2400"/>
              <a:buChar char="•"/>
            </a:pPr>
            <a:r>
              <a:rPr lang="en-US" sz="2400" dirty="0"/>
              <a:t>Responding with feedback, and sharing ideas</a:t>
            </a:r>
            <a:endParaRPr dirty="0"/>
          </a:p>
          <a:p>
            <a:pPr marL="228600" lvl="0" indent="-76200" algn="l" rtl="0">
              <a:lnSpc>
                <a:spcPct val="110000"/>
              </a:lnSpc>
              <a:spcBef>
                <a:spcPts val="0"/>
              </a:spcBef>
              <a:spcAft>
                <a:spcPts val="0"/>
              </a:spcAft>
              <a:buClr>
                <a:schemeClr val="dk1"/>
              </a:buClr>
              <a:buSzPts val="2400"/>
              <a:buNone/>
            </a:pPr>
            <a:endParaRPr sz="2400" dirty="0"/>
          </a:p>
          <a:p>
            <a:pPr marL="0" lvl="0" indent="0" algn="l" rtl="0">
              <a:lnSpc>
                <a:spcPct val="110000"/>
              </a:lnSpc>
              <a:spcBef>
                <a:spcPts val="0"/>
              </a:spcBef>
              <a:spcAft>
                <a:spcPts val="0"/>
              </a:spcAft>
              <a:buClr>
                <a:schemeClr val="dk1"/>
              </a:buClr>
              <a:buSzPts val="2400"/>
              <a:buNone/>
            </a:pPr>
            <a:r>
              <a:rPr lang="en-US" sz="2400" b="1" dirty="0"/>
              <a:t>Communication is affected by:</a:t>
            </a:r>
            <a:endParaRPr dirty="0"/>
          </a:p>
          <a:p>
            <a:pPr marL="228600" lvl="0" indent="-228600" algn="l" rtl="0">
              <a:lnSpc>
                <a:spcPct val="110000"/>
              </a:lnSpc>
              <a:spcBef>
                <a:spcPts val="0"/>
              </a:spcBef>
              <a:spcAft>
                <a:spcPts val="0"/>
              </a:spcAft>
              <a:buClr>
                <a:schemeClr val="dk1"/>
              </a:buClr>
              <a:buSzPts val="2400"/>
              <a:buChar char="•"/>
            </a:pPr>
            <a:r>
              <a:rPr lang="en-US" sz="2400" dirty="0"/>
              <a:t>The source, the message, the channel used, the environment, and the context</a:t>
            </a:r>
            <a:endParaRPr dirty="0"/>
          </a:p>
          <a:p>
            <a:pPr marL="228600" lvl="0" indent="-228600" algn="l" rtl="0">
              <a:lnSpc>
                <a:spcPct val="110000"/>
              </a:lnSpc>
              <a:spcBef>
                <a:spcPts val="0"/>
              </a:spcBef>
              <a:spcAft>
                <a:spcPts val="0"/>
              </a:spcAft>
              <a:buClr>
                <a:schemeClr val="dk1"/>
              </a:buClr>
              <a:buSzPts val="2400"/>
              <a:buChar char="•"/>
            </a:pPr>
            <a:r>
              <a:rPr lang="en-US" sz="2400" dirty="0"/>
              <a:t>Interference: anything that blocks or changes the message </a:t>
            </a:r>
            <a:endParaRPr dirty="0"/>
          </a:p>
          <a:p>
            <a:pPr marL="228600" lvl="0" indent="-228600" algn="l" rtl="0">
              <a:lnSpc>
                <a:spcPct val="110000"/>
              </a:lnSpc>
              <a:spcBef>
                <a:spcPts val="0"/>
              </a:spcBef>
              <a:spcAft>
                <a:spcPts val="0"/>
              </a:spcAft>
              <a:buClr>
                <a:schemeClr val="dk1"/>
              </a:buClr>
              <a:buSzPts val="2400"/>
              <a:buChar char="•"/>
            </a:pPr>
            <a:r>
              <a:rPr lang="en-US" sz="2400" dirty="0"/>
              <a:t>Language: language itself can be an obstacle to communication</a:t>
            </a:r>
            <a:endParaRPr dirty="0"/>
          </a:p>
          <a:p>
            <a:pPr marL="228600" lvl="0" indent="-76200" algn="l" rtl="0">
              <a:lnSpc>
                <a:spcPct val="110000"/>
              </a:lnSpc>
              <a:spcBef>
                <a:spcPts val="0"/>
              </a:spcBef>
              <a:spcAft>
                <a:spcPts val="0"/>
              </a:spcAft>
              <a:buClr>
                <a:schemeClr val="dk1"/>
              </a:buClr>
              <a:buSzPts val="24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a:solidFill>
                  <a:schemeClr val="accent5"/>
                </a:solidFill>
                <a:latin typeface="Calibri"/>
                <a:ea typeface="Calibri"/>
                <a:cs typeface="Calibri"/>
                <a:sym typeface="Calibri"/>
              </a:rPr>
              <a:t>Good Writing</a:t>
            </a:r>
            <a:endParaRPr b="1">
              <a:solidFill>
                <a:schemeClr val="accent5"/>
              </a:solidFill>
              <a:latin typeface="Calibri"/>
              <a:ea typeface="Calibri"/>
              <a:cs typeface="Calibri"/>
              <a:sym typeface="Calibri"/>
            </a:endParaRPr>
          </a:p>
        </p:txBody>
      </p:sp>
      <p:sp>
        <p:nvSpPr>
          <p:cNvPr id="131" name="Google Shape;131;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u="sng" dirty="0"/>
              <a:t>Most</a:t>
            </a:r>
            <a:r>
              <a:rPr lang="en-US" sz="2400" dirty="0"/>
              <a:t> of your communication in this course will be </a:t>
            </a:r>
            <a:r>
              <a:rPr lang="en-US" sz="2400" b="1" dirty="0">
                <a:solidFill>
                  <a:schemeClr val="accent5"/>
                </a:solidFill>
              </a:rPr>
              <a:t>written </a:t>
            </a:r>
            <a:r>
              <a:rPr lang="en-US" sz="2400" dirty="0"/>
              <a:t>communication</a:t>
            </a:r>
            <a:endParaRPr dirty="0"/>
          </a:p>
          <a:p>
            <a:pPr marL="228600" lvl="0" indent="-152400" algn="l" rtl="0">
              <a:lnSpc>
                <a:spcPct val="100000"/>
              </a:lnSpc>
              <a:spcBef>
                <a:spcPts val="0"/>
              </a:spcBef>
              <a:spcAft>
                <a:spcPts val="0"/>
              </a:spcAft>
              <a:buClr>
                <a:schemeClr val="dk1"/>
              </a:buClr>
              <a:buSzPts val="1200"/>
              <a:buNone/>
            </a:pPr>
            <a:endParaRPr sz="1200" dirty="0"/>
          </a:p>
          <a:p>
            <a:pPr marL="0" lvl="0" indent="0" algn="l" rtl="0">
              <a:lnSpc>
                <a:spcPct val="100000"/>
              </a:lnSpc>
              <a:spcBef>
                <a:spcPts val="0"/>
              </a:spcBef>
              <a:spcAft>
                <a:spcPts val="0"/>
              </a:spcAft>
              <a:buClr>
                <a:schemeClr val="dk1"/>
              </a:buClr>
              <a:buSzPts val="2400"/>
              <a:buNone/>
            </a:pPr>
            <a:r>
              <a:rPr lang="en-US" sz="2400" b="1" dirty="0">
                <a:solidFill>
                  <a:srgbClr val="FF0000"/>
                </a:solidFill>
              </a:rPr>
              <a:t>Good</a:t>
            </a:r>
            <a:r>
              <a:rPr lang="en-US" sz="2400" b="1" dirty="0"/>
              <a:t> Business Writing:</a:t>
            </a:r>
            <a:endParaRPr dirty="0"/>
          </a:p>
          <a:p>
            <a:pPr marL="228600" lvl="0" indent="-228600" algn="l" rtl="0">
              <a:lnSpc>
                <a:spcPct val="100000"/>
              </a:lnSpc>
              <a:spcBef>
                <a:spcPts val="0"/>
              </a:spcBef>
              <a:spcAft>
                <a:spcPts val="0"/>
              </a:spcAft>
              <a:buClr>
                <a:schemeClr val="dk1"/>
              </a:buClr>
              <a:buSzPts val="2400"/>
              <a:buChar char="•"/>
            </a:pPr>
            <a:r>
              <a:rPr lang="en-US" sz="2400" dirty="0"/>
              <a:t>Follows ‘rules’: grammar, norms, expectations</a:t>
            </a:r>
            <a:endParaRPr dirty="0"/>
          </a:p>
          <a:p>
            <a:pPr marL="228600" lvl="0" indent="-228600" algn="l" rtl="0">
              <a:lnSpc>
                <a:spcPct val="100000"/>
              </a:lnSpc>
              <a:spcBef>
                <a:spcPts val="0"/>
              </a:spcBef>
              <a:spcAft>
                <a:spcPts val="0"/>
              </a:spcAft>
              <a:buClr>
                <a:schemeClr val="dk1"/>
              </a:buClr>
              <a:buSzPts val="2400"/>
              <a:buChar char="•"/>
            </a:pPr>
            <a:r>
              <a:rPr lang="en-US" sz="2400" dirty="0"/>
              <a:t>Is easy to read</a:t>
            </a:r>
            <a:endParaRPr dirty="0"/>
          </a:p>
          <a:p>
            <a:pPr marL="228600" lvl="0" indent="-228600" algn="l" rtl="0">
              <a:lnSpc>
                <a:spcPct val="100000"/>
              </a:lnSpc>
              <a:spcBef>
                <a:spcPts val="0"/>
              </a:spcBef>
              <a:spcAft>
                <a:spcPts val="0"/>
              </a:spcAft>
              <a:buClr>
                <a:schemeClr val="dk1"/>
              </a:buClr>
              <a:buSzPts val="2400"/>
              <a:buChar char="•"/>
            </a:pPr>
            <a:r>
              <a:rPr lang="en-US" sz="2400" dirty="0"/>
              <a:t>Serves a purpose and attracts the audience</a:t>
            </a:r>
            <a:endParaRPr dirty="0"/>
          </a:p>
          <a:p>
            <a:pPr marL="228600" lvl="0" indent="-152400" algn="l" rtl="0">
              <a:lnSpc>
                <a:spcPct val="100000"/>
              </a:lnSpc>
              <a:spcBef>
                <a:spcPts val="0"/>
              </a:spcBef>
              <a:spcAft>
                <a:spcPts val="0"/>
              </a:spcAft>
              <a:buClr>
                <a:schemeClr val="dk1"/>
              </a:buClr>
              <a:buSzPts val="1200"/>
              <a:buNone/>
            </a:pPr>
            <a:endParaRPr sz="1200" dirty="0"/>
          </a:p>
          <a:p>
            <a:pPr marL="0" lvl="0" indent="0" algn="l" rtl="0">
              <a:lnSpc>
                <a:spcPct val="100000"/>
              </a:lnSpc>
              <a:spcBef>
                <a:spcPts val="0"/>
              </a:spcBef>
              <a:spcAft>
                <a:spcPts val="0"/>
              </a:spcAft>
              <a:buClr>
                <a:schemeClr val="dk1"/>
              </a:buClr>
              <a:buSzPts val="2400"/>
              <a:buNone/>
            </a:pPr>
            <a:r>
              <a:rPr lang="en-US" sz="2400" b="1" dirty="0"/>
              <a:t>Consider:</a:t>
            </a:r>
            <a:endParaRPr dirty="0"/>
          </a:p>
          <a:p>
            <a:pPr marL="228600" lvl="0" indent="-228600" algn="l" rtl="0">
              <a:lnSpc>
                <a:spcPct val="100000"/>
              </a:lnSpc>
              <a:spcBef>
                <a:spcPts val="0"/>
              </a:spcBef>
              <a:spcAft>
                <a:spcPts val="0"/>
              </a:spcAft>
              <a:buClr>
                <a:schemeClr val="dk1"/>
              </a:buClr>
              <a:buSzPts val="2400"/>
              <a:buChar char="•"/>
            </a:pPr>
            <a:r>
              <a:rPr lang="en-US" sz="2400" dirty="0"/>
              <a:t>Clarity, Conciseness, Arrangement, Credibility, Expectations, References, Tone, Emphasis and Engagement</a:t>
            </a:r>
            <a:endParaRPr dirty="0"/>
          </a:p>
          <a:p>
            <a:pPr marL="228600" lvl="0" indent="-152400" algn="l" rtl="0">
              <a:lnSpc>
                <a:spcPct val="100000"/>
              </a:lnSpc>
              <a:spcBef>
                <a:spcPts val="0"/>
              </a:spcBef>
              <a:spcAft>
                <a:spcPts val="0"/>
              </a:spcAft>
              <a:buClr>
                <a:schemeClr val="dk1"/>
              </a:buClr>
              <a:buSzPts val="1200"/>
              <a:buNone/>
            </a:pPr>
            <a:endParaRPr sz="1200" dirty="0"/>
          </a:p>
          <a:p>
            <a:pPr marL="0" lvl="0" indent="0" algn="l" rtl="0">
              <a:lnSpc>
                <a:spcPct val="100000"/>
              </a:lnSpc>
              <a:spcBef>
                <a:spcPts val="0"/>
              </a:spcBef>
              <a:spcAft>
                <a:spcPts val="0"/>
              </a:spcAft>
              <a:buClr>
                <a:schemeClr val="dk1"/>
              </a:buClr>
              <a:buSzPts val="2400"/>
              <a:buNone/>
            </a:pPr>
            <a:r>
              <a:rPr lang="en-US" sz="2400" b="1" dirty="0"/>
              <a:t>Remember: </a:t>
            </a:r>
            <a:r>
              <a:rPr lang="en-US" sz="2400" dirty="0">
                <a:solidFill>
                  <a:srgbClr val="FF0000"/>
                </a:solidFill>
              </a:rPr>
              <a:t>Writing that does not meet this criteria </a:t>
            </a:r>
            <a:r>
              <a:rPr lang="en-US" sz="2400" b="1" dirty="0">
                <a:solidFill>
                  <a:srgbClr val="FF0000"/>
                </a:solidFill>
              </a:rPr>
              <a:t>will not be effective writing</a:t>
            </a:r>
            <a:endParaRPr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a:solidFill>
                  <a:schemeClr val="accent5"/>
                </a:solidFill>
                <a:latin typeface="Calibri"/>
                <a:ea typeface="Calibri"/>
                <a:cs typeface="Calibri"/>
                <a:sym typeface="Calibri"/>
              </a:rPr>
              <a:t>Why is Business Communication important?</a:t>
            </a:r>
            <a:br>
              <a:rPr lang="en-US" b="1">
                <a:solidFill>
                  <a:schemeClr val="accent5"/>
                </a:solidFill>
                <a:latin typeface="Calibri"/>
                <a:ea typeface="Calibri"/>
                <a:cs typeface="Calibri"/>
                <a:sym typeface="Calibri"/>
              </a:rPr>
            </a:br>
            <a:r>
              <a:rPr lang="en-US" b="1">
                <a:solidFill>
                  <a:schemeClr val="accent5"/>
                </a:solidFill>
                <a:latin typeface="Calibri"/>
                <a:ea typeface="Calibri"/>
                <a:cs typeface="Calibri"/>
                <a:sym typeface="Calibri"/>
              </a:rPr>
              <a:t>What is its purpose?</a:t>
            </a:r>
            <a:endParaRPr/>
          </a:p>
        </p:txBody>
      </p:sp>
      <p:pic>
        <p:nvPicPr>
          <p:cNvPr id="156" name="Google Shape;156;p9"/>
          <p:cNvPicPr preferRelativeResize="0"/>
          <p:nvPr/>
        </p:nvPicPr>
        <p:blipFill rotWithShape="1">
          <a:blip r:embed="rId3">
            <a:alphaModFix/>
          </a:blip>
          <a:srcRect/>
          <a:stretch/>
        </p:blipFill>
        <p:spPr>
          <a:xfrm>
            <a:off x="838200" y="1804988"/>
            <a:ext cx="7600950" cy="4371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a:solidFill>
                  <a:schemeClr val="accent5"/>
                </a:solidFill>
                <a:latin typeface="Calibri"/>
                <a:ea typeface="Calibri"/>
                <a:cs typeface="Calibri"/>
                <a:sym typeface="Calibri"/>
              </a:rPr>
              <a:t>The Audience</a:t>
            </a:r>
            <a:endParaRPr b="1">
              <a:solidFill>
                <a:schemeClr val="accent5"/>
              </a:solidFill>
              <a:latin typeface="Calibri"/>
              <a:ea typeface="Calibri"/>
              <a:cs typeface="Calibri"/>
              <a:sym typeface="Calibri"/>
            </a:endParaRPr>
          </a:p>
        </p:txBody>
      </p:sp>
      <p:sp>
        <p:nvSpPr>
          <p:cNvPr id="145" name="Google Shape;14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None/>
            </a:pPr>
            <a:r>
              <a:rPr lang="en-US" sz="2400" b="1" dirty="0"/>
              <a:t>Knowing and understanding your audience will help you communicate effectively</a:t>
            </a:r>
            <a:endParaRPr dirty="0"/>
          </a:p>
          <a:p>
            <a:pPr marL="228600" lvl="0" indent="-76200" algn="l" rtl="0">
              <a:lnSpc>
                <a:spcPct val="100000"/>
              </a:lnSpc>
              <a:spcBef>
                <a:spcPts val="0"/>
              </a:spcBef>
              <a:spcAft>
                <a:spcPts val="0"/>
              </a:spcAft>
              <a:buClr>
                <a:schemeClr val="dk1"/>
              </a:buClr>
              <a:buSzPts val="2400"/>
              <a:buNone/>
            </a:pPr>
            <a:endParaRPr sz="2400" dirty="0"/>
          </a:p>
          <a:p>
            <a:pPr marL="0" lvl="0" indent="0" algn="l" rtl="0">
              <a:lnSpc>
                <a:spcPct val="100000"/>
              </a:lnSpc>
              <a:spcBef>
                <a:spcPts val="0"/>
              </a:spcBef>
              <a:spcAft>
                <a:spcPts val="0"/>
              </a:spcAft>
              <a:buClr>
                <a:schemeClr val="dk1"/>
              </a:buClr>
              <a:buSzPts val="2400"/>
              <a:buNone/>
            </a:pPr>
            <a:r>
              <a:rPr lang="en-US" sz="2400" b="1" dirty="0"/>
              <a:t>Consider:</a:t>
            </a:r>
            <a:endParaRPr sz="2400" b="1" dirty="0"/>
          </a:p>
          <a:p>
            <a:pPr marL="228600" lvl="0" indent="-228600" algn="l" rtl="0">
              <a:lnSpc>
                <a:spcPct val="100000"/>
              </a:lnSpc>
              <a:spcBef>
                <a:spcPts val="0"/>
              </a:spcBef>
              <a:spcAft>
                <a:spcPts val="0"/>
              </a:spcAft>
              <a:buClr>
                <a:schemeClr val="dk1"/>
              </a:buClr>
              <a:buSzPts val="2400"/>
              <a:buChar char="•"/>
            </a:pPr>
            <a:r>
              <a:rPr lang="en-US" sz="2400" dirty="0">
                <a:solidFill>
                  <a:srgbClr val="FF0000"/>
                </a:solidFill>
              </a:rPr>
              <a:t>Who</a:t>
            </a:r>
            <a:r>
              <a:rPr lang="en-US" sz="2400" dirty="0"/>
              <a:t> is the audience?</a:t>
            </a:r>
            <a:endParaRPr dirty="0"/>
          </a:p>
          <a:p>
            <a:pPr marL="228600" lvl="0" indent="-228600" algn="l" rtl="0">
              <a:lnSpc>
                <a:spcPct val="100000"/>
              </a:lnSpc>
              <a:spcBef>
                <a:spcPts val="0"/>
              </a:spcBef>
              <a:spcAft>
                <a:spcPts val="0"/>
              </a:spcAft>
              <a:buClr>
                <a:schemeClr val="dk1"/>
              </a:buClr>
              <a:buSzPts val="2400"/>
              <a:buChar char="•"/>
            </a:pPr>
            <a:r>
              <a:rPr lang="en-US" sz="2400" dirty="0">
                <a:solidFill>
                  <a:srgbClr val="FF0000"/>
                </a:solidFill>
              </a:rPr>
              <a:t>How large </a:t>
            </a:r>
            <a:r>
              <a:rPr lang="en-US" sz="2400" dirty="0"/>
              <a:t>is the audience?</a:t>
            </a:r>
            <a:endParaRPr dirty="0"/>
          </a:p>
          <a:p>
            <a:pPr marL="228600" lvl="0" indent="-228600" algn="l" rtl="0">
              <a:lnSpc>
                <a:spcPct val="100000"/>
              </a:lnSpc>
              <a:spcBef>
                <a:spcPts val="0"/>
              </a:spcBef>
              <a:spcAft>
                <a:spcPts val="0"/>
              </a:spcAft>
              <a:buClr>
                <a:schemeClr val="dk1"/>
              </a:buClr>
              <a:buSzPts val="2400"/>
              <a:buChar char="•"/>
            </a:pPr>
            <a:r>
              <a:rPr lang="en-US" sz="2400" dirty="0"/>
              <a:t>What are the </a:t>
            </a:r>
            <a:r>
              <a:rPr lang="en-US" sz="2400" dirty="0">
                <a:solidFill>
                  <a:srgbClr val="FF0000"/>
                </a:solidFill>
              </a:rPr>
              <a:t>backgrounds, genders, ages, jobs, education level </a:t>
            </a:r>
            <a:r>
              <a:rPr lang="en-US" sz="2400" dirty="0"/>
              <a:t>and </a:t>
            </a:r>
            <a:r>
              <a:rPr lang="en-US" sz="2400" dirty="0">
                <a:solidFill>
                  <a:srgbClr val="FF0000"/>
                </a:solidFill>
              </a:rPr>
              <a:t>interests</a:t>
            </a:r>
            <a:r>
              <a:rPr lang="en-US" sz="2400" dirty="0"/>
              <a:t>?</a:t>
            </a:r>
            <a:endParaRPr dirty="0"/>
          </a:p>
          <a:p>
            <a:pPr marL="228600" lvl="0" indent="-228600" algn="l" rtl="0">
              <a:lnSpc>
                <a:spcPct val="100000"/>
              </a:lnSpc>
              <a:spcBef>
                <a:spcPts val="0"/>
              </a:spcBef>
              <a:spcAft>
                <a:spcPts val="0"/>
              </a:spcAft>
              <a:buClr>
                <a:schemeClr val="dk1"/>
              </a:buClr>
              <a:buSzPts val="2400"/>
              <a:buChar char="•"/>
            </a:pPr>
            <a:r>
              <a:rPr lang="en-US" sz="2400" dirty="0"/>
              <a:t>What do you think the audience </a:t>
            </a:r>
            <a:r>
              <a:rPr lang="en-US" sz="2400" u="sng" dirty="0">
                <a:solidFill>
                  <a:srgbClr val="FF0000"/>
                </a:solidFill>
              </a:rPr>
              <a:t>already knows</a:t>
            </a:r>
            <a:r>
              <a:rPr lang="en-US" sz="2400" dirty="0"/>
              <a:t>?</a:t>
            </a:r>
            <a:endParaRPr dirty="0"/>
          </a:p>
          <a:p>
            <a:pPr marL="228600" lvl="0" indent="-228600" algn="l" rtl="0">
              <a:lnSpc>
                <a:spcPct val="100000"/>
              </a:lnSpc>
              <a:spcBef>
                <a:spcPts val="0"/>
              </a:spcBef>
              <a:spcAft>
                <a:spcPts val="0"/>
              </a:spcAft>
              <a:buClr>
                <a:schemeClr val="dk1"/>
              </a:buClr>
              <a:buSzPts val="2400"/>
              <a:buChar char="•"/>
            </a:pPr>
            <a:r>
              <a:rPr lang="en-US" sz="2400" dirty="0"/>
              <a:t>What do you think the audience </a:t>
            </a:r>
            <a:r>
              <a:rPr lang="en-US" sz="2400" u="sng" dirty="0">
                <a:solidFill>
                  <a:srgbClr val="FF0000"/>
                </a:solidFill>
              </a:rPr>
              <a:t>needs to know</a:t>
            </a:r>
            <a:r>
              <a:rPr lang="en-US" sz="2400" dirty="0"/>
              <a:t>?</a:t>
            </a:r>
            <a:endParaRPr dirty="0"/>
          </a:p>
          <a:p>
            <a:pPr marL="228600" lvl="0" indent="-228600" algn="l" rtl="0">
              <a:lnSpc>
                <a:spcPct val="100000"/>
              </a:lnSpc>
              <a:spcBef>
                <a:spcPts val="0"/>
              </a:spcBef>
              <a:spcAft>
                <a:spcPts val="0"/>
              </a:spcAft>
              <a:buClr>
                <a:schemeClr val="dk1"/>
              </a:buClr>
              <a:buSzPts val="2400"/>
              <a:buChar char="•"/>
            </a:pPr>
            <a:r>
              <a:rPr lang="en-US" sz="2400" dirty="0"/>
              <a:t>What communication </a:t>
            </a:r>
            <a:r>
              <a:rPr lang="en-US" sz="2400" dirty="0">
                <a:solidFill>
                  <a:srgbClr val="FF0000"/>
                </a:solidFill>
              </a:rPr>
              <a:t>channel/method/platform</a:t>
            </a:r>
            <a:r>
              <a:rPr lang="en-US" sz="2400" dirty="0"/>
              <a:t> will best reach the audience?</a:t>
            </a: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114314" cy="1325563"/>
          </a:xfrm>
        </p:spPr>
        <p:txBody>
          <a:bodyPr/>
          <a:lstStyle/>
          <a:p>
            <a:r>
              <a:rPr lang="en-US" b="1" dirty="0">
                <a:solidFill>
                  <a:schemeClr val="accent5"/>
                </a:solidFill>
              </a:rPr>
              <a:t>Types of Business Communication Methods/Platforms:</a:t>
            </a:r>
          </a:p>
        </p:txBody>
      </p:sp>
      <p:sp>
        <p:nvSpPr>
          <p:cNvPr id="3" name="Text Placeholder 2"/>
          <p:cNvSpPr>
            <a:spLocks noGrp="1"/>
          </p:cNvSpPr>
          <p:nvPr>
            <p:ph type="body" idx="1"/>
          </p:nvPr>
        </p:nvSpPr>
        <p:spPr>
          <a:xfrm>
            <a:off x="838200" y="1825625"/>
            <a:ext cx="11353800" cy="4351338"/>
          </a:xfrm>
        </p:spPr>
        <p:txBody>
          <a:bodyPr>
            <a:normAutofit/>
          </a:bodyPr>
          <a:lstStyle/>
          <a:p>
            <a:pPr marL="114300" indent="0">
              <a:buNone/>
            </a:pPr>
            <a:r>
              <a:rPr lang="en-US" sz="2400" b="1" dirty="0"/>
              <a:t>Q: How many types of methods/platforms for business communication can you identify?</a:t>
            </a:r>
          </a:p>
        </p:txBody>
      </p:sp>
    </p:spTree>
    <p:extLst>
      <p:ext uri="{BB962C8B-B14F-4D97-AF65-F5344CB8AC3E}">
        <p14:creationId xmlns:p14="http://schemas.microsoft.com/office/powerpoint/2010/main" val="368852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353801" cy="1325563"/>
          </a:xfrm>
        </p:spPr>
        <p:txBody>
          <a:bodyPr/>
          <a:lstStyle/>
          <a:p>
            <a:r>
              <a:rPr lang="en-US" b="1" dirty="0">
                <a:solidFill>
                  <a:schemeClr val="accent5"/>
                </a:solidFill>
              </a:rPr>
              <a:t>Different Methods/Platforms for communications:</a:t>
            </a:r>
          </a:p>
        </p:txBody>
      </p:sp>
      <p:pic>
        <p:nvPicPr>
          <p:cNvPr id="4" name="Picture 3"/>
          <p:cNvPicPr>
            <a:picLocks noChangeAspect="1"/>
          </p:cNvPicPr>
          <p:nvPr/>
        </p:nvPicPr>
        <p:blipFill>
          <a:blip r:embed="rId2"/>
          <a:stretch>
            <a:fillRect/>
          </a:stretch>
        </p:blipFill>
        <p:spPr>
          <a:xfrm>
            <a:off x="838199" y="1700889"/>
            <a:ext cx="10515601" cy="1013734"/>
          </a:xfrm>
          <a:prstGeom prst="rect">
            <a:avLst/>
          </a:prstGeom>
        </p:spPr>
      </p:pic>
      <p:sp>
        <p:nvSpPr>
          <p:cNvPr id="3" name="Text Placeholder 2"/>
          <p:cNvSpPr>
            <a:spLocks noGrp="1"/>
          </p:cNvSpPr>
          <p:nvPr>
            <p:ph type="body" idx="1"/>
          </p:nvPr>
        </p:nvSpPr>
        <p:spPr>
          <a:xfrm>
            <a:off x="7347856" y="2923049"/>
            <a:ext cx="4572001" cy="3995576"/>
          </a:xfrm>
        </p:spPr>
        <p:txBody>
          <a:bodyPr>
            <a:normAutofit lnSpcReduction="10000"/>
          </a:bodyPr>
          <a:lstStyle/>
          <a:p>
            <a:pPr marL="114300" indent="0">
              <a:lnSpc>
                <a:spcPct val="100000"/>
              </a:lnSpc>
              <a:spcBef>
                <a:spcPts val="0"/>
              </a:spcBef>
              <a:buNone/>
            </a:pPr>
            <a:r>
              <a:rPr lang="en-US" sz="2400" b="1" dirty="0"/>
              <a:t>We are mostly interested in:</a:t>
            </a:r>
          </a:p>
          <a:p>
            <a:pPr>
              <a:lnSpc>
                <a:spcPct val="100000"/>
              </a:lnSpc>
              <a:spcBef>
                <a:spcPts val="0"/>
              </a:spcBef>
            </a:pPr>
            <a:r>
              <a:rPr lang="en-US" sz="2400" dirty="0"/>
              <a:t>Email</a:t>
            </a:r>
          </a:p>
          <a:p>
            <a:pPr>
              <a:lnSpc>
                <a:spcPct val="100000"/>
              </a:lnSpc>
              <a:spcBef>
                <a:spcPts val="0"/>
              </a:spcBef>
            </a:pPr>
            <a:r>
              <a:rPr lang="en-US" sz="2400" dirty="0"/>
              <a:t>Meetings</a:t>
            </a:r>
          </a:p>
          <a:p>
            <a:pPr>
              <a:lnSpc>
                <a:spcPct val="100000"/>
              </a:lnSpc>
              <a:spcBef>
                <a:spcPts val="0"/>
              </a:spcBef>
            </a:pPr>
            <a:r>
              <a:rPr lang="en-US" sz="2400" dirty="0"/>
              <a:t>Business Information and Updates</a:t>
            </a:r>
          </a:p>
          <a:p>
            <a:pPr>
              <a:lnSpc>
                <a:spcPct val="100000"/>
              </a:lnSpc>
              <a:spcBef>
                <a:spcPts val="0"/>
              </a:spcBef>
            </a:pPr>
            <a:r>
              <a:rPr lang="en-US" sz="2400" dirty="0"/>
              <a:t>Proposal Presentations</a:t>
            </a:r>
          </a:p>
          <a:p>
            <a:pPr>
              <a:lnSpc>
                <a:spcPct val="100000"/>
              </a:lnSpc>
              <a:spcBef>
                <a:spcPts val="0"/>
              </a:spcBef>
            </a:pPr>
            <a:r>
              <a:rPr lang="en-US" sz="2400" dirty="0"/>
              <a:t>(Short) Progress Reports</a:t>
            </a:r>
          </a:p>
          <a:p>
            <a:pPr>
              <a:lnSpc>
                <a:spcPct val="100000"/>
              </a:lnSpc>
              <a:spcBef>
                <a:spcPts val="0"/>
              </a:spcBef>
            </a:pPr>
            <a:r>
              <a:rPr lang="en-US" sz="2400" dirty="0"/>
              <a:t>Instant Messaging</a:t>
            </a:r>
          </a:p>
          <a:p>
            <a:pPr>
              <a:lnSpc>
                <a:spcPct val="100000"/>
              </a:lnSpc>
              <a:spcBef>
                <a:spcPts val="0"/>
              </a:spcBef>
            </a:pPr>
            <a:r>
              <a:rPr lang="en-US" sz="2400" dirty="0"/>
              <a:t>Social Media</a:t>
            </a:r>
          </a:p>
          <a:p>
            <a:pPr>
              <a:lnSpc>
                <a:spcPct val="100000"/>
              </a:lnSpc>
              <a:spcBef>
                <a:spcPts val="0"/>
              </a:spcBef>
            </a:pPr>
            <a:r>
              <a:rPr lang="en-US" sz="2400" dirty="0"/>
              <a:t>AI-assisted Business Communication</a:t>
            </a:r>
          </a:p>
        </p:txBody>
      </p:sp>
      <p:pic>
        <p:nvPicPr>
          <p:cNvPr id="5" name="Picture 4"/>
          <p:cNvPicPr>
            <a:picLocks noChangeAspect="1"/>
          </p:cNvPicPr>
          <p:nvPr/>
        </p:nvPicPr>
        <p:blipFill>
          <a:blip r:embed="rId3"/>
          <a:stretch>
            <a:fillRect/>
          </a:stretch>
        </p:blipFill>
        <p:spPr>
          <a:xfrm>
            <a:off x="838199" y="2923048"/>
            <a:ext cx="6640287" cy="3787152"/>
          </a:xfrm>
          <a:prstGeom prst="rect">
            <a:avLst/>
          </a:prstGeom>
        </p:spPr>
      </p:pic>
    </p:spTree>
    <p:extLst>
      <p:ext uri="{BB962C8B-B14F-4D97-AF65-F5344CB8AC3E}">
        <p14:creationId xmlns:p14="http://schemas.microsoft.com/office/powerpoint/2010/main" val="231567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2EE7791-B529-393C-A934-E87A3665AA35}"/>
            </a:ext>
          </a:extLst>
        </p:cNvPr>
        <p:cNvGrpSpPr/>
        <p:nvPr/>
      </p:nvGrpSpPr>
      <p:grpSpPr>
        <a:xfrm>
          <a:off x="0" y="0"/>
          <a:ext cx="0" cy="0"/>
          <a:chOff x="0" y="0"/>
          <a:chExt cx="0" cy="0"/>
        </a:xfrm>
      </p:grpSpPr>
      <p:sp>
        <p:nvSpPr>
          <p:cNvPr id="144" name="Google Shape;144;p10">
            <a:extLst>
              <a:ext uri="{FF2B5EF4-FFF2-40B4-BE49-F238E27FC236}">
                <a16:creationId xmlns:a16="http://schemas.microsoft.com/office/drawing/2014/main" id="{051CAB87-81DB-D049-2404-2BD3CC73D21C}"/>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Choosing the Best Communication </a:t>
            </a:r>
            <a:r>
              <a:rPr lang="en-US" b="1" dirty="0">
                <a:solidFill>
                  <a:schemeClr val="accent5"/>
                </a:solidFill>
              </a:rPr>
              <a:t>M</a:t>
            </a:r>
            <a:r>
              <a:rPr lang="en-US" b="1" dirty="0">
                <a:solidFill>
                  <a:schemeClr val="accent5"/>
                </a:solidFill>
                <a:latin typeface="Calibri"/>
                <a:ea typeface="Calibri"/>
                <a:cs typeface="Calibri"/>
                <a:sym typeface="Calibri"/>
              </a:rPr>
              <a:t>ethod</a:t>
            </a:r>
            <a:endParaRPr b="1" dirty="0">
              <a:solidFill>
                <a:schemeClr val="accent5"/>
              </a:solidFill>
              <a:latin typeface="Calibri"/>
              <a:ea typeface="Calibri"/>
              <a:cs typeface="Calibri"/>
              <a:sym typeface="Calibri"/>
            </a:endParaRPr>
          </a:p>
        </p:txBody>
      </p:sp>
      <p:sp>
        <p:nvSpPr>
          <p:cNvPr id="145" name="Google Shape;145;p10">
            <a:extLst>
              <a:ext uri="{FF2B5EF4-FFF2-40B4-BE49-F238E27FC236}">
                <a16:creationId xmlns:a16="http://schemas.microsoft.com/office/drawing/2014/main" id="{FB4CA1D4-FF46-817C-2E1B-B62DEB0B0623}"/>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chemeClr val="dk1"/>
              </a:buClr>
              <a:buSzPts val="2400"/>
              <a:buNone/>
            </a:pPr>
            <a:r>
              <a:rPr lang="en-US" sz="2400" b="1" dirty="0"/>
              <a:t>Work with a partner. For each situation below, decide:</a:t>
            </a:r>
          </a:p>
          <a:p>
            <a:pPr indent="-457200">
              <a:lnSpc>
                <a:spcPct val="100000"/>
              </a:lnSpc>
              <a:spcBef>
                <a:spcPts val="0"/>
              </a:spcBef>
              <a:buSzPts val="2400"/>
            </a:pPr>
            <a:r>
              <a:rPr lang="en-US" sz="2400" b="1" dirty="0"/>
              <a:t>Who is the audience?</a:t>
            </a:r>
          </a:p>
          <a:p>
            <a:pPr indent="-457200">
              <a:lnSpc>
                <a:spcPct val="100000"/>
              </a:lnSpc>
              <a:spcBef>
                <a:spcPts val="0"/>
              </a:spcBef>
              <a:buSzPts val="2400"/>
            </a:pPr>
            <a:r>
              <a:rPr lang="en-US" sz="2400" b="1" dirty="0"/>
              <a:t>What is the purpose?</a:t>
            </a:r>
          </a:p>
          <a:p>
            <a:pPr indent="-457200">
              <a:lnSpc>
                <a:spcPct val="100000"/>
              </a:lnSpc>
              <a:spcBef>
                <a:spcPts val="0"/>
              </a:spcBef>
              <a:buSzPts val="2400"/>
            </a:pPr>
            <a:r>
              <a:rPr lang="en-US" sz="2400" b="1" dirty="0"/>
              <a:t>What is the best communication method?</a:t>
            </a:r>
            <a:endParaRPr sz="2400" b="1" dirty="0"/>
          </a:p>
          <a:p>
            <a:pPr marL="228600" lvl="0" indent="-76200" algn="l" rtl="0">
              <a:lnSpc>
                <a:spcPct val="100000"/>
              </a:lnSpc>
              <a:spcBef>
                <a:spcPts val="0"/>
              </a:spcBef>
              <a:spcAft>
                <a:spcPts val="0"/>
              </a:spcAft>
              <a:buClr>
                <a:schemeClr val="dk1"/>
              </a:buClr>
              <a:buSzPts val="2400"/>
              <a:buNone/>
            </a:pPr>
            <a:endParaRPr sz="2400" dirty="0"/>
          </a:p>
          <a:p>
            <a:pPr lvl="0" indent="-457200">
              <a:lnSpc>
                <a:spcPct val="100000"/>
              </a:lnSpc>
              <a:spcBef>
                <a:spcPts val="0"/>
              </a:spcBef>
              <a:buSzPts val="2400"/>
              <a:buFont typeface="+mj-lt"/>
              <a:buAutoNum type="arabicPeriod"/>
            </a:pPr>
            <a:r>
              <a:rPr lang="en-US" sz="2400" dirty="0"/>
              <a:t>A software update has introduced a serious security bug affecting all customers.</a:t>
            </a:r>
          </a:p>
          <a:p>
            <a:pPr lvl="0" indent="-457200">
              <a:lnSpc>
                <a:spcPct val="100000"/>
              </a:lnSpc>
              <a:spcBef>
                <a:spcPts val="0"/>
              </a:spcBef>
              <a:buSzPts val="2400"/>
              <a:buFont typeface="+mj-lt"/>
              <a:buAutoNum type="arabicPeriod"/>
            </a:pPr>
            <a:r>
              <a:rPr lang="en-US" sz="2400" dirty="0"/>
              <a:t>A customer reports that they were charged twice for an online payment.</a:t>
            </a:r>
          </a:p>
          <a:p>
            <a:pPr lvl="0" indent="-457200">
              <a:lnSpc>
                <a:spcPct val="100000"/>
              </a:lnSpc>
              <a:spcBef>
                <a:spcPts val="0"/>
              </a:spcBef>
              <a:buSzPts val="2400"/>
              <a:buFont typeface="+mj-lt"/>
              <a:buAutoNum type="arabicPeriod"/>
            </a:pPr>
            <a:r>
              <a:rPr lang="en-US" sz="2400" dirty="0"/>
              <a:t>Your project team needs to decide which programming framework to use for a new mobile application.</a:t>
            </a:r>
          </a:p>
          <a:p>
            <a:pPr lvl="0" indent="-457200">
              <a:lnSpc>
                <a:spcPct val="100000"/>
              </a:lnSpc>
              <a:spcBef>
                <a:spcPts val="0"/>
              </a:spcBef>
              <a:buSzPts val="2400"/>
              <a:buFont typeface="+mj-lt"/>
              <a:buAutoNum type="arabicPeriod"/>
            </a:pPr>
            <a:r>
              <a:rPr lang="en-US" sz="2400" dirty="0"/>
              <a:t>Management requests a summary of this month's IT Helpdesk performance, including graphs and recommendations.</a:t>
            </a:r>
          </a:p>
          <a:p>
            <a:pPr lvl="0" indent="-457200">
              <a:lnSpc>
                <a:spcPct val="100000"/>
              </a:lnSpc>
              <a:spcBef>
                <a:spcPts val="0"/>
              </a:spcBef>
              <a:buSzPts val="2400"/>
              <a:buFont typeface="+mj-lt"/>
              <a:buAutoNum type="arabicPeriod"/>
            </a:pPr>
            <a:r>
              <a:rPr lang="en-US" sz="2400" dirty="0"/>
              <a:t>Your company is launching a new AI feature and needs to announce it to customers before release.</a:t>
            </a:r>
          </a:p>
          <a:p>
            <a:pPr lvl="0" indent="-457200">
              <a:lnSpc>
                <a:spcPct val="100000"/>
              </a:lnSpc>
              <a:spcBef>
                <a:spcPts val="0"/>
              </a:spcBef>
              <a:buSzPts val="2400"/>
              <a:buFont typeface="+mj-lt"/>
              <a:buAutoNum type="arabicPeriod"/>
            </a:pPr>
            <a:endParaRPr lang="en-US" sz="2400" dirty="0"/>
          </a:p>
          <a:p>
            <a:pPr marL="0" lvl="0" indent="0">
              <a:lnSpc>
                <a:spcPct val="100000"/>
              </a:lnSpc>
              <a:spcBef>
                <a:spcPts val="0"/>
              </a:spcBef>
              <a:buSzPts val="2400"/>
              <a:buNone/>
            </a:pPr>
            <a:r>
              <a:rPr lang="en-US" sz="2400" dirty="0"/>
              <a:t>Do you think everyone would choose the same communication methods? Why/ Why not?</a:t>
            </a:r>
          </a:p>
        </p:txBody>
      </p:sp>
    </p:spTree>
    <p:extLst>
      <p:ext uri="{BB962C8B-B14F-4D97-AF65-F5344CB8AC3E}">
        <p14:creationId xmlns:p14="http://schemas.microsoft.com/office/powerpoint/2010/main" val="404682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txBox="1">
            <a:spLocks noGrp="1"/>
          </p:cNvSpPr>
          <p:nvPr>
            <p:ph type="title"/>
          </p:nvPr>
        </p:nvSpPr>
        <p:spPr>
          <a:xfrm>
            <a:off x="838200" y="365125"/>
            <a:ext cx="11081084"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5"/>
              </a:buClr>
              <a:buSzPts val="4800"/>
              <a:buFont typeface="Calibri"/>
              <a:buNone/>
            </a:pPr>
            <a:r>
              <a:rPr lang="en-US" sz="4800" b="1">
                <a:solidFill>
                  <a:schemeClr val="accent5"/>
                </a:solidFill>
                <a:latin typeface="Calibri"/>
                <a:ea typeface="Calibri"/>
                <a:cs typeface="Calibri"/>
                <a:sym typeface="Calibri"/>
              </a:rPr>
              <a:t>Different Audiences &amp; Different Purposes</a:t>
            </a:r>
            <a:endParaRPr sz="4800" b="1">
              <a:solidFill>
                <a:schemeClr val="accent5"/>
              </a:solidFill>
              <a:latin typeface="Calibri"/>
              <a:ea typeface="Calibri"/>
              <a:cs typeface="Calibri"/>
              <a:sym typeface="Calibri"/>
            </a:endParaRPr>
          </a:p>
        </p:txBody>
      </p:sp>
      <p:pic>
        <p:nvPicPr>
          <p:cNvPr id="173" name="Google Shape;173;p14"/>
          <p:cNvPicPr preferRelativeResize="0">
            <a:picLocks noGrp="1"/>
          </p:cNvPicPr>
          <p:nvPr>
            <p:ph type="body" idx="1"/>
          </p:nvPr>
        </p:nvPicPr>
        <p:blipFill rotWithShape="1">
          <a:blip r:embed="rId3">
            <a:alphaModFix/>
          </a:blip>
          <a:srcRect/>
          <a:stretch/>
        </p:blipFill>
        <p:spPr>
          <a:xfrm>
            <a:off x="7554311" y="1841667"/>
            <a:ext cx="4351338" cy="4351338"/>
          </a:xfrm>
          <a:prstGeom prst="rect">
            <a:avLst/>
          </a:prstGeom>
          <a:noFill/>
          <a:ln>
            <a:noFill/>
          </a:ln>
        </p:spPr>
      </p:pic>
      <p:sp>
        <p:nvSpPr>
          <p:cNvPr id="174" name="Google Shape;174;p14"/>
          <p:cNvSpPr txBox="1"/>
          <p:nvPr/>
        </p:nvSpPr>
        <p:spPr>
          <a:xfrm>
            <a:off x="838200" y="1841667"/>
            <a:ext cx="6143020" cy="4351338"/>
          </a:xfrm>
          <a:prstGeom prst="rect">
            <a:avLst/>
          </a:prstGeom>
          <a:noFill/>
          <a:ln>
            <a:noFill/>
          </a:ln>
        </p:spPr>
        <p:txBody>
          <a:bodyPr spcFirstLastPara="1" wrap="square" lIns="91425" tIns="45700" rIns="91425" bIns="45700" anchor="t" anchorCtr="0">
            <a:noAutofit/>
          </a:bodyPr>
          <a:lstStyle/>
          <a:p>
            <a:pPr marL="228600" marR="0" lvl="0" indent="-228600" algn="l" rtl="0">
              <a:lnSpc>
                <a:spcPct val="100000"/>
              </a:lnSpc>
              <a:spcBef>
                <a:spcPts val="0"/>
              </a:spcBef>
              <a:spcAft>
                <a:spcPts val="0"/>
              </a:spcAft>
              <a:buClr>
                <a:schemeClr val="accent5"/>
              </a:buClr>
              <a:buSzPts val="2400"/>
              <a:buFont typeface="Arial"/>
              <a:buChar char="•"/>
            </a:pPr>
            <a:r>
              <a:rPr lang="en-US" sz="2400" b="1" dirty="0">
                <a:solidFill>
                  <a:schemeClr val="accent5"/>
                </a:solidFill>
                <a:latin typeface="Calibri"/>
                <a:ea typeface="Calibri"/>
                <a:cs typeface="Calibri"/>
                <a:sym typeface="Calibri"/>
              </a:rPr>
              <a:t>WHAT</a:t>
            </a:r>
            <a:r>
              <a:rPr lang="en-US" sz="2400" dirty="0">
                <a:solidFill>
                  <a:schemeClr val="dk1"/>
                </a:solidFill>
                <a:latin typeface="Calibri"/>
                <a:ea typeface="Calibri"/>
                <a:cs typeface="Calibri"/>
                <a:sym typeface="Calibri"/>
              </a:rPr>
              <a:t> you communicate </a:t>
            </a:r>
            <a:endParaRPr dirty="0"/>
          </a:p>
          <a:p>
            <a:pPr marL="228600" marR="0" lvl="0" indent="-228600" algn="l" rtl="0">
              <a:lnSpc>
                <a:spcPct val="100000"/>
              </a:lnSpc>
              <a:spcBef>
                <a:spcPts val="0"/>
              </a:spcBef>
              <a:spcAft>
                <a:spcPts val="0"/>
              </a:spcAft>
              <a:buClr>
                <a:schemeClr val="accent5"/>
              </a:buClr>
              <a:buSzPts val="2400"/>
              <a:buFont typeface="Arial"/>
              <a:buChar char="•"/>
            </a:pPr>
            <a:r>
              <a:rPr lang="en-US" sz="2400" b="1" dirty="0">
                <a:solidFill>
                  <a:schemeClr val="accent5"/>
                </a:solidFill>
                <a:latin typeface="Calibri"/>
                <a:ea typeface="Calibri"/>
                <a:cs typeface="Calibri"/>
                <a:sym typeface="Calibri"/>
              </a:rPr>
              <a:t>HOW</a:t>
            </a:r>
            <a:r>
              <a:rPr lang="en-US" sz="2400" dirty="0">
                <a:solidFill>
                  <a:schemeClr val="dk1"/>
                </a:solidFill>
                <a:latin typeface="Calibri"/>
                <a:ea typeface="Calibri"/>
                <a:cs typeface="Calibri"/>
                <a:sym typeface="Calibri"/>
              </a:rPr>
              <a:t> you communicate </a:t>
            </a:r>
            <a:endParaRPr dirty="0"/>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latin typeface="Calibri"/>
                <a:ea typeface="Calibri"/>
                <a:cs typeface="Calibri"/>
                <a:sym typeface="Calibri"/>
              </a:rPr>
              <a:t>are influenced by your </a:t>
            </a:r>
            <a:r>
              <a:rPr lang="en-US" sz="2400" b="1" dirty="0">
                <a:solidFill>
                  <a:schemeClr val="accent5"/>
                </a:solidFill>
                <a:latin typeface="Calibri"/>
                <a:ea typeface="Calibri"/>
                <a:cs typeface="Calibri"/>
                <a:sym typeface="Calibri"/>
              </a:rPr>
              <a:t>audience</a:t>
            </a:r>
            <a:r>
              <a:rPr lang="en-US" sz="2400" dirty="0">
                <a:solidFill>
                  <a:schemeClr val="dk1"/>
                </a:solidFill>
                <a:latin typeface="Calibri"/>
                <a:ea typeface="Calibri"/>
                <a:cs typeface="Calibri"/>
                <a:sym typeface="Calibri"/>
              </a:rPr>
              <a:t> and </a:t>
            </a:r>
            <a:r>
              <a:rPr lang="en-US" sz="2400" b="1" dirty="0">
                <a:solidFill>
                  <a:schemeClr val="accent5"/>
                </a:solidFill>
                <a:latin typeface="Calibri"/>
                <a:ea typeface="Calibri"/>
                <a:cs typeface="Calibri"/>
                <a:sym typeface="Calibri"/>
              </a:rPr>
              <a:t>purpose</a:t>
            </a:r>
            <a:endParaRPr b="1" dirty="0"/>
          </a:p>
          <a:p>
            <a:pPr marL="0" marR="0" lvl="0" indent="0" algn="l" rtl="0">
              <a:lnSpc>
                <a:spcPct val="100000"/>
              </a:lnSpc>
              <a:spcBef>
                <a:spcPts val="0"/>
              </a:spcBef>
              <a:spcAft>
                <a:spcPts val="0"/>
              </a:spcAft>
              <a:buClr>
                <a:schemeClr val="dk1"/>
              </a:buClr>
              <a:buSzPts val="1200"/>
              <a:buFont typeface="Arial"/>
              <a:buNone/>
            </a:pPr>
            <a:endParaRPr sz="1200" b="1"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accent5"/>
              </a:buClr>
              <a:buSzPts val="2400"/>
              <a:buFont typeface="Arial"/>
              <a:buNone/>
            </a:pPr>
            <a:r>
              <a:rPr lang="en-US" sz="2400" b="1" dirty="0">
                <a:solidFill>
                  <a:schemeClr val="accent5"/>
                </a:solidFill>
                <a:latin typeface="Calibri"/>
                <a:ea typeface="Calibri"/>
                <a:cs typeface="Calibri"/>
                <a:sym typeface="Calibri"/>
              </a:rPr>
              <a:t>Task:  </a:t>
            </a:r>
            <a:r>
              <a:rPr lang="en-US" sz="2400" b="1" dirty="0">
                <a:solidFill>
                  <a:schemeClr val="dk1"/>
                </a:solidFill>
                <a:latin typeface="Calibri"/>
                <a:ea typeface="Calibri"/>
                <a:cs typeface="Calibri"/>
                <a:sym typeface="Calibri"/>
              </a:rPr>
              <a:t>How would you describe yourself in writing for difference audiences and purposes?</a:t>
            </a:r>
            <a:endParaRPr dirty="0"/>
          </a:p>
          <a:p>
            <a:pPr marL="0" marR="0" lvl="0" indent="0" algn="l" rtl="0">
              <a:lnSpc>
                <a:spcPct val="100000"/>
              </a:lnSpc>
              <a:spcBef>
                <a:spcPts val="0"/>
              </a:spcBef>
              <a:spcAft>
                <a:spcPts val="0"/>
              </a:spcAft>
              <a:buClr>
                <a:schemeClr val="dk1"/>
              </a:buClr>
              <a:buSzPts val="1200"/>
              <a:buFont typeface="Arial"/>
              <a:buNone/>
            </a:pPr>
            <a:endParaRP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latin typeface="Calibri"/>
                <a:ea typeface="Calibri"/>
                <a:cs typeface="Calibri"/>
                <a:sym typeface="Calibri"/>
              </a:rPr>
              <a:t>Brainstorm and create a description that represents your:</a:t>
            </a:r>
            <a:endParaRPr sz="2400" dirty="0">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2400"/>
              <a:buFont typeface="Arial"/>
              <a:buChar char="•"/>
            </a:pPr>
            <a:r>
              <a:rPr lang="en-US" sz="2400" dirty="0">
                <a:solidFill>
                  <a:schemeClr val="dk1"/>
                </a:solidFill>
                <a:latin typeface="Calibri"/>
                <a:ea typeface="Calibri"/>
                <a:cs typeface="Calibri"/>
                <a:sym typeface="Calibri"/>
              </a:rPr>
              <a:t>knowledge and special skills</a:t>
            </a:r>
            <a:endParaRPr dirty="0"/>
          </a:p>
          <a:p>
            <a:pPr marL="228600" marR="0" lvl="0" indent="-228600" algn="l" rtl="0">
              <a:lnSpc>
                <a:spcPct val="100000"/>
              </a:lnSpc>
              <a:spcBef>
                <a:spcPts val="0"/>
              </a:spcBef>
              <a:spcAft>
                <a:spcPts val="0"/>
              </a:spcAft>
              <a:buClr>
                <a:schemeClr val="dk1"/>
              </a:buClr>
              <a:buSzPts val="2400"/>
              <a:buFont typeface="Arial"/>
              <a:buChar char="•"/>
            </a:pPr>
            <a:r>
              <a:rPr lang="en-US" sz="2400" dirty="0">
                <a:solidFill>
                  <a:schemeClr val="dk1"/>
                </a:solidFill>
                <a:latin typeface="Calibri"/>
                <a:ea typeface="Calibri"/>
                <a:cs typeface="Calibri"/>
                <a:sym typeface="Calibri"/>
              </a:rPr>
              <a:t>personality/ethics/values</a:t>
            </a:r>
            <a:endParaRPr dirty="0"/>
          </a:p>
          <a:p>
            <a:pPr marL="228600" marR="0" lvl="0" indent="-228600" algn="l" rtl="0">
              <a:lnSpc>
                <a:spcPct val="100000"/>
              </a:lnSpc>
              <a:spcBef>
                <a:spcPts val="0"/>
              </a:spcBef>
              <a:spcAft>
                <a:spcPts val="0"/>
              </a:spcAft>
              <a:buClr>
                <a:schemeClr val="dk1"/>
              </a:buClr>
              <a:buSzPts val="2400"/>
              <a:buFont typeface="Arial"/>
              <a:buChar char="•"/>
            </a:pPr>
            <a:r>
              <a:rPr lang="en-US" sz="2400" dirty="0">
                <a:solidFill>
                  <a:schemeClr val="dk1"/>
                </a:solidFill>
                <a:latin typeface="Calibri"/>
                <a:ea typeface="Calibri"/>
                <a:cs typeface="Calibri"/>
                <a:sym typeface="Calibri"/>
              </a:rPr>
              <a:t>goals/objectives/motivation</a:t>
            </a:r>
            <a:endParaRPr dirty="0"/>
          </a:p>
          <a:p>
            <a:pPr marL="0" marR="0" lvl="0" indent="0" algn="l" rtl="0">
              <a:lnSpc>
                <a:spcPct val="100000"/>
              </a:lnSpc>
              <a:spcBef>
                <a:spcPts val="0"/>
              </a:spcBef>
              <a:spcAft>
                <a:spcPts val="0"/>
              </a:spcAft>
              <a:buClr>
                <a:schemeClr val="dk1"/>
              </a:buClr>
              <a:buSzPts val="2400"/>
              <a:buFont typeface="Arial"/>
              <a:buNone/>
            </a:pPr>
            <a:r>
              <a:rPr lang="en-US" sz="2400" dirty="0">
                <a:solidFill>
                  <a:schemeClr val="dk1"/>
                </a:solidFill>
                <a:latin typeface="Calibri"/>
                <a:ea typeface="Calibri"/>
                <a:cs typeface="Calibri"/>
                <a:sym typeface="Calibri"/>
              </a:rPr>
              <a:t>for </a:t>
            </a:r>
            <a:r>
              <a:rPr lang="en-US" sz="2400" b="1" dirty="0">
                <a:solidFill>
                  <a:schemeClr val="dk1"/>
                </a:solidFill>
                <a:latin typeface="Calibri"/>
                <a:ea typeface="Calibri"/>
                <a:cs typeface="Calibri"/>
                <a:sym typeface="Calibri"/>
              </a:rPr>
              <a:t>three or more </a:t>
            </a:r>
            <a:r>
              <a:rPr lang="en-US" sz="2400" dirty="0">
                <a:solidFill>
                  <a:schemeClr val="dk1"/>
                </a:solidFill>
                <a:latin typeface="Calibri"/>
                <a:ea typeface="Calibri"/>
                <a:cs typeface="Calibri"/>
                <a:sym typeface="Calibri"/>
              </a:rPr>
              <a:t>different audiences/purposes</a:t>
            </a:r>
            <a:endParaRPr sz="24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None/>
            </a:pPr>
            <a:endParaRPr sz="2400" b="1"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None/>
            </a:pPr>
            <a:endParaRPr sz="2400" b="1" dirty="0">
              <a:solidFill>
                <a:schemeClr val="accent5"/>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None/>
            </a:pPr>
            <a:endParaRPr sz="2400" b="1" dirty="0">
              <a:solidFill>
                <a:schemeClr val="accent5"/>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None/>
            </a:pPr>
            <a:endParaRPr sz="2400" b="1" dirty="0">
              <a:solidFill>
                <a:schemeClr val="accent5"/>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400"/>
              <a:buFont typeface="Arial"/>
              <a:buNone/>
            </a:pPr>
            <a:endParaRPr sz="2400" b="1"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Reflection:</a:t>
            </a:r>
            <a:endParaRPr b="1" dirty="0">
              <a:solidFill>
                <a:schemeClr val="accent5"/>
              </a:solidFill>
              <a:latin typeface="Calibri"/>
              <a:ea typeface="Calibri"/>
              <a:cs typeface="Calibri"/>
              <a:sym typeface="Calibri"/>
            </a:endParaRPr>
          </a:p>
        </p:txBody>
      </p:sp>
      <p:sp>
        <p:nvSpPr>
          <p:cNvPr id="180" name="Google Shape;180;p15"/>
          <p:cNvSpPr txBox="1">
            <a:spLocks noGrp="1"/>
          </p:cNvSpPr>
          <p:nvPr>
            <p:ph type="body" idx="1"/>
          </p:nvPr>
        </p:nvSpPr>
        <p:spPr>
          <a:xfrm>
            <a:off x="838200" y="1825625"/>
            <a:ext cx="11353800" cy="435133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None/>
            </a:pPr>
            <a:r>
              <a:rPr lang="en-US" sz="2400" b="1" dirty="0"/>
              <a:t>Self Reflection:</a:t>
            </a:r>
            <a:endParaRPr dirty="0"/>
          </a:p>
          <a:p>
            <a:pPr marL="228600" lvl="0" indent="-228600" algn="l" rtl="0">
              <a:lnSpc>
                <a:spcPct val="100000"/>
              </a:lnSpc>
              <a:spcBef>
                <a:spcPts val="0"/>
              </a:spcBef>
              <a:spcAft>
                <a:spcPts val="0"/>
              </a:spcAft>
              <a:buClr>
                <a:schemeClr val="dk1"/>
              </a:buClr>
              <a:buSzPts val="2400"/>
              <a:buChar char="•"/>
            </a:pPr>
            <a:r>
              <a:rPr lang="en-US" sz="2400" dirty="0"/>
              <a:t>What did you write?</a:t>
            </a:r>
            <a:endParaRPr dirty="0"/>
          </a:p>
          <a:p>
            <a:pPr marL="228600" lvl="0" indent="-228600" algn="l" rtl="0">
              <a:lnSpc>
                <a:spcPct val="100000"/>
              </a:lnSpc>
              <a:spcBef>
                <a:spcPts val="0"/>
              </a:spcBef>
              <a:spcAft>
                <a:spcPts val="0"/>
              </a:spcAft>
              <a:buClr>
                <a:schemeClr val="dk1"/>
              </a:buClr>
              <a:buSzPts val="2400"/>
              <a:buChar char="•"/>
            </a:pPr>
            <a:r>
              <a:rPr lang="en-US" sz="2400" dirty="0"/>
              <a:t>How did you write?</a:t>
            </a:r>
            <a:endParaRPr dirty="0"/>
          </a:p>
          <a:p>
            <a:pPr marL="228600" lvl="0" indent="-228600" algn="l" rtl="0">
              <a:lnSpc>
                <a:spcPct val="100000"/>
              </a:lnSpc>
              <a:spcBef>
                <a:spcPts val="0"/>
              </a:spcBef>
              <a:spcAft>
                <a:spcPts val="0"/>
              </a:spcAft>
              <a:buClr>
                <a:schemeClr val="dk1"/>
              </a:buClr>
              <a:buSzPts val="2400"/>
              <a:buChar char="•"/>
            </a:pPr>
            <a:r>
              <a:rPr lang="en-US" sz="2400" dirty="0"/>
              <a:t>What influenced the decisions you made about what to write?</a:t>
            </a:r>
            <a:endParaRPr dirty="0"/>
          </a:p>
          <a:p>
            <a:pPr marL="228600" lvl="0" indent="-76200" algn="l" rtl="0">
              <a:lnSpc>
                <a:spcPct val="100000"/>
              </a:lnSpc>
              <a:spcBef>
                <a:spcPts val="0"/>
              </a:spcBef>
              <a:spcAft>
                <a:spcPts val="0"/>
              </a:spcAft>
              <a:buClr>
                <a:schemeClr val="dk1"/>
              </a:buClr>
              <a:buSzPts val="2400"/>
              <a:buNone/>
            </a:pPr>
            <a:endParaRPr sz="2400" dirty="0"/>
          </a:p>
          <a:p>
            <a:pPr marL="0" lvl="0" indent="0" algn="l" rtl="0">
              <a:lnSpc>
                <a:spcPct val="100000"/>
              </a:lnSpc>
              <a:spcBef>
                <a:spcPts val="0"/>
              </a:spcBef>
              <a:spcAft>
                <a:spcPts val="0"/>
              </a:spcAft>
              <a:buClr>
                <a:schemeClr val="dk1"/>
              </a:buClr>
              <a:buSzPts val="2400"/>
              <a:buNone/>
            </a:pPr>
            <a:r>
              <a:rPr lang="en-US" sz="2400" b="1" dirty="0"/>
              <a:t>Peer Reflections:</a:t>
            </a:r>
            <a:endParaRPr dirty="0"/>
          </a:p>
          <a:p>
            <a:pPr marL="0" lvl="0" indent="0" algn="l" rtl="0">
              <a:lnSpc>
                <a:spcPct val="100000"/>
              </a:lnSpc>
              <a:spcBef>
                <a:spcPts val="0"/>
              </a:spcBef>
              <a:spcAft>
                <a:spcPts val="0"/>
              </a:spcAft>
              <a:buClr>
                <a:schemeClr val="dk1"/>
              </a:buClr>
              <a:buSzPts val="2400"/>
              <a:buNone/>
            </a:pPr>
            <a:r>
              <a:rPr lang="en-US" sz="2400" b="1" dirty="0"/>
              <a:t>Share your writing with another student - evaluate:</a:t>
            </a:r>
            <a:endParaRPr dirty="0"/>
          </a:p>
          <a:p>
            <a:pPr marL="228600" lvl="0" indent="-228600" algn="l" rtl="0">
              <a:lnSpc>
                <a:spcPct val="100000"/>
              </a:lnSpc>
              <a:spcBef>
                <a:spcPts val="0"/>
              </a:spcBef>
              <a:spcAft>
                <a:spcPts val="0"/>
              </a:spcAft>
              <a:buClr>
                <a:schemeClr val="dk1"/>
              </a:buClr>
              <a:buSzPts val="2400"/>
              <a:buChar char="•"/>
            </a:pPr>
            <a:r>
              <a:rPr lang="en-US" sz="2400" dirty="0"/>
              <a:t>What is your impression of the student you are reading about?</a:t>
            </a:r>
            <a:endParaRPr dirty="0"/>
          </a:p>
          <a:p>
            <a:pPr marL="228600" lvl="0" indent="-228600" algn="l" rtl="0">
              <a:lnSpc>
                <a:spcPct val="100000"/>
              </a:lnSpc>
              <a:spcBef>
                <a:spcPts val="0"/>
              </a:spcBef>
              <a:spcAft>
                <a:spcPts val="0"/>
              </a:spcAft>
              <a:buClr>
                <a:schemeClr val="dk1"/>
              </a:buClr>
              <a:buSzPts val="2400"/>
              <a:buChar char="•"/>
            </a:pPr>
            <a:r>
              <a:rPr lang="en-US" sz="2400" dirty="0"/>
              <a:t>Did the student write distinctively different ideas for different audiences/purposes?</a:t>
            </a:r>
            <a:endParaRPr dirty="0"/>
          </a:p>
          <a:p>
            <a:pPr marL="228600" lvl="0" indent="-228600" algn="l" rtl="0">
              <a:lnSpc>
                <a:spcPct val="100000"/>
              </a:lnSpc>
              <a:spcBef>
                <a:spcPts val="0"/>
              </a:spcBef>
              <a:spcAft>
                <a:spcPts val="0"/>
              </a:spcAft>
              <a:buClr>
                <a:schemeClr val="dk1"/>
              </a:buClr>
              <a:buSzPts val="2400"/>
              <a:buChar char="•"/>
            </a:pPr>
            <a:r>
              <a:rPr lang="en-US" sz="2400" dirty="0"/>
              <a:t>What were some of the differences you noticed?</a:t>
            </a:r>
            <a:endParaRPr dirty="0"/>
          </a:p>
          <a:p>
            <a:pPr marL="228600" lvl="0" indent="-228600" algn="l" rtl="0">
              <a:lnSpc>
                <a:spcPct val="100000"/>
              </a:lnSpc>
              <a:spcBef>
                <a:spcPts val="0"/>
              </a:spcBef>
              <a:spcAft>
                <a:spcPts val="0"/>
              </a:spcAft>
              <a:buClr>
                <a:schemeClr val="dk1"/>
              </a:buClr>
              <a:buSzPts val="2400"/>
              <a:buChar char="•"/>
            </a:pPr>
            <a:r>
              <a:rPr lang="en-US" sz="2400" dirty="0"/>
              <a:t>Do you have any comments or suggestions?</a:t>
            </a:r>
            <a:endParaRPr dirty="0"/>
          </a:p>
          <a:p>
            <a:pPr marL="228600" lvl="0" indent="-76200" algn="l" rtl="0">
              <a:lnSpc>
                <a:spcPct val="100000"/>
              </a:lnSpc>
              <a:spcBef>
                <a:spcPts val="0"/>
              </a:spcBef>
              <a:spcAft>
                <a:spcPts val="0"/>
              </a:spcAft>
              <a:buClr>
                <a:schemeClr val="dk1"/>
              </a:buClr>
              <a:buSzPts val="2400"/>
              <a:buNone/>
            </a:pPr>
            <a:endParaRPr sz="2400" dirty="0"/>
          </a:p>
          <a:p>
            <a:pPr marL="228600" lvl="0" indent="-76200" algn="l" rtl="0">
              <a:lnSpc>
                <a:spcPct val="100000"/>
              </a:lnSpc>
              <a:spcBef>
                <a:spcPts val="0"/>
              </a:spcBef>
              <a:spcAft>
                <a:spcPts val="0"/>
              </a:spcAft>
              <a:buClr>
                <a:schemeClr val="dk1"/>
              </a:buClr>
              <a:buSzPts val="2400"/>
              <a:buNone/>
            </a:pPr>
            <a:endParaRPr sz="2400" dirty="0"/>
          </a:p>
          <a:p>
            <a:pPr marL="228600" lvl="0" indent="-76200" algn="l" rtl="0">
              <a:lnSpc>
                <a:spcPct val="100000"/>
              </a:lnSpc>
              <a:spcBef>
                <a:spcPts val="0"/>
              </a:spcBef>
              <a:spcAft>
                <a:spcPts val="0"/>
              </a:spcAft>
              <a:buClr>
                <a:schemeClr val="dk1"/>
              </a:buClr>
              <a:buSzPts val="24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0">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0">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0">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0">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184"/>
        <p:cNvGrpSpPr/>
        <p:nvPr/>
      </p:nvGrpSpPr>
      <p:grpSpPr>
        <a:xfrm>
          <a:off x="0" y="0"/>
          <a:ext cx="0" cy="0"/>
          <a:chOff x="0" y="0"/>
          <a:chExt cx="0" cy="0"/>
        </a:xfrm>
      </p:grpSpPr>
      <p:sp>
        <p:nvSpPr>
          <p:cNvPr id="185" name="Google Shape;18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400"/>
              <a:buNone/>
            </a:pPr>
            <a:endParaRPr sz="4400" b="1">
              <a:solidFill>
                <a:schemeClr val="accent5"/>
              </a:solidFill>
            </a:endParaRPr>
          </a:p>
          <a:p>
            <a:pPr marL="0" lvl="0" indent="0" algn="ctr" rtl="0">
              <a:lnSpc>
                <a:spcPct val="90000"/>
              </a:lnSpc>
              <a:spcBef>
                <a:spcPts val="1000"/>
              </a:spcBef>
              <a:spcAft>
                <a:spcPts val="0"/>
              </a:spcAft>
              <a:buClr>
                <a:schemeClr val="dk1"/>
              </a:buClr>
              <a:buSzPts val="4400"/>
              <a:buNone/>
            </a:pPr>
            <a:endParaRPr sz="4400" b="1">
              <a:solidFill>
                <a:schemeClr val="accent5"/>
              </a:solidFill>
            </a:endParaRPr>
          </a:p>
          <a:p>
            <a:pPr marL="0" lvl="0" indent="0" algn="ctr" rtl="0">
              <a:lnSpc>
                <a:spcPct val="90000"/>
              </a:lnSpc>
              <a:spcBef>
                <a:spcPts val="1000"/>
              </a:spcBef>
              <a:spcAft>
                <a:spcPts val="0"/>
              </a:spcAft>
              <a:buClr>
                <a:schemeClr val="accent5"/>
              </a:buClr>
              <a:buSzPts val="4400"/>
              <a:buNone/>
            </a:pPr>
            <a:r>
              <a:rPr lang="en-US" sz="4400" b="1">
                <a:solidFill>
                  <a:schemeClr val="accent5"/>
                </a:solidFill>
              </a:rPr>
              <a:t>BREAK TIME</a:t>
            </a:r>
            <a:endParaRPr sz="4400" b="1">
              <a:solidFill>
                <a:schemeClr val="accent5"/>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Vocabulary/Phrasing: Why Does It Matter?</a:t>
            </a:r>
            <a:endParaRPr dirty="0"/>
          </a:p>
        </p:txBody>
      </p:sp>
      <p:sp>
        <p:nvSpPr>
          <p:cNvPr id="175" name="Google Shape;175;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114300" lvl="0" indent="0" algn="l" rtl="0">
              <a:lnSpc>
                <a:spcPct val="100000"/>
              </a:lnSpc>
              <a:spcBef>
                <a:spcPts val="1000"/>
              </a:spcBef>
              <a:spcAft>
                <a:spcPts val="0"/>
              </a:spcAft>
              <a:buSzPts val="1800"/>
              <a:buNone/>
            </a:pPr>
            <a:r>
              <a:rPr lang="en-US" sz="2400" dirty="0"/>
              <a:t>Understanding vocabulary and common phrases are critical to your success in:</a:t>
            </a:r>
            <a:endParaRPr sz="2400" dirty="0"/>
          </a:p>
          <a:p>
            <a:pPr marL="457200" lvl="0" indent="-342900" algn="l" rtl="0">
              <a:lnSpc>
                <a:spcPct val="100000"/>
              </a:lnSpc>
              <a:spcBef>
                <a:spcPts val="1000"/>
              </a:spcBef>
              <a:spcAft>
                <a:spcPts val="0"/>
              </a:spcAft>
              <a:buSzPts val="1800"/>
              <a:buChar char="•"/>
            </a:pPr>
            <a:r>
              <a:rPr lang="en-US" sz="2400" dirty="0"/>
              <a:t>Understanding what other people are communicating to you</a:t>
            </a:r>
            <a:endParaRPr dirty="0"/>
          </a:p>
          <a:p>
            <a:pPr marL="457200" lvl="0" indent="-342900" algn="l" rtl="0">
              <a:lnSpc>
                <a:spcPct val="100000"/>
              </a:lnSpc>
              <a:spcBef>
                <a:spcPts val="1000"/>
              </a:spcBef>
              <a:spcAft>
                <a:spcPts val="0"/>
              </a:spcAft>
              <a:buSzPts val="1800"/>
              <a:buChar char="•"/>
            </a:pPr>
            <a:r>
              <a:rPr lang="en-US" sz="2400" dirty="0"/>
              <a:t>Recognizing and anticipating how others will understand what you are communicating to them</a:t>
            </a:r>
            <a:endParaRPr dirty="0"/>
          </a:p>
          <a:p>
            <a:pPr marL="457200" lvl="0" indent="-228600" algn="l" rtl="0">
              <a:lnSpc>
                <a:spcPct val="100000"/>
              </a:lnSpc>
              <a:spcBef>
                <a:spcPts val="1000"/>
              </a:spcBef>
              <a:spcAft>
                <a:spcPts val="0"/>
              </a:spcAft>
              <a:buSzPts val="1800"/>
              <a:buNone/>
            </a:pPr>
            <a:endParaRPr sz="2400" dirty="0"/>
          </a:p>
          <a:p>
            <a:pPr marL="114300" indent="0">
              <a:buNone/>
            </a:pPr>
            <a:r>
              <a:rPr lang="en-US" sz="2400" dirty="0"/>
              <a:t>In the workplace, the words you choose affect how people respond to you</a:t>
            </a:r>
            <a:r>
              <a:rPr lang="en-US" sz="2400" b="1" dirty="0"/>
              <a:t>.</a:t>
            </a:r>
          </a:p>
          <a:p>
            <a:pPr marL="114300" indent="0">
              <a:buNone/>
            </a:pPr>
            <a:r>
              <a:rPr lang="en-US" sz="2400" dirty="0"/>
              <a:t>Business Vocabulary is different from day-to-day vocabulary.</a:t>
            </a:r>
          </a:p>
          <a:p>
            <a:pPr marL="114300" indent="0">
              <a:buNone/>
            </a:pPr>
            <a:endParaRPr lang="en-US" sz="2400" b="1" dirty="0"/>
          </a:p>
          <a:p>
            <a:pPr marL="114300" indent="0">
              <a:buNone/>
            </a:pPr>
            <a:r>
              <a:rPr lang="en-US" sz="2400" dirty="0"/>
              <a:t>Understanding business vocabulary helps you to:</a:t>
            </a:r>
          </a:p>
          <a:p>
            <a:r>
              <a:rPr lang="en-US" sz="2400" b="1" dirty="0"/>
              <a:t>Understand</a:t>
            </a:r>
            <a:r>
              <a:rPr lang="en-US" sz="2400" dirty="0"/>
              <a:t> instructions, emails, meetings, and reports. </a:t>
            </a:r>
          </a:p>
          <a:p>
            <a:r>
              <a:rPr lang="en-US" sz="2400" b="1" dirty="0"/>
              <a:t>Communicate</a:t>
            </a:r>
            <a:r>
              <a:rPr lang="en-US" sz="2400" dirty="0"/>
              <a:t> your ideas clearly and professionally. </a:t>
            </a:r>
          </a:p>
          <a:p>
            <a:r>
              <a:rPr lang="en-US" sz="2400" b="1" dirty="0"/>
              <a:t>Choose</a:t>
            </a:r>
            <a:r>
              <a:rPr lang="en-US" sz="2400" dirty="0"/>
              <a:t> language that matches your audience and purpose. </a:t>
            </a:r>
          </a:p>
          <a:p>
            <a:r>
              <a:rPr lang="en-US" sz="2400" b="1" dirty="0"/>
              <a:t>Avoid</a:t>
            </a:r>
            <a:r>
              <a:rPr lang="en-US" sz="2400" dirty="0"/>
              <a:t> misunderstandings that can lead to mistakes or delays.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800"/>
              <a:buFont typeface="Calibri"/>
              <a:buNone/>
            </a:pPr>
            <a:r>
              <a:rPr lang="en-US" sz="4800" b="1">
                <a:solidFill>
                  <a:schemeClr val="accent5"/>
                </a:solidFill>
                <a:latin typeface="Calibri"/>
                <a:ea typeface="Calibri"/>
                <a:cs typeface="Calibri"/>
                <a:sym typeface="Calibri"/>
              </a:rPr>
              <a:t>Vocabulary/Phrasing</a:t>
            </a:r>
            <a:endParaRPr/>
          </a:p>
        </p:txBody>
      </p:sp>
      <p:sp>
        <p:nvSpPr>
          <p:cNvPr id="168" name="Google Shape;168;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600"/>
              </a:spcBef>
              <a:spcAft>
                <a:spcPts val="0"/>
              </a:spcAft>
              <a:buClr>
                <a:schemeClr val="dk1"/>
              </a:buClr>
              <a:buSzPts val="2400"/>
              <a:buNone/>
            </a:pPr>
            <a:endParaRPr sz="2400" dirty="0"/>
          </a:p>
        </p:txBody>
      </p:sp>
      <p:pic>
        <p:nvPicPr>
          <p:cNvPr id="169" name="Google Shape;169;p12"/>
          <p:cNvPicPr preferRelativeResize="0"/>
          <p:nvPr/>
        </p:nvPicPr>
        <p:blipFill rotWithShape="1">
          <a:blip r:embed="rId3">
            <a:alphaModFix/>
          </a:blip>
          <a:srcRect/>
          <a:stretch/>
        </p:blipFill>
        <p:spPr>
          <a:xfrm>
            <a:off x="838200" y="1825625"/>
            <a:ext cx="4495800" cy="12747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B45B1-8FAE-BA80-9D15-BBD2378672B9}"/>
            </a:ext>
          </a:extLst>
        </p:cNvPr>
        <p:cNvGrpSpPr/>
        <p:nvPr/>
      </p:nvGrpSpPr>
      <p:grpSpPr>
        <a:xfrm>
          <a:off x="0" y="0"/>
          <a:ext cx="0" cy="0"/>
          <a:chOff x="0" y="0"/>
          <a:chExt cx="0" cy="0"/>
        </a:xfrm>
      </p:grpSpPr>
      <p:sp>
        <p:nvSpPr>
          <p:cNvPr id="174" name="Google Shape;174;p42">
            <a:extLst>
              <a:ext uri="{FF2B5EF4-FFF2-40B4-BE49-F238E27FC236}">
                <a16:creationId xmlns:a16="http://schemas.microsoft.com/office/drawing/2014/main" id="{3D5C726D-DBD3-E88E-10EB-F698DD978FD9}"/>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 Business Vocabulary In Action</a:t>
            </a:r>
            <a:endParaRPr dirty="0"/>
          </a:p>
        </p:txBody>
      </p:sp>
      <p:sp>
        <p:nvSpPr>
          <p:cNvPr id="175" name="Google Shape;175;p42">
            <a:extLst>
              <a:ext uri="{FF2B5EF4-FFF2-40B4-BE49-F238E27FC236}">
                <a16:creationId xmlns:a16="http://schemas.microsoft.com/office/drawing/2014/main" id="{A5242DD6-C5D4-6E93-36E9-1021C099DAEA}"/>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55000" lnSpcReduction="20000"/>
          </a:bodyPr>
          <a:lstStyle/>
          <a:p>
            <a:r>
              <a:rPr lang="en-US" sz="2400" b="1" dirty="0"/>
              <a:t>Look at the following messages, and answer the questions below:</a:t>
            </a:r>
          </a:p>
          <a:p>
            <a:pPr marL="114300" indent="0">
              <a:buNone/>
            </a:pPr>
            <a:endParaRPr lang="en-US" sz="2400" dirty="0"/>
          </a:p>
          <a:p>
            <a:r>
              <a:rPr lang="en-US" sz="2400" dirty="0"/>
              <a:t>❌ </a:t>
            </a:r>
            <a:r>
              <a:rPr lang="en-US" sz="2400" b="1" dirty="0"/>
              <a:t>Hey, can you send me the stuff?</a:t>
            </a:r>
            <a:endParaRPr lang="en-US" sz="2400" dirty="0"/>
          </a:p>
          <a:p>
            <a:r>
              <a:rPr lang="en-US" sz="2400" dirty="0"/>
              <a:t>✅ </a:t>
            </a:r>
            <a:r>
              <a:rPr lang="en-US" sz="2400" b="1" dirty="0"/>
              <a:t>Could you send me the project documentation by 3:00 p.m.?</a:t>
            </a:r>
            <a:endParaRPr lang="en-US" sz="2400" dirty="0"/>
          </a:p>
          <a:p>
            <a:pPr marL="114300" indent="0">
              <a:buNone/>
            </a:pPr>
            <a:endParaRPr lang="en-US" sz="2400" dirty="0"/>
          </a:p>
          <a:p>
            <a:r>
              <a:rPr lang="en-US" sz="2400" dirty="0"/>
              <a:t>❌ </a:t>
            </a:r>
            <a:r>
              <a:rPr lang="en-US" sz="2400" b="1" dirty="0"/>
              <a:t>The app is broken.</a:t>
            </a:r>
            <a:endParaRPr lang="en-US" sz="2400" dirty="0"/>
          </a:p>
          <a:p>
            <a:r>
              <a:rPr lang="en-US" sz="2400" dirty="0"/>
              <a:t>✅ </a:t>
            </a:r>
            <a:r>
              <a:rPr lang="en-US" sz="2400" b="1" dirty="0"/>
              <a:t>The application is experiencing a login issue that is being investigated.</a:t>
            </a:r>
            <a:endParaRPr lang="en-US" sz="2400" dirty="0"/>
          </a:p>
          <a:p>
            <a:pPr marL="114300" indent="0">
              <a:buNone/>
            </a:pPr>
            <a:endParaRPr lang="en-US" sz="2400" dirty="0"/>
          </a:p>
          <a:p>
            <a:r>
              <a:rPr lang="en-US" sz="2400" dirty="0"/>
              <a:t>❌ </a:t>
            </a:r>
            <a:r>
              <a:rPr lang="en-US" sz="2400" b="1" dirty="0"/>
              <a:t>Finish it soon.</a:t>
            </a:r>
            <a:endParaRPr lang="en-US" sz="2400" dirty="0"/>
          </a:p>
          <a:p>
            <a:r>
              <a:rPr lang="en-US" sz="2400" dirty="0"/>
              <a:t>✅ </a:t>
            </a:r>
            <a:r>
              <a:rPr lang="en-US" sz="2400" b="1" dirty="0"/>
              <a:t>Please complete the report by Friday afternoon.</a:t>
            </a:r>
          </a:p>
          <a:p>
            <a:endParaRPr lang="en-US" sz="2400" b="1" dirty="0"/>
          </a:p>
          <a:p>
            <a:pPr marL="114300" indent="0">
              <a:buNone/>
            </a:pPr>
            <a:r>
              <a:rPr lang="en-US" sz="2400" dirty="0"/>
              <a:t>How does better vocabulary improve:</a:t>
            </a:r>
          </a:p>
          <a:p>
            <a:pPr marL="571500" indent="-457200">
              <a:buFont typeface="+mj-lt"/>
              <a:buAutoNum type="arabicPeriod"/>
            </a:pPr>
            <a:r>
              <a:rPr lang="en-US" sz="2400" dirty="0"/>
              <a:t>Clarity? </a:t>
            </a:r>
          </a:p>
          <a:p>
            <a:pPr marL="571500" indent="-457200">
              <a:buFont typeface="+mj-lt"/>
              <a:buAutoNum type="arabicPeriod"/>
            </a:pPr>
            <a:r>
              <a:rPr lang="en-US" sz="2400" dirty="0"/>
              <a:t>Politeness? </a:t>
            </a:r>
          </a:p>
          <a:p>
            <a:pPr marL="571500" indent="-457200">
              <a:buFont typeface="+mj-lt"/>
              <a:buAutoNum type="arabicPeriod"/>
            </a:pPr>
            <a:r>
              <a:rPr lang="en-US" sz="2400" dirty="0"/>
              <a:t>Tone? </a:t>
            </a:r>
          </a:p>
          <a:p>
            <a:pPr marL="571500" indent="-457200">
              <a:buFont typeface="+mj-lt"/>
              <a:buAutoNum type="arabicPeriod"/>
            </a:pPr>
            <a:r>
              <a:rPr lang="en-US" sz="2400" dirty="0"/>
              <a:t>Accuracy?</a:t>
            </a:r>
          </a:p>
          <a:p>
            <a:endParaRPr lang="en-US" sz="2400" b="1" dirty="0"/>
          </a:p>
          <a:p>
            <a:endParaRPr lang="en-US" sz="2400" b="1" dirty="0"/>
          </a:p>
          <a:p>
            <a:endParaRPr lang="en-US" sz="2400" dirty="0"/>
          </a:p>
          <a:p>
            <a:pPr marL="114300" lvl="0" indent="0" algn="l" rtl="0">
              <a:lnSpc>
                <a:spcPct val="100000"/>
              </a:lnSpc>
              <a:spcBef>
                <a:spcPts val="1000"/>
              </a:spcBef>
              <a:spcAft>
                <a:spcPts val="0"/>
              </a:spcAft>
              <a:buSzPts val="1800"/>
              <a:buNone/>
            </a:pPr>
            <a:endParaRPr lang="en-US" sz="2400" dirty="0"/>
          </a:p>
        </p:txBody>
      </p:sp>
    </p:spTree>
    <p:extLst>
      <p:ext uri="{BB962C8B-B14F-4D97-AF65-F5344CB8AC3E}">
        <p14:creationId xmlns:p14="http://schemas.microsoft.com/office/powerpoint/2010/main" val="1950589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Effective Writing: The Writing Process</a:t>
            </a:r>
            <a:endParaRPr b="1" dirty="0">
              <a:solidFill>
                <a:schemeClr val="accent5"/>
              </a:solidFill>
              <a:latin typeface="Calibri"/>
              <a:ea typeface="Calibri"/>
              <a:cs typeface="Calibri"/>
              <a:sym typeface="Calibri"/>
            </a:endParaRPr>
          </a:p>
        </p:txBody>
      </p:sp>
      <p:sp>
        <p:nvSpPr>
          <p:cNvPr id="191" name="Google Shape;191;p17"/>
          <p:cNvSpPr txBox="1">
            <a:spLocks noGrp="1"/>
          </p:cNvSpPr>
          <p:nvPr>
            <p:ph type="body" idx="1"/>
          </p:nvPr>
        </p:nvSpPr>
        <p:spPr>
          <a:xfrm>
            <a:off x="838200" y="1351575"/>
            <a:ext cx="10515600" cy="5032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1800" b="1" dirty="0"/>
              <a:t>Use the Writing Process:</a:t>
            </a:r>
            <a:endParaRPr sz="2000" dirty="0"/>
          </a:p>
          <a:p>
            <a:pPr marL="0" lvl="0" indent="0" algn="l" rtl="0">
              <a:lnSpc>
                <a:spcPct val="100000"/>
              </a:lnSpc>
              <a:spcBef>
                <a:spcPts val="0"/>
              </a:spcBef>
              <a:spcAft>
                <a:spcPts val="0"/>
              </a:spcAft>
              <a:buClr>
                <a:schemeClr val="dk1"/>
              </a:buClr>
              <a:buSzPts val="1200"/>
              <a:buNone/>
            </a:pPr>
            <a:endParaRPr sz="1050" b="1" dirty="0"/>
          </a:p>
          <a:p>
            <a:pPr marL="0" lvl="0" indent="0" algn="l" rtl="0">
              <a:lnSpc>
                <a:spcPct val="100000"/>
              </a:lnSpc>
              <a:spcBef>
                <a:spcPts val="0"/>
              </a:spcBef>
              <a:spcAft>
                <a:spcPts val="0"/>
              </a:spcAft>
              <a:buClr>
                <a:schemeClr val="accent5"/>
              </a:buClr>
              <a:buSzPts val="2400"/>
              <a:buNone/>
            </a:pPr>
            <a:r>
              <a:rPr lang="en-US" sz="1800" b="1" dirty="0">
                <a:solidFill>
                  <a:schemeClr val="accent5"/>
                </a:solidFill>
              </a:rPr>
              <a:t>Step 1. Prewriting: </a:t>
            </a:r>
            <a:r>
              <a:rPr lang="en-US" sz="1800" dirty="0"/>
              <a:t>Make a plan</a:t>
            </a:r>
            <a:endParaRPr sz="2000" dirty="0"/>
          </a:p>
          <a:p>
            <a:pPr marL="228600" lvl="0" indent="-228600" algn="l" rtl="0">
              <a:lnSpc>
                <a:spcPct val="100000"/>
              </a:lnSpc>
              <a:spcBef>
                <a:spcPts val="0"/>
              </a:spcBef>
              <a:spcAft>
                <a:spcPts val="0"/>
              </a:spcAft>
              <a:buClr>
                <a:schemeClr val="dk1"/>
              </a:buClr>
              <a:buSzPts val="2000"/>
              <a:buChar char="•"/>
            </a:pPr>
            <a:r>
              <a:rPr lang="en-US" sz="1600" dirty="0"/>
              <a:t>Audience, Purposes/Message, Method of communication</a:t>
            </a:r>
          </a:p>
          <a:p>
            <a:pPr marL="228600" lvl="0" indent="-152400" algn="l" rtl="0">
              <a:lnSpc>
                <a:spcPct val="100000"/>
              </a:lnSpc>
              <a:spcBef>
                <a:spcPts val="0"/>
              </a:spcBef>
              <a:spcAft>
                <a:spcPts val="0"/>
              </a:spcAft>
              <a:buClr>
                <a:schemeClr val="dk1"/>
              </a:buClr>
              <a:buSzPts val="1200"/>
              <a:buNone/>
            </a:pPr>
            <a:endParaRPr sz="1050" dirty="0"/>
          </a:p>
          <a:p>
            <a:pPr marL="0" lvl="0" indent="0" algn="l" rtl="0">
              <a:lnSpc>
                <a:spcPct val="100000"/>
              </a:lnSpc>
              <a:spcBef>
                <a:spcPts val="0"/>
              </a:spcBef>
              <a:spcAft>
                <a:spcPts val="0"/>
              </a:spcAft>
              <a:buClr>
                <a:schemeClr val="accent5"/>
              </a:buClr>
              <a:buSzPts val="2400"/>
              <a:buNone/>
            </a:pPr>
            <a:r>
              <a:rPr lang="en-US" sz="1800" b="1" dirty="0">
                <a:solidFill>
                  <a:schemeClr val="accent5"/>
                </a:solidFill>
              </a:rPr>
              <a:t>Step 2. Organize: </a:t>
            </a:r>
            <a:r>
              <a:rPr lang="en-US" sz="1800" dirty="0"/>
              <a:t>Outline your ideas</a:t>
            </a:r>
            <a:endParaRPr sz="2000" dirty="0"/>
          </a:p>
          <a:p>
            <a:pPr marL="228600" lvl="0" indent="-228600" algn="l" rtl="0">
              <a:lnSpc>
                <a:spcPct val="100000"/>
              </a:lnSpc>
              <a:spcBef>
                <a:spcPts val="0"/>
              </a:spcBef>
              <a:spcAft>
                <a:spcPts val="0"/>
              </a:spcAft>
              <a:buClr>
                <a:schemeClr val="dk1"/>
              </a:buClr>
              <a:buSzPts val="2000"/>
              <a:buChar char="•"/>
            </a:pPr>
            <a:r>
              <a:rPr lang="en-US" sz="1600" dirty="0"/>
              <a:t>Consider what to include/not to include, and how to lay out the message</a:t>
            </a:r>
            <a:endParaRPr sz="2000" dirty="0"/>
          </a:p>
          <a:p>
            <a:pPr marL="228600" lvl="0" indent="-152400" algn="l" rtl="0">
              <a:lnSpc>
                <a:spcPct val="100000"/>
              </a:lnSpc>
              <a:spcBef>
                <a:spcPts val="0"/>
              </a:spcBef>
              <a:spcAft>
                <a:spcPts val="0"/>
              </a:spcAft>
              <a:buClr>
                <a:schemeClr val="dk1"/>
              </a:buClr>
              <a:buSzPts val="1200"/>
              <a:buNone/>
            </a:pPr>
            <a:endParaRPr sz="1050" dirty="0"/>
          </a:p>
          <a:p>
            <a:pPr marL="0" lvl="0" indent="0" algn="l" rtl="0">
              <a:lnSpc>
                <a:spcPct val="100000"/>
              </a:lnSpc>
              <a:spcBef>
                <a:spcPts val="0"/>
              </a:spcBef>
              <a:spcAft>
                <a:spcPts val="0"/>
              </a:spcAft>
              <a:buClr>
                <a:schemeClr val="accent5"/>
              </a:buClr>
              <a:buSzPts val="2400"/>
              <a:buNone/>
            </a:pPr>
            <a:r>
              <a:rPr lang="en-US" sz="1800" b="1" dirty="0">
                <a:solidFill>
                  <a:schemeClr val="accent5"/>
                </a:solidFill>
              </a:rPr>
              <a:t>Step 3: Write: </a:t>
            </a:r>
            <a:r>
              <a:rPr lang="en-US" sz="1800" dirty="0"/>
              <a:t>Write a 1</a:t>
            </a:r>
            <a:r>
              <a:rPr lang="en-US" sz="1800" baseline="30000" dirty="0"/>
              <a:t>st</a:t>
            </a:r>
            <a:r>
              <a:rPr lang="en-US" sz="1800" dirty="0"/>
              <a:t> draft</a:t>
            </a:r>
            <a:endParaRPr sz="2000" dirty="0"/>
          </a:p>
          <a:p>
            <a:pPr marL="228600" lvl="0" indent="-152400" algn="l" rtl="0">
              <a:lnSpc>
                <a:spcPct val="100000"/>
              </a:lnSpc>
              <a:spcBef>
                <a:spcPts val="0"/>
              </a:spcBef>
              <a:spcAft>
                <a:spcPts val="0"/>
              </a:spcAft>
              <a:buClr>
                <a:schemeClr val="dk1"/>
              </a:buClr>
              <a:buSzPts val="1200"/>
              <a:buNone/>
            </a:pPr>
            <a:endParaRPr sz="1050" dirty="0"/>
          </a:p>
          <a:p>
            <a:pPr marL="0" lvl="0" indent="0" algn="l" rtl="0">
              <a:lnSpc>
                <a:spcPct val="100000"/>
              </a:lnSpc>
              <a:spcBef>
                <a:spcPts val="0"/>
              </a:spcBef>
              <a:spcAft>
                <a:spcPts val="0"/>
              </a:spcAft>
              <a:buClr>
                <a:schemeClr val="accent5"/>
              </a:buClr>
              <a:buSzPts val="2400"/>
              <a:buNone/>
            </a:pPr>
            <a:r>
              <a:rPr lang="en-US" sz="1800" b="1" dirty="0">
                <a:solidFill>
                  <a:schemeClr val="accent5"/>
                </a:solidFill>
              </a:rPr>
              <a:t>Step 4. Edit: </a:t>
            </a:r>
            <a:r>
              <a:rPr lang="en-US" sz="1800" dirty="0"/>
              <a:t>Check for mistakes or potential improvements</a:t>
            </a:r>
            <a:endParaRPr sz="2000" dirty="0"/>
          </a:p>
          <a:p>
            <a:pPr marL="228600" lvl="0" indent="-228600" algn="l" rtl="0">
              <a:lnSpc>
                <a:spcPct val="100000"/>
              </a:lnSpc>
              <a:spcBef>
                <a:spcPts val="0"/>
              </a:spcBef>
              <a:spcAft>
                <a:spcPts val="0"/>
              </a:spcAft>
              <a:buClr>
                <a:schemeClr val="dk1"/>
              </a:buClr>
              <a:buSzPts val="2000"/>
              <a:buChar char="•"/>
            </a:pPr>
            <a:r>
              <a:rPr lang="en-US" sz="1600" dirty="0"/>
              <a:t>Read your message CAREFULLY!</a:t>
            </a:r>
            <a:endParaRPr sz="2000" dirty="0"/>
          </a:p>
          <a:p>
            <a:pPr marL="228600" lvl="0" indent="-228600" algn="l" rtl="0">
              <a:lnSpc>
                <a:spcPct val="100000"/>
              </a:lnSpc>
              <a:spcBef>
                <a:spcPts val="0"/>
              </a:spcBef>
              <a:spcAft>
                <a:spcPts val="0"/>
              </a:spcAft>
              <a:buClr>
                <a:schemeClr val="dk1"/>
              </a:buClr>
              <a:buSzPts val="2000"/>
              <a:buChar char="•"/>
            </a:pPr>
            <a:r>
              <a:rPr lang="en-US" sz="1600" dirty="0"/>
              <a:t>Evaluate </a:t>
            </a:r>
            <a:r>
              <a:rPr lang="en-US" sz="1600" dirty="0">
                <a:solidFill>
                  <a:srgbClr val="FF0000"/>
                </a:solidFill>
              </a:rPr>
              <a:t>clarity of the message, conciseness, tone, politeness, grammatical accuracy</a:t>
            </a:r>
            <a:endParaRPr sz="2000" dirty="0"/>
          </a:p>
          <a:p>
            <a:pPr marL="228600" lvl="0" indent="-152400" algn="l" rtl="0">
              <a:lnSpc>
                <a:spcPct val="100000"/>
              </a:lnSpc>
              <a:spcBef>
                <a:spcPts val="0"/>
              </a:spcBef>
              <a:spcAft>
                <a:spcPts val="0"/>
              </a:spcAft>
              <a:buClr>
                <a:schemeClr val="dk1"/>
              </a:buClr>
              <a:buSzPts val="1200"/>
              <a:buNone/>
            </a:pPr>
            <a:endParaRPr sz="1050" dirty="0"/>
          </a:p>
          <a:p>
            <a:pPr marL="0" lvl="0" indent="0" algn="l" rtl="0">
              <a:lnSpc>
                <a:spcPct val="100000"/>
              </a:lnSpc>
              <a:spcBef>
                <a:spcPts val="0"/>
              </a:spcBef>
              <a:spcAft>
                <a:spcPts val="0"/>
              </a:spcAft>
              <a:buClr>
                <a:schemeClr val="accent5"/>
              </a:buClr>
              <a:buSzPts val="2400"/>
              <a:buNone/>
            </a:pPr>
            <a:r>
              <a:rPr lang="en-US" sz="1800" b="1" dirty="0">
                <a:solidFill>
                  <a:schemeClr val="accent5"/>
                </a:solidFill>
              </a:rPr>
              <a:t>Step 5. Rewrite: </a:t>
            </a:r>
            <a:r>
              <a:rPr lang="en-US" sz="1800" dirty="0"/>
              <a:t>Create a final version that applies your improvements</a:t>
            </a:r>
            <a:endParaRPr sz="2000" dirty="0"/>
          </a:p>
          <a:p>
            <a:pPr marL="228600" lvl="0" indent="-152400" algn="l" rtl="0">
              <a:lnSpc>
                <a:spcPct val="100000"/>
              </a:lnSpc>
              <a:spcBef>
                <a:spcPts val="0"/>
              </a:spcBef>
              <a:spcAft>
                <a:spcPts val="0"/>
              </a:spcAft>
              <a:buClr>
                <a:schemeClr val="dk1"/>
              </a:buClr>
              <a:buSzPts val="1200"/>
              <a:buNone/>
            </a:pPr>
            <a:endParaRPr sz="1050" dirty="0"/>
          </a:p>
          <a:p>
            <a:pPr marL="0" lvl="0" indent="0" algn="l" rtl="0">
              <a:lnSpc>
                <a:spcPct val="100000"/>
              </a:lnSpc>
              <a:spcBef>
                <a:spcPts val="0"/>
              </a:spcBef>
              <a:spcAft>
                <a:spcPts val="0"/>
              </a:spcAft>
              <a:buClr>
                <a:schemeClr val="dk1"/>
              </a:buClr>
              <a:buSzPts val="2400"/>
              <a:buNone/>
            </a:pPr>
            <a:r>
              <a:rPr lang="en-US" sz="1800" b="1" dirty="0">
                <a:solidFill>
                  <a:schemeClr val="accent5"/>
                </a:solidFill>
              </a:rPr>
              <a:t>Step 6: Send: Deliver your message</a:t>
            </a:r>
          </a:p>
          <a:p>
            <a:pPr marL="0" lvl="0" indent="0" algn="l" rtl="0">
              <a:lnSpc>
                <a:spcPct val="100000"/>
              </a:lnSpc>
              <a:spcBef>
                <a:spcPts val="0"/>
              </a:spcBef>
              <a:spcAft>
                <a:spcPts val="0"/>
              </a:spcAft>
              <a:buClr>
                <a:schemeClr val="dk1"/>
              </a:buClr>
              <a:buSzPts val="2400"/>
              <a:buNone/>
            </a:pPr>
            <a:endParaRPr lang="en-US" sz="1800" b="1" dirty="0">
              <a:solidFill>
                <a:srgbClr val="FF0000"/>
              </a:solidFill>
            </a:endParaRPr>
          </a:p>
          <a:p>
            <a:pPr marL="0" lvl="0" indent="0">
              <a:lnSpc>
                <a:spcPct val="100000"/>
              </a:lnSpc>
              <a:spcBef>
                <a:spcPts val="0"/>
              </a:spcBef>
              <a:buSzPts val="2400"/>
              <a:buNone/>
            </a:pPr>
            <a:r>
              <a:rPr lang="en-US" sz="1800" dirty="0">
                <a:solidFill>
                  <a:srgbClr val="FF0000"/>
                </a:solidFill>
              </a:rPr>
              <a:t>In many workplaces, professionals use AI or templates to help plan, draft, or improve business messages. However, it is your responsibility to ensure the final message is accurate, appropriate, and suitable for your audience.</a:t>
            </a:r>
            <a:endParaRPr lang="en-US" sz="1800" b="1" dirty="0">
              <a:solidFill>
                <a:srgbClr val="FF0000"/>
              </a:solidFill>
            </a:endParaRPr>
          </a:p>
          <a:p>
            <a:pPr marL="0" lvl="0" indent="0" algn="l" rtl="0">
              <a:lnSpc>
                <a:spcPct val="100000"/>
              </a:lnSpc>
              <a:spcBef>
                <a:spcPts val="0"/>
              </a:spcBef>
              <a:spcAft>
                <a:spcPts val="0"/>
              </a:spcAft>
              <a:buClr>
                <a:schemeClr val="dk1"/>
              </a:buClr>
              <a:buSzPts val="2400"/>
              <a:buNone/>
            </a:pPr>
            <a:endParaRPr lang="en-US" sz="2400" b="1" dirty="0">
              <a:solidFill>
                <a:srgbClr val="FF0000"/>
              </a:solidFill>
            </a:endParaRPr>
          </a:p>
          <a:p>
            <a:pPr marL="0" lvl="0" indent="0" algn="l" rtl="0">
              <a:lnSpc>
                <a:spcPct val="100000"/>
              </a:lnSpc>
              <a:spcBef>
                <a:spcPts val="0"/>
              </a:spcBef>
              <a:spcAft>
                <a:spcPts val="0"/>
              </a:spcAft>
              <a:buClr>
                <a:schemeClr val="dk1"/>
              </a:buClr>
              <a:buSzPts val="2400"/>
              <a:buNone/>
            </a:pPr>
            <a:endParaRPr dirty="0">
              <a:solidFill>
                <a:srgbClr val="FF0000"/>
              </a:solidFill>
            </a:endParaRPr>
          </a:p>
          <a:p>
            <a:pPr marL="228600" lvl="0" indent="-76200" algn="l" rtl="0">
              <a:lnSpc>
                <a:spcPct val="100000"/>
              </a:lnSpc>
              <a:spcBef>
                <a:spcPts val="0"/>
              </a:spcBef>
              <a:spcAft>
                <a:spcPts val="0"/>
              </a:spcAft>
              <a:buClr>
                <a:schemeClr val="dk1"/>
              </a:buClr>
              <a:buSzPts val="2400"/>
              <a:buNone/>
            </a:pPr>
            <a:endParaRPr sz="2400" dirty="0"/>
          </a:p>
          <a:p>
            <a:pPr marL="228600" lvl="0" indent="-76200" algn="l" rtl="0">
              <a:lnSpc>
                <a:spcPct val="100000"/>
              </a:lnSpc>
              <a:spcBef>
                <a:spcPts val="0"/>
              </a:spcBef>
              <a:spcAft>
                <a:spcPts val="0"/>
              </a:spcAft>
              <a:buClr>
                <a:schemeClr val="dk1"/>
              </a:buClr>
              <a:buSzPts val="24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1">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1">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1">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1">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1">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1">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1">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rPr>
              <a:t>Pre-writing:</a:t>
            </a:r>
          </a:p>
        </p:txBody>
      </p:sp>
      <p:sp>
        <p:nvSpPr>
          <p:cNvPr id="3" name="Text Placeholder 2"/>
          <p:cNvSpPr>
            <a:spLocks noGrp="1"/>
          </p:cNvSpPr>
          <p:nvPr>
            <p:ph type="body" idx="1"/>
          </p:nvPr>
        </p:nvSpPr>
        <p:spPr>
          <a:xfrm>
            <a:off x="838200" y="1690689"/>
            <a:ext cx="10515600" cy="4486274"/>
          </a:xfrm>
        </p:spPr>
        <p:txBody>
          <a:bodyPr>
            <a:normAutofit/>
          </a:bodyPr>
          <a:lstStyle/>
          <a:p>
            <a:pPr marL="114300" indent="0">
              <a:buNone/>
            </a:pPr>
            <a:r>
              <a:rPr lang="en-US" sz="2400" b="1" dirty="0"/>
              <a:t>To effectively plan your message, consider and outline:</a:t>
            </a:r>
          </a:p>
          <a:p>
            <a:r>
              <a:rPr lang="en-US" sz="2400" dirty="0"/>
              <a:t>WHAT you plan to communicate</a:t>
            </a:r>
          </a:p>
          <a:p>
            <a:r>
              <a:rPr lang="en-US" sz="2400" dirty="0"/>
              <a:t>WHO you intend to communicate with</a:t>
            </a:r>
          </a:p>
          <a:p>
            <a:r>
              <a:rPr lang="en-US" sz="2400" dirty="0"/>
              <a:t>HOW you will convey your ideas in an understandable manner</a:t>
            </a:r>
          </a:p>
          <a:p>
            <a:r>
              <a:rPr lang="en-US" sz="2400" dirty="0"/>
              <a:t>WHAT you hope/expect the outcome of the message to be</a:t>
            </a:r>
          </a:p>
          <a:p>
            <a:r>
              <a:rPr lang="en-US" sz="2400" dirty="0"/>
              <a:t>WHAT follow-up should occur</a:t>
            </a:r>
          </a:p>
          <a:p>
            <a:r>
              <a:rPr lang="en-US" sz="2400" dirty="0"/>
              <a:t>WHICH method of communication or platform to use for delivery</a:t>
            </a:r>
          </a:p>
        </p:txBody>
      </p:sp>
    </p:spTree>
    <p:extLst>
      <p:ext uri="{BB962C8B-B14F-4D97-AF65-F5344CB8AC3E}">
        <p14:creationId xmlns:p14="http://schemas.microsoft.com/office/powerpoint/2010/main" val="3086928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rPr>
              <a:t>Principles of Business Communications</a:t>
            </a:r>
          </a:p>
        </p:txBody>
      </p:sp>
      <p:sp>
        <p:nvSpPr>
          <p:cNvPr id="3" name="Text Placeholder 2"/>
          <p:cNvSpPr>
            <a:spLocks noGrp="1"/>
          </p:cNvSpPr>
          <p:nvPr>
            <p:ph type="body" idx="1"/>
          </p:nvPr>
        </p:nvSpPr>
        <p:spPr>
          <a:xfrm>
            <a:off x="838200" y="1825625"/>
            <a:ext cx="10515600" cy="4901746"/>
          </a:xfrm>
        </p:spPr>
        <p:txBody>
          <a:bodyPr>
            <a:normAutofit/>
          </a:bodyPr>
          <a:lstStyle/>
          <a:p>
            <a:pPr marL="114300" indent="0">
              <a:lnSpc>
                <a:spcPct val="120000"/>
              </a:lnSpc>
              <a:spcBef>
                <a:spcPts val="0"/>
              </a:spcBef>
              <a:buNone/>
            </a:pPr>
            <a:r>
              <a:rPr lang="en-US" sz="2400" b="1" dirty="0"/>
              <a:t>Once you have planned and organized WHAT you wish to communicate, evaluate the quality of your message by connecting to the common principles of Business Communication:</a:t>
            </a:r>
          </a:p>
          <a:p>
            <a:pPr>
              <a:lnSpc>
                <a:spcPct val="120000"/>
              </a:lnSpc>
              <a:spcBef>
                <a:spcPts val="0"/>
              </a:spcBef>
            </a:pPr>
            <a:endParaRPr lang="en-US" sz="2400" dirty="0"/>
          </a:p>
          <a:p>
            <a:pPr marL="571500" indent="-457200">
              <a:lnSpc>
                <a:spcPct val="120000"/>
              </a:lnSpc>
              <a:spcBef>
                <a:spcPts val="0"/>
              </a:spcBef>
              <a:buFont typeface="+mj-lt"/>
              <a:buAutoNum type="arabicPeriod"/>
            </a:pPr>
            <a:r>
              <a:rPr lang="en-US" sz="2400" dirty="0"/>
              <a:t>Clarity of the message</a:t>
            </a:r>
          </a:p>
          <a:p>
            <a:pPr marL="571500" indent="-457200">
              <a:lnSpc>
                <a:spcPct val="120000"/>
              </a:lnSpc>
              <a:spcBef>
                <a:spcPts val="0"/>
              </a:spcBef>
              <a:buFont typeface="+mj-lt"/>
              <a:buAutoNum type="arabicPeriod"/>
            </a:pPr>
            <a:r>
              <a:rPr lang="en-US" sz="2400" dirty="0"/>
              <a:t>Conciseness</a:t>
            </a:r>
          </a:p>
          <a:p>
            <a:pPr marL="571500" indent="-457200">
              <a:lnSpc>
                <a:spcPct val="120000"/>
              </a:lnSpc>
              <a:spcBef>
                <a:spcPts val="0"/>
              </a:spcBef>
              <a:buFont typeface="+mj-lt"/>
              <a:buAutoNum type="arabicPeriod"/>
            </a:pPr>
            <a:r>
              <a:rPr lang="en-US" sz="2400" dirty="0"/>
              <a:t>Language: Tone</a:t>
            </a:r>
          </a:p>
          <a:p>
            <a:pPr marL="571500" indent="-457200">
              <a:lnSpc>
                <a:spcPct val="120000"/>
              </a:lnSpc>
              <a:spcBef>
                <a:spcPts val="0"/>
              </a:spcBef>
              <a:buFont typeface="+mj-lt"/>
              <a:buAutoNum type="arabicPeriod"/>
            </a:pPr>
            <a:r>
              <a:rPr lang="en-US" sz="2400" dirty="0"/>
              <a:t>Language: Politeness</a:t>
            </a:r>
          </a:p>
          <a:p>
            <a:pPr marL="571500" indent="-457200">
              <a:lnSpc>
                <a:spcPct val="120000"/>
              </a:lnSpc>
              <a:spcBef>
                <a:spcPts val="0"/>
              </a:spcBef>
              <a:buFont typeface="+mj-lt"/>
              <a:buAutoNum type="arabicPeriod"/>
            </a:pPr>
            <a:r>
              <a:rPr lang="en-US" sz="2400" dirty="0"/>
              <a:t>Main Communicative Obstacle: Lack of Accuracy</a:t>
            </a:r>
          </a:p>
          <a:p>
            <a:pPr>
              <a:lnSpc>
                <a:spcPct val="120000"/>
              </a:lnSpc>
              <a:spcBef>
                <a:spcPts val="0"/>
              </a:spcBef>
            </a:pPr>
            <a:endParaRPr lang="en-US" sz="2400" dirty="0"/>
          </a:p>
        </p:txBody>
      </p:sp>
    </p:spTree>
    <p:extLst>
      <p:ext uri="{BB962C8B-B14F-4D97-AF65-F5344CB8AC3E}">
        <p14:creationId xmlns:p14="http://schemas.microsoft.com/office/powerpoint/2010/main" val="164607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8"/>
          <p:cNvSpPr txBox="1">
            <a:spLocks noGrp="1"/>
          </p:cNvSpPr>
          <p:nvPr>
            <p:ph type="title"/>
          </p:nvPr>
        </p:nvSpPr>
        <p:spPr>
          <a:xfrm>
            <a:off x="905691"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1. Clarity of the Message</a:t>
            </a:r>
            <a:endParaRPr b="1" dirty="0">
              <a:solidFill>
                <a:schemeClr val="accent5"/>
              </a:solidFill>
              <a:latin typeface="Calibri"/>
              <a:ea typeface="Calibri"/>
              <a:cs typeface="Calibri"/>
              <a:sym typeface="Calibri"/>
            </a:endParaRPr>
          </a:p>
        </p:txBody>
      </p:sp>
      <p:sp>
        <p:nvSpPr>
          <p:cNvPr id="197" name="Google Shape;197;p18"/>
          <p:cNvSpPr txBox="1">
            <a:spLocks noGrp="1"/>
          </p:cNvSpPr>
          <p:nvPr>
            <p:ph type="body" idx="1"/>
          </p:nvPr>
        </p:nvSpPr>
        <p:spPr>
          <a:xfrm>
            <a:off x="838200" y="1460500"/>
            <a:ext cx="10515600" cy="5032375"/>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1"/>
              </a:buClr>
              <a:buSzPts val="2400"/>
              <a:buNone/>
            </a:pPr>
            <a:r>
              <a:rPr lang="en-US" sz="2400" b="1" dirty="0"/>
              <a:t>Rule #1: your message MUST be understandable</a:t>
            </a:r>
            <a:endParaRPr dirty="0"/>
          </a:p>
          <a:p>
            <a:pPr marL="0" lvl="0" indent="0" algn="l" rtl="0">
              <a:lnSpc>
                <a:spcPct val="110000"/>
              </a:lnSpc>
              <a:spcBef>
                <a:spcPts val="0"/>
              </a:spcBef>
              <a:spcAft>
                <a:spcPts val="0"/>
              </a:spcAft>
              <a:buClr>
                <a:schemeClr val="dk1"/>
              </a:buClr>
              <a:buSzPts val="2400"/>
              <a:buNone/>
            </a:pPr>
            <a:r>
              <a:rPr lang="en-US" sz="2400" b="1" dirty="0"/>
              <a:t>Many factors affect the clarity of the message:</a:t>
            </a:r>
            <a:endParaRPr dirty="0"/>
          </a:p>
          <a:p>
            <a:pPr marL="0" lvl="0" indent="0" algn="l" rtl="0">
              <a:lnSpc>
                <a:spcPct val="110000"/>
              </a:lnSpc>
              <a:spcBef>
                <a:spcPts val="0"/>
              </a:spcBef>
              <a:spcAft>
                <a:spcPts val="0"/>
              </a:spcAft>
              <a:buClr>
                <a:schemeClr val="dk1"/>
              </a:buClr>
              <a:buSzPts val="1200"/>
              <a:buNone/>
            </a:pPr>
            <a:endParaRPr sz="1200" dirty="0"/>
          </a:p>
          <a:p>
            <a:pPr marL="0" lvl="0" indent="0" algn="l" rtl="0">
              <a:lnSpc>
                <a:spcPct val="110000"/>
              </a:lnSpc>
              <a:spcBef>
                <a:spcPts val="0"/>
              </a:spcBef>
              <a:spcAft>
                <a:spcPts val="0"/>
              </a:spcAft>
              <a:buClr>
                <a:schemeClr val="accent5"/>
              </a:buClr>
              <a:buSzPts val="2400"/>
              <a:buNone/>
            </a:pPr>
            <a:r>
              <a:rPr lang="en-US" sz="2400" b="1" dirty="0">
                <a:solidFill>
                  <a:schemeClr val="accent5"/>
                </a:solidFill>
              </a:rPr>
              <a:t>Vocabulary level</a:t>
            </a:r>
            <a:endParaRPr dirty="0"/>
          </a:p>
          <a:p>
            <a:pPr marL="228600" lvl="0" indent="-228600" algn="l" rtl="0">
              <a:lnSpc>
                <a:spcPct val="110000"/>
              </a:lnSpc>
              <a:spcBef>
                <a:spcPts val="0"/>
              </a:spcBef>
              <a:spcAft>
                <a:spcPts val="0"/>
              </a:spcAft>
              <a:buClr>
                <a:schemeClr val="dk1"/>
              </a:buClr>
              <a:buSzPts val="2200"/>
              <a:buChar char="•"/>
            </a:pPr>
            <a:r>
              <a:rPr lang="en-US" sz="2200" dirty="0"/>
              <a:t>Technical vs non-technical: What vocab level does your audience know?</a:t>
            </a:r>
            <a:endParaRPr dirty="0"/>
          </a:p>
          <a:p>
            <a:pPr marL="228600" lvl="0" indent="-165100" algn="l" rtl="0">
              <a:lnSpc>
                <a:spcPct val="110000"/>
              </a:lnSpc>
              <a:spcBef>
                <a:spcPts val="0"/>
              </a:spcBef>
              <a:spcAft>
                <a:spcPts val="0"/>
              </a:spcAft>
              <a:buClr>
                <a:schemeClr val="dk1"/>
              </a:buClr>
              <a:buSzPts val="1000"/>
              <a:buNone/>
            </a:pPr>
            <a:endParaRPr sz="1000" dirty="0"/>
          </a:p>
          <a:p>
            <a:pPr marL="0" lvl="0" indent="0" algn="l" rtl="0">
              <a:lnSpc>
                <a:spcPct val="110000"/>
              </a:lnSpc>
              <a:spcBef>
                <a:spcPts val="0"/>
              </a:spcBef>
              <a:spcAft>
                <a:spcPts val="0"/>
              </a:spcAft>
              <a:buClr>
                <a:schemeClr val="accent5"/>
              </a:buClr>
              <a:buSzPts val="2400"/>
              <a:buNone/>
            </a:pPr>
            <a:r>
              <a:rPr lang="en-US" sz="2400" b="1" dirty="0">
                <a:solidFill>
                  <a:schemeClr val="accent5"/>
                </a:solidFill>
              </a:rPr>
              <a:t>Level of Detail</a:t>
            </a:r>
            <a:endParaRPr dirty="0"/>
          </a:p>
          <a:p>
            <a:pPr marL="228600" lvl="0" indent="-228600" algn="l" rtl="0">
              <a:lnSpc>
                <a:spcPct val="110000"/>
              </a:lnSpc>
              <a:spcBef>
                <a:spcPts val="0"/>
              </a:spcBef>
              <a:spcAft>
                <a:spcPts val="0"/>
              </a:spcAft>
              <a:buClr>
                <a:schemeClr val="dk1"/>
              </a:buClr>
              <a:buSzPts val="2200"/>
              <a:buChar char="•"/>
            </a:pPr>
            <a:r>
              <a:rPr lang="en-US" sz="2200" dirty="0"/>
              <a:t>Too much? Not Enough?  Will the audience know how to respond?</a:t>
            </a:r>
            <a:endParaRPr dirty="0"/>
          </a:p>
          <a:p>
            <a:pPr marL="0" lvl="0" indent="0" algn="l" rtl="0">
              <a:lnSpc>
                <a:spcPct val="110000"/>
              </a:lnSpc>
              <a:spcBef>
                <a:spcPts val="0"/>
              </a:spcBef>
              <a:spcAft>
                <a:spcPts val="0"/>
              </a:spcAft>
              <a:buClr>
                <a:schemeClr val="dk1"/>
              </a:buClr>
              <a:buSzPts val="1000"/>
              <a:buNone/>
            </a:pPr>
            <a:endParaRPr sz="1000" dirty="0"/>
          </a:p>
          <a:p>
            <a:pPr marL="0" lvl="0" indent="0" algn="l" rtl="0">
              <a:lnSpc>
                <a:spcPct val="110000"/>
              </a:lnSpc>
              <a:spcBef>
                <a:spcPts val="0"/>
              </a:spcBef>
              <a:spcAft>
                <a:spcPts val="0"/>
              </a:spcAft>
              <a:buClr>
                <a:schemeClr val="accent5"/>
              </a:buClr>
              <a:buSzPts val="2400"/>
              <a:buNone/>
            </a:pPr>
            <a:r>
              <a:rPr lang="en-US" sz="2400" b="1" dirty="0">
                <a:solidFill>
                  <a:schemeClr val="accent5"/>
                </a:solidFill>
              </a:rPr>
              <a:t>Organization of Details</a:t>
            </a:r>
            <a:endParaRPr dirty="0"/>
          </a:p>
          <a:p>
            <a:pPr marL="228600" lvl="0" indent="-228600" algn="l" rtl="0">
              <a:lnSpc>
                <a:spcPct val="110000"/>
              </a:lnSpc>
              <a:spcBef>
                <a:spcPts val="0"/>
              </a:spcBef>
              <a:spcAft>
                <a:spcPts val="0"/>
              </a:spcAft>
              <a:buClr>
                <a:schemeClr val="dk1"/>
              </a:buClr>
              <a:buSzPts val="2200"/>
              <a:buChar char="•"/>
            </a:pPr>
            <a:r>
              <a:rPr lang="en-US" sz="2200" dirty="0"/>
              <a:t>Layout of Sequence of ideas: Is the message format easy to read?</a:t>
            </a:r>
            <a:endParaRPr dirty="0"/>
          </a:p>
          <a:p>
            <a:pPr marL="228600" lvl="0" indent="-228600" algn="l" rtl="0">
              <a:lnSpc>
                <a:spcPct val="110000"/>
              </a:lnSpc>
              <a:spcBef>
                <a:spcPts val="0"/>
              </a:spcBef>
              <a:spcAft>
                <a:spcPts val="0"/>
              </a:spcAft>
              <a:buClr>
                <a:schemeClr val="dk1"/>
              </a:buClr>
              <a:buSzPts val="2200"/>
              <a:buChar char="•"/>
            </a:pPr>
            <a:r>
              <a:rPr lang="en-US" sz="2200" dirty="0"/>
              <a:t>Formal vs Informal: Are complete sentences required/used?</a:t>
            </a:r>
            <a:endParaRPr dirty="0"/>
          </a:p>
          <a:p>
            <a:pPr marL="228600" lvl="0" indent="-165100" algn="l" rtl="0">
              <a:lnSpc>
                <a:spcPct val="110000"/>
              </a:lnSpc>
              <a:spcBef>
                <a:spcPts val="0"/>
              </a:spcBef>
              <a:spcAft>
                <a:spcPts val="0"/>
              </a:spcAft>
              <a:buClr>
                <a:schemeClr val="dk1"/>
              </a:buClr>
              <a:buSzPts val="1000"/>
              <a:buNone/>
            </a:pPr>
            <a:endParaRPr sz="1000" dirty="0"/>
          </a:p>
          <a:p>
            <a:pPr marL="0" lvl="0" indent="0" algn="l" rtl="0">
              <a:lnSpc>
                <a:spcPct val="110000"/>
              </a:lnSpc>
              <a:spcBef>
                <a:spcPts val="0"/>
              </a:spcBef>
              <a:spcAft>
                <a:spcPts val="0"/>
              </a:spcAft>
              <a:buClr>
                <a:schemeClr val="accent5"/>
              </a:buClr>
              <a:buSzPts val="2400"/>
              <a:buNone/>
            </a:pPr>
            <a:r>
              <a:rPr lang="en-US" sz="2400" b="1" dirty="0">
                <a:solidFill>
                  <a:schemeClr val="accent5"/>
                </a:solidFill>
              </a:rPr>
              <a:t>Presentation of the message:</a:t>
            </a:r>
            <a:endParaRPr dirty="0"/>
          </a:p>
          <a:p>
            <a:pPr marL="228600" lvl="0" indent="-228600" algn="l" rtl="0">
              <a:lnSpc>
                <a:spcPct val="110000"/>
              </a:lnSpc>
              <a:spcBef>
                <a:spcPts val="0"/>
              </a:spcBef>
              <a:spcAft>
                <a:spcPts val="0"/>
              </a:spcAft>
              <a:buClr>
                <a:schemeClr val="dk1"/>
              </a:buClr>
              <a:buSzPts val="2200"/>
              <a:buChar char="•"/>
            </a:pPr>
            <a:r>
              <a:rPr lang="en-US" sz="2200" dirty="0"/>
              <a:t>Message method: Was the channel appropriate for the message purpose?</a:t>
            </a:r>
            <a:endParaRPr sz="2200" dirty="0"/>
          </a:p>
          <a:p>
            <a:pPr marL="228600" lvl="0" indent="-76200" algn="l" rtl="0">
              <a:lnSpc>
                <a:spcPct val="110000"/>
              </a:lnSpc>
              <a:spcBef>
                <a:spcPts val="0"/>
              </a:spcBef>
              <a:spcAft>
                <a:spcPts val="0"/>
              </a:spcAft>
              <a:buClr>
                <a:schemeClr val="dk1"/>
              </a:buClr>
              <a:buSzPts val="2400"/>
              <a:buNone/>
            </a:pPr>
            <a:endParaRPr sz="2400" dirty="0"/>
          </a:p>
          <a:p>
            <a:pPr marL="228600" lvl="0" indent="-76200" algn="l" rtl="0">
              <a:lnSpc>
                <a:spcPct val="110000"/>
              </a:lnSpc>
              <a:spcBef>
                <a:spcPts val="0"/>
              </a:spcBef>
              <a:spcAft>
                <a:spcPts val="0"/>
              </a:spcAft>
              <a:buClr>
                <a:schemeClr val="dk1"/>
              </a:buClr>
              <a:buSzPts val="24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7">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97">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7">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2. Conciseness:</a:t>
            </a:r>
            <a:endParaRPr b="1" dirty="0">
              <a:solidFill>
                <a:schemeClr val="accent5"/>
              </a:solidFill>
              <a:latin typeface="Calibri"/>
              <a:ea typeface="Calibri"/>
              <a:cs typeface="Calibri"/>
              <a:sym typeface="Calibri"/>
            </a:endParaRPr>
          </a:p>
        </p:txBody>
      </p:sp>
      <p:sp>
        <p:nvSpPr>
          <p:cNvPr id="203" name="Google Shape;203;p19"/>
          <p:cNvSpPr txBox="1">
            <a:spLocks noGrp="1"/>
          </p:cNvSpPr>
          <p:nvPr>
            <p:ph type="body" idx="1"/>
          </p:nvPr>
        </p:nvSpPr>
        <p:spPr>
          <a:xfrm>
            <a:off x="838200" y="4693023"/>
            <a:ext cx="10515600" cy="182880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Form your ideas in a simple and clear </a:t>
            </a:r>
            <a:r>
              <a:rPr lang="en-US" sz="2400" i="1"/>
              <a:t>(but specific)</a:t>
            </a:r>
            <a:r>
              <a:rPr lang="en-US" sz="2400"/>
              <a:t> way</a:t>
            </a:r>
            <a:endParaRPr/>
          </a:p>
          <a:p>
            <a:pPr marL="228600" lvl="0" indent="-228600" algn="l" rtl="0">
              <a:lnSpc>
                <a:spcPct val="90000"/>
              </a:lnSpc>
              <a:spcBef>
                <a:spcPts val="1000"/>
              </a:spcBef>
              <a:spcAft>
                <a:spcPts val="0"/>
              </a:spcAft>
              <a:buClr>
                <a:schemeClr val="dk1"/>
              </a:buClr>
              <a:buSzPts val="2400"/>
              <a:buChar char="•"/>
            </a:pPr>
            <a:r>
              <a:rPr lang="en-US" sz="2400"/>
              <a:t>Only include information that is necessary for the audience to understand you</a:t>
            </a:r>
            <a:endParaRPr/>
          </a:p>
          <a:p>
            <a:pPr marL="228600" lvl="0" indent="-228600" algn="l" rtl="0">
              <a:lnSpc>
                <a:spcPct val="90000"/>
              </a:lnSpc>
              <a:spcBef>
                <a:spcPts val="1000"/>
              </a:spcBef>
              <a:spcAft>
                <a:spcPts val="0"/>
              </a:spcAft>
              <a:buClr>
                <a:schemeClr val="dk1"/>
              </a:buClr>
              <a:buSzPts val="2400"/>
              <a:buChar char="•"/>
            </a:pPr>
            <a:r>
              <a:rPr lang="en-US" sz="2400"/>
              <a:t>Limit message content to no more than 3 ideas</a:t>
            </a:r>
            <a:endParaRPr/>
          </a:p>
          <a:p>
            <a:pPr marL="228600" lvl="0" indent="-228600" algn="l" rtl="0">
              <a:lnSpc>
                <a:spcPct val="90000"/>
              </a:lnSpc>
              <a:spcBef>
                <a:spcPts val="1000"/>
              </a:spcBef>
              <a:spcAft>
                <a:spcPts val="0"/>
              </a:spcAft>
              <a:buClr>
                <a:schemeClr val="dk1"/>
              </a:buClr>
              <a:buSzPts val="2400"/>
              <a:buChar char="•"/>
            </a:pPr>
            <a:r>
              <a:rPr lang="en-US" sz="2400"/>
              <a:t>If more ideas need to be shared, use an alternate communication method</a:t>
            </a:r>
            <a:endParaRPr/>
          </a:p>
          <a:p>
            <a:pPr marL="228600" lvl="0" indent="-76200" algn="l" rtl="0">
              <a:lnSpc>
                <a:spcPct val="90000"/>
              </a:lnSpc>
              <a:spcBef>
                <a:spcPts val="1000"/>
              </a:spcBef>
              <a:spcAft>
                <a:spcPts val="0"/>
              </a:spcAft>
              <a:buClr>
                <a:schemeClr val="dk1"/>
              </a:buClr>
              <a:buSzPts val="2400"/>
              <a:buNone/>
            </a:pPr>
            <a:endParaRPr sz="2400"/>
          </a:p>
          <a:p>
            <a:pPr marL="228600" lvl="0" indent="-76200" algn="l" rtl="0">
              <a:lnSpc>
                <a:spcPct val="90000"/>
              </a:lnSpc>
              <a:spcBef>
                <a:spcPts val="1000"/>
              </a:spcBef>
              <a:spcAft>
                <a:spcPts val="0"/>
              </a:spcAft>
              <a:buClr>
                <a:schemeClr val="dk1"/>
              </a:buClr>
              <a:buSzPts val="2400"/>
              <a:buNone/>
            </a:pPr>
            <a:endParaRPr sz="2400"/>
          </a:p>
        </p:txBody>
      </p:sp>
      <p:pic>
        <p:nvPicPr>
          <p:cNvPr id="204" name="Google Shape;204;p19"/>
          <p:cNvPicPr preferRelativeResize="0"/>
          <p:nvPr/>
        </p:nvPicPr>
        <p:blipFill rotWithShape="1">
          <a:blip r:embed="rId3">
            <a:alphaModFix/>
          </a:blip>
          <a:srcRect/>
          <a:stretch/>
        </p:blipFill>
        <p:spPr>
          <a:xfrm>
            <a:off x="838201" y="1690689"/>
            <a:ext cx="5499730" cy="999236"/>
          </a:xfrm>
          <a:prstGeom prst="rect">
            <a:avLst/>
          </a:prstGeom>
          <a:noFill/>
          <a:ln>
            <a:noFill/>
          </a:ln>
        </p:spPr>
      </p:pic>
      <p:pic>
        <p:nvPicPr>
          <p:cNvPr id="205" name="Google Shape;205;p19"/>
          <p:cNvPicPr preferRelativeResize="0"/>
          <p:nvPr/>
        </p:nvPicPr>
        <p:blipFill rotWithShape="1">
          <a:blip r:embed="rId4">
            <a:alphaModFix/>
          </a:blip>
          <a:srcRect/>
          <a:stretch/>
        </p:blipFill>
        <p:spPr>
          <a:xfrm>
            <a:off x="2078691" y="2716069"/>
            <a:ext cx="2171567" cy="393400"/>
          </a:xfrm>
          <a:prstGeom prst="rect">
            <a:avLst/>
          </a:prstGeom>
          <a:noFill/>
          <a:ln>
            <a:noFill/>
          </a:ln>
        </p:spPr>
      </p:pic>
      <p:pic>
        <p:nvPicPr>
          <p:cNvPr id="206" name="Google Shape;206;p19"/>
          <p:cNvPicPr preferRelativeResize="0"/>
          <p:nvPr/>
        </p:nvPicPr>
        <p:blipFill rotWithShape="1">
          <a:blip r:embed="rId5">
            <a:alphaModFix/>
          </a:blip>
          <a:srcRect/>
          <a:stretch/>
        </p:blipFill>
        <p:spPr>
          <a:xfrm>
            <a:off x="2078691" y="3157793"/>
            <a:ext cx="5169274" cy="13139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3. Language: Tone</a:t>
            </a:r>
            <a:endParaRPr b="1" dirty="0">
              <a:solidFill>
                <a:schemeClr val="accent5"/>
              </a:solidFill>
              <a:latin typeface="Calibri"/>
              <a:ea typeface="Calibri"/>
              <a:cs typeface="Calibri"/>
              <a:sym typeface="Calibri"/>
            </a:endParaRPr>
          </a:p>
        </p:txBody>
      </p:sp>
      <p:sp>
        <p:nvSpPr>
          <p:cNvPr id="212" name="Google Shape;212;p20"/>
          <p:cNvSpPr txBox="1">
            <a:spLocks noGrp="1"/>
          </p:cNvSpPr>
          <p:nvPr>
            <p:ph type="body" idx="1"/>
          </p:nvPr>
        </p:nvSpPr>
        <p:spPr>
          <a:xfrm>
            <a:off x="838200" y="1573834"/>
            <a:ext cx="11129682" cy="435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dirty="0"/>
              <a:t>Be positive! </a:t>
            </a:r>
            <a:endParaRPr sz="2400" b="1" dirty="0"/>
          </a:p>
          <a:p>
            <a:pPr marL="228600" lvl="0" indent="-228600" algn="l" rtl="0">
              <a:lnSpc>
                <a:spcPct val="100000"/>
              </a:lnSpc>
              <a:spcBef>
                <a:spcPts val="0"/>
              </a:spcBef>
              <a:spcAft>
                <a:spcPts val="0"/>
              </a:spcAft>
              <a:buClr>
                <a:schemeClr val="dk1"/>
              </a:buClr>
              <a:buSzPts val="2400"/>
              <a:buChar char="•"/>
            </a:pPr>
            <a:r>
              <a:rPr lang="en-US" sz="2400" dirty="0"/>
              <a:t>Even in negative situations, try to remain positive</a:t>
            </a:r>
            <a:endParaRPr dirty="0"/>
          </a:p>
          <a:p>
            <a:pPr marL="0" lvl="0" indent="0" algn="l" rtl="0">
              <a:lnSpc>
                <a:spcPct val="100000"/>
              </a:lnSpc>
              <a:spcBef>
                <a:spcPts val="0"/>
              </a:spcBef>
              <a:spcAft>
                <a:spcPts val="0"/>
              </a:spcAft>
              <a:buClr>
                <a:schemeClr val="dk1"/>
              </a:buClr>
              <a:buSzPts val="1000"/>
              <a:buNone/>
            </a:pPr>
            <a:endParaRPr sz="1000" dirty="0"/>
          </a:p>
          <a:p>
            <a:pPr marL="0" lvl="0" indent="0" algn="l" rtl="0">
              <a:lnSpc>
                <a:spcPct val="100000"/>
              </a:lnSpc>
              <a:spcBef>
                <a:spcPts val="0"/>
              </a:spcBef>
              <a:spcAft>
                <a:spcPts val="0"/>
              </a:spcAft>
              <a:buClr>
                <a:schemeClr val="dk1"/>
              </a:buClr>
              <a:buSzPts val="2400"/>
              <a:buNone/>
            </a:pPr>
            <a:r>
              <a:rPr lang="en-US" sz="2400" b="1" dirty="0"/>
              <a:t>Be honest: </a:t>
            </a:r>
            <a:endParaRPr sz="2400" b="1" dirty="0"/>
          </a:p>
          <a:p>
            <a:pPr marL="228600" lvl="0" indent="-228600" algn="l" rtl="0">
              <a:lnSpc>
                <a:spcPct val="100000"/>
              </a:lnSpc>
              <a:spcBef>
                <a:spcPts val="0"/>
              </a:spcBef>
              <a:spcAft>
                <a:spcPts val="0"/>
              </a:spcAft>
              <a:buClr>
                <a:schemeClr val="dk1"/>
              </a:buClr>
              <a:buSzPts val="2400"/>
              <a:buChar char="•"/>
            </a:pPr>
            <a:r>
              <a:rPr lang="en-US" sz="2400" dirty="0"/>
              <a:t>Business relationships require trust - without honesty, there is no trust</a:t>
            </a:r>
            <a:endParaRPr dirty="0"/>
          </a:p>
          <a:p>
            <a:pPr marL="228600" lvl="0" indent="-165100" algn="l" rtl="0">
              <a:lnSpc>
                <a:spcPct val="100000"/>
              </a:lnSpc>
              <a:spcBef>
                <a:spcPts val="0"/>
              </a:spcBef>
              <a:spcAft>
                <a:spcPts val="0"/>
              </a:spcAft>
              <a:buClr>
                <a:schemeClr val="dk1"/>
              </a:buClr>
              <a:buSzPts val="1000"/>
              <a:buNone/>
            </a:pPr>
            <a:endParaRPr sz="1000" dirty="0"/>
          </a:p>
          <a:p>
            <a:pPr marL="0" lvl="0" indent="0" algn="l" rtl="0">
              <a:lnSpc>
                <a:spcPct val="100000"/>
              </a:lnSpc>
              <a:spcBef>
                <a:spcPts val="0"/>
              </a:spcBef>
              <a:spcAft>
                <a:spcPts val="0"/>
              </a:spcAft>
              <a:buClr>
                <a:schemeClr val="dk1"/>
              </a:buClr>
              <a:buSzPts val="2400"/>
              <a:buNone/>
            </a:pPr>
            <a:r>
              <a:rPr lang="en-US" sz="2400" b="1" dirty="0"/>
              <a:t>Be realistic: </a:t>
            </a:r>
            <a:endParaRPr dirty="0"/>
          </a:p>
          <a:p>
            <a:pPr marL="228600" lvl="0" indent="-228600" algn="l" rtl="0">
              <a:lnSpc>
                <a:spcPct val="100000"/>
              </a:lnSpc>
              <a:spcBef>
                <a:spcPts val="0"/>
              </a:spcBef>
              <a:spcAft>
                <a:spcPts val="0"/>
              </a:spcAft>
              <a:buClr>
                <a:schemeClr val="dk1"/>
              </a:buClr>
              <a:buSzPts val="2400"/>
              <a:buChar char="•"/>
            </a:pPr>
            <a:r>
              <a:rPr lang="en-US" sz="2400" dirty="0"/>
              <a:t>Set real expectations of what is actually possible</a:t>
            </a:r>
            <a:endParaRPr dirty="0"/>
          </a:p>
          <a:p>
            <a:pPr marL="228600" lvl="0" indent="-228600" algn="l" rtl="0">
              <a:lnSpc>
                <a:spcPct val="100000"/>
              </a:lnSpc>
              <a:spcBef>
                <a:spcPts val="0"/>
              </a:spcBef>
              <a:spcAft>
                <a:spcPts val="0"/>
              </a:spcAft>
              <a:buClr>
                <a:schemeClr val="dk1"/>
              </a:buClr>
              <a:buSzPts val="2400"/>
              <a:buChar char="•"/>
            </a:pPr>
            <a:r>
              <a:rPr lang="en-US" sz="2400" dirty="0"/>
              <a:t>Do not set deadlines that you cannot meet, or are unreasonable for others to meet</a:t>
            </a:r>
            <a:endParaRPr dirty="0"/>
          </a:p>
          <a:p>
            <a:pPr marL="0" lvl="0" indent="0" algn="l" rtl="0">
              <a:lnSpc>
                <a:spcPct val="100000"/>
              </a:lnSpc>
              <a:spcBef>
                <a:spcPts val="0"/>
              </a:spcBef>
              <a:spcAft>
                <a:spcPts val="0"/>
              </a:spcAft>
              <a:buClr>
                <a:schemeClr val="dk1"/>
              </a:buClr>
              <a:buSzPts val="1000"/>
              <a:buNone/>
            </a:pPr>
            <a:endParaRPr sz="1000" b="1" dirty="0"/>
          </a:p>
          <a:p>
            <a:pPr marL="0" lvl="0" indent="0" algn="l" rtl="0">
              <a:lnSpc>
                <a:spcPct val="100000"/>
              </a:lnSpc>
              <a:spcBef>
                <a:spcPts val="0"/>
              </a:spcBef>
              <a:spcAft>
                <a:spcPts val="0"/>
              </a:spcAft>
              <a:buClr>
                <a:schemeClr val="dk1"/>
              </a:buClr>
              <a:buSzPts val="2400"/>
              <a:buNone/>
            </a:pPr>
            <a:r>
              <a:rPr lang="en-US" sz="2400" b="1" dirty="0"/>
              <a:t>Be respectful:</a:t>
            </a:r>
            <a:endParaRPr dirty="0"/>
          </a:p>
          <a:p>
            <a:pPr marL="228600" lvl="0" indent="-228600" algn="l" rtl="0">
              <a:lnSpc>
                <a:spcPct val="100000"/>
              </a:lnSpc>
              <a:spcBef>
                <a:spcPts val="0"/>
              </a:spcBef>
              <a:spcAft>
                <a:spcPts val="0"/>
              </a:spcAft>
              <a:buClr>
                <a:schemeClr val="dk1"/>
              </a:buClr>
              <a:buSzPts val="2400"/>
              <a:buChar char="•"/>
            </a:pPr>
            <a:r>
              <a:rPr lang="en-US" sz="2400" dirty="0"/>
              <a:t>Other people have different cultural backgrounds or working environments</a:t>
            </a:r>
            <a:endParaRPr dirty="0"/>
          </a:p>
          <a:p>
            <a:pPr marL="228600" lvl="0" indent="-228600" algn="l" rtl="0">
              <a:lnSpc>
                <a:spcPct val="100000"/>
              </a:lnSpc>
              <a:spcBef>
                <a:spcPts val="0"/>
              </a:spcBef>
              <a:spcAft>
                <a:spcPts val="0"/>
              </a:spcAft>
              <a:buClr>
                <a:schemeClr val="dk1"/>
              </a:buClr>
              <a:buSzPts val="2400"/>
              <a:buChar char="•"/>
            </a:pPr>
            <a:r>
              <a:rPr lang="en-US" sz="2400" dirty="0"/>
              <a:t>Other people have different needs or expectations</a:t>
            </a:r>
            <a:endParaRPr dirty="0"/>
          </a:p>
          <a:p>
            <a:pPr marL="228600" lvl="0" indent="-165100" algn="l" rtl="0">
              <a:lnSpc>
                <a:spcPct val="100000"/>
              </a:lnSpc>
              <a:spcBef>
                <a:spcPts val="0"/>
              </a:spcBef>
              <a:spcAft>
                <a:spcPts val="0"/>
              </a:spcAft>
              <a:buClr>
                <a:schemeClr val="dk1"/>
              </a:buClr>
              <a:buSzPts val="1000"/>
              <a:buNone/>
            </a:pPr>
            <a:endParaRPr sz="1000" dirty="0"/>
          </a:p>
          <a:p>
            <a:pPr marL="0" lvl="0" indent="0" algn="l" rtl="0">
              <a:lnSpc>
                <a:spcPct val="100000"/>
              </a:lnSpc>
              <a:spcBef>
                <a:spcPts val="0"/>
              </a:spcBef>
              <a:spcAft>
                <a:spcPts val="0"/>
              </a:spcAft>
              <a:buClr>
                <a:schemeClr val="dk1"/>
              </a:buClr>
              <a:buSzPts val="2400"/>
              <a:buNone/>
            </a:pPr>
            <a:r>
              <a:rPr lang="en-US" sz="2400" b="1" dirty="0"/>
              <a:t>Understand your Audience:</a:t>
            </a:r>
            <a:endParaRPr dirty="0"/>
          </a:p>
          <a:p>
            <a:pPr marL="228600" lvl="0" indent="-228600" algn="l" rtl="0">
              <a:lnSpc>
                <a:spcPct val="100000"/>
              </a:lnSpc>
              <a:spcBef>
                <a:spcPts val="0"/>
              </a:spcBef>
              <a:spcAft>
                <a:spcPts val="0"/>
              </a:spcAft>
              <a:buClr>
                <a:schemeClr val="dk1"/>
              </a:buClr>
              <a:buSzPts val="2400"/>
              <a:buChar char="•"/>
            </a:pPr>
            <a:r>
              <a:rPr lang="en-US" sz="2400" dirty="0"/>
              <a:t>Be aware that international audiences might interpret words/ideas differently</a:t>
            </a:r>
            <a:endParaRPr dirty="0"/>
          </a:p>
          <a:p>
            <a:pPr marL="228600" lvl="0" indent="-152400" algn="l" rtl="0">
              <a:lnSpc>
                <a:spcPct val="100000"/>
              </a:lnSpc>
              <a:spcBef>
                <a:spcPts val="0"/>
              </a:spcBef>
              <a:spcAft>
                <a:spcPts val="0"/>
              </a:spcAft>
              <a:buClr>
                <a:schemeClr val="dk1"/>
              </a:buClr>
              <a:buSzPts val="1200"/>
              <a:buNone/>
            </a:pPr>
            <a:endParaRPr sz="1200" dirty="0"/>
          </a:p>
          <a:p>
            <a:pPr marL="228600" lvl="0" indent="-76200" algn="l" rtl="0">
              <a:lnSpc>
                <a:spcPct val="100000"/>
              </a:lnSpc>
              <a:spcBef>
                <a:spcPts val="0"/>
              </a:spcBef>
              <a:spcAft>
                <a:spcPts val="0"/>
              </a:spcAft>
              <a:buClr>
                <a:schemeClr val="dk1"/>
              </a:buClr>
              <a:buSzPts val="2400"/>
              <a:buNone/>
            </a:pPr>
            <a:endParaRPr sz="2400" dirty="0"/>
          </a:p>
          <a:p>
            <a:pPr marL="228600" lvl="0" indent="-76200" algn="l" rtl="0">
              <a:lnSpc>
                <a:spcPct val="100000"/>
              </a:lnSpc>
              <a:spcBef>
                <a:spcPts val="0"/>
              </a:spcBef>
              <a:spcAft>
                <a:spcPts val="0"/>
              </a:spcAft>
              <a:buClr>
                <a:schemeClr val="dk1"/>
              </a:buClr>
              <a:buSzPts val="2400"/>
              <a:buNone/>
            </a:pPr>
            <a:endParaRPr sz="2400" dirty="0"/>
          </a:p>
          <a:p>
            <a:pPr marL="228600" lvl="0" indent="-76200" algn="l" rtl="0">
              <a:lnSpc>
                <a:spcPct val="100000"/>
              </a:lnSpc>
              <a:spcBef>
                <a:spcPts val="0"/>
              </a:spcBef>
              <a:spcAft>
                <a:spcPts val="0"/>
              </a:spcAft>
              <a:buClr>
                <a:schemeClr val="dk1"/>
              </a:buClr>
              <a:buSzPts val="24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2">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2">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12">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2">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2">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2">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12">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4. Language: Politeness</a:t>
            </a:r>
            <a:endParaRPr b="1" dirty="0">
              <a:solidFill>
                <a:schemeClr val="accent5"/>
              </a:solidFill>
              <a:latin typeface="Calibri"/>
              <a:ea typeface="Calibri"/>
              <a:cs typeface="Calibri"/>
              <a:sym typeface="Calibri"/>
            </a:endParaRPr>
          </a:p>
        </p:txBody>
      </p:sp>
      <p:sp>
        <p:nvSpPr>
          <p:cNvPr id="218" name="Google Shape;218;p21"/>
          <p:cNvSpPr txBox="1">
            <a:spLocks noGrp="1"/>
          </p:cNvSpPr>
          <p:nvPr>
            <p:ph type="body" idx="1"/>
          </p:nvPr>
        </p:nvSpPr>
        <p:spPr>
          <a:xfrm>
            <a:off x="838200" y="1573833"/>
            <a:ext cx="10515600" cy="5032375"/>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400"/>
              <a:buNone/>
            </a:pPr>
            <a:r>
              <a:rPr lang="en-US" sz="2400" b="1" dirty="0"/>
              <a:t>Your relationship with the audience should affect how you communicate:</a:t>
            </a:r>
            <a:endParaRPr dirty="0"/>
          </a:p>
          <a:p>
            <a:pPr marL="0" lvl="0" indent="0" algn="l" rtl="0">
              <a:lnSpc>
                <a:spcPct val="100000"/>
              </a:lnSpc>
              <a:spcBef>
                <a:spcPts val="0"/>
              </a:spcBef>
              <a:spcAft>
                <a:spcPts val="0"/>
              </a:spcAft>
              <a:buClr>
                <a:schemeClr val="dk1"/>
              </a:buClr>
              <a:buSzPts val="2400"/>
              <a:buNone/>
            </a:pPr>
            <a:endParaRPr sz="2400" b="1" dirty="0"/>
          </a:p>
          <a:p>
            <a:pPr marL="0" lvl="0" indent="0" algn="l" rtl="0">
              <a:lnSpc>
                <a:spcPct val="100000"/>
              </a:lnSpc>
              <a:spcBef>
                <a:spcPts val="0"/>
              </a:spcBef>
              <a:spcAft>
                <a:spcPts val="0"/>
              </a:spcAft>
              <a:buClr>
                <a:schemeClr val="dk1"/>
              </a:buClr>
              <a:buSzPts val="2400"/>
              <a:buNone/>
            </a:pPr>
            <a:r>
              <a:rPr lang="en-US" sz="2400" dirty="0"/>
              <a:t>Business depends on forming and maintaining working relationships:</a:t>
            </a:r>
            <a:endParaRPr dirty="0"/>
          </a:p>
          <a:p>
            <a:pPr marL="0" lvl="0" indent="0" algn="l" rtl="0">
              <a:lnSpc>
                <a:spcPct val="100000"/>
              </a:lnSpc>
              <a:spcBef>
                <a:spcPts val="0"/>
              </a:spcBef>
              <a:spcAft>
                <a:spcPts val="0"/>
              </a:spcAft>
              <a:buClr>
                <a:schemeClr val="dk1"/>
              </a:buClr>
              <a:buSzPts val="2400"/>
              <a:buNone/>
            </a:pPr>
            <a:endParaRPr sz="2400" b="1" dirty="0"/>
          </a:p>
          <a:p>
            <a:pPr marL="0" lvl="0" indent="0" algn="l" rtl="0">
              <a:lnSpc>
                <a:spcPct val="100000"/>
              </a:lnSpc>
              <a:spcBef>
                <a:spcPts val="0"/>
              </a:spcBef>
              <a:spcAft>
                <a:spcPts val="0"/>
              </a:spcAft>
              <a:buClr>
                <a:schemeClr val="dk1"/>
              </a:buClr>
              <a:buSzPts val="2400"/>
              <a:buNone/>
            </a:pPr>
            <a:r>
              <a:rPr lang="en-US" sz="2400" b="1" dirty="0"/>
              <a:t>Do not be rude and/or aggressive</a:t>
            </a:r>
            <a:endParaRPr dirty="0"/>
          </a:p>
          <a:p>
            <a:pPr marL="0" lvl="0" indent="0" algn="l" rtl="0">
              <a:lnSpc>
                <a:spcPct val="100000"/>
              </a:lnSpc>
              <a:spcBef>
                <a:spcPts val="0"/>
              </a:spcBef>
              <a:spcAft>
                <a:spcPts val="0"/>
              </a:spcAft>
              <a:buClr>
                <a:schemeClr val="dk1"/>
              </a:buClr>
              <a:buSzPts val="2400"/>
              <a:buNone/>
            </a:pPr>
            <a:r>
              <a:rPr lang="en-US" sz="2400" b="1" dirty="0"/>
              <a:t>Generally, use a friendly approach</a:t>
            </a:r>
            <a:endParaRPr dirty="0"/>
          </a:p>
          <a:p>
            <a:pPr marL="228600" lvl="0" indent="-76200" algn="l" rtl="0">
              <a:lnSpc>
                <a:spcPct val="100000"/>
              </a:lnSpc>
              <a:spcBef>
                <a:spcPts val="0"/>
              </a:spcBef>
              <a:spcAft>
                <a:spcPts val="0"/>
              </a:spcAft>
              <a:buClr>
                <a:schemeClr val="dk1"/>
              </a:buClr>
              <a:buSzPts val="2400"/>
              <a:buNone/>
            </a:pPr>
            <a:endParaRPr sz="2400" dirty="0"/>
          </a:p>
          <a:p>
            <a:pPr marL="228600" lvl="0" indent="-228600" algn="l" rtl="0">
              <a:lnSpc>
                <a:spcPct val="100000"/>
              </a:lnSpc>
              <a:spcBef>
                <a:spcPts val="0"/>
              </a:spcBef>
              <a:spcAft>
                <a:spcPts val="0"/>
              </a:spcAft>
              <a:buClr>
                <a:schemeClr val="dk1"/>
              </a:buClr>
              <a:buSzPts val="2400"/>
              <a:buChar char="•"/>
            </a:pPr>
            <a:r>
              <a:rPr lang="en-US" sz="2400" b="1" dirty="0"/>
              <a:t>If you know the receiver, it can be ok to be semi-formal</a:t>
            </a:r>
            <a:endParaRPr dirty="0"/>
          </a:p>
          <a:p>
            <a:pPr marL="228600" lvl="0" indent="-228600" algn="l" rtl="0">
              <a:lnSpc>
                <a:spcPct val="100000"/>
              </a:lnSpc>
              <a:spcBef>
                <a:spcPts val="0"/>
              </a:spcBef>
              <a:spcAft>
                <a:spcPts val="0"/>
              </a:spcAft>
              <a:buClr>
                <a:schemeClr val="dk1"/>
              </a:buClr>
              <a:buSzPts val="2400"/>
              <a:buChar char="•"/>
            </a:pPr>
            <a:r>
              <a:rPr lang="en-US" sz="2400" b="1" dirty="0"/>
              <a:t>If you do not know the receiver, remain formal to appear professional</a:t>
            </a:r>
            <a:endParaRPr dirty="0"/>
          </a:p>
          <a:p>
            <a:pPr marL="228600" lvl="0" indent="-76200" algn="l" rtl="0">
              <a:lnSpc>
                <a:spcPct val="100000"/>
              </a:lnSpc>
              <a:spcBef>
                <a:spcPts val="0"/>
              </a:spcBef>
              <a:spcAft>
                <a:spcPts val="0"/>
              </a:spcAft>
              <a:buClr>
                <a:schemeClr val="dk1"/>
              </a:buClr>
              <a:buSzPts val="2400"/>
              <a:buNone/>
            </a:pPr>
            <a:endParaRPr sz="2400" dirty="0"/>
          </a:p>
          <a:p>
            <a:pPr marL="228600" lvl="0" indent="-228600" algn="l" rtl="0">
              <a:lnSpc>
                <a:spcPct val="100000"/>
              </a:lnSpc>
              <a:spcBef>
                <a:spcPts val="0"/>
              </a:spcBef>
              <a:spcAft>
                <a:spcPts val="0"/>
              </a:spcAft>
              <a:buClr>
                <a:schemeClr val="dk1"/>
              </a:buClr>
              <a:buSzPts val="2400"/>
              <a:buChar char="•"/>
            </a:pPr>
            <a:r>
              <a:rPr lang="en-US" sz="2400" dirty="0"/>
              <a:t>Be considerate when </a:t>
            </a:r>
            <a:r>
              <a:rPr lang="en-US" sz="2400" b="1" dirty="0"/>
              <a:t>asking </a:t>
            </a:r>
            <a:r>
              <a:rPr lang="en-US" sz="2400" dirty="0"/>
              <a:t>for things</a:t>
            </a:r>
            <a:endParaRPr dirty="0"/>
          </a:p>
          <a:p>
            <a:pPr marL="228600" lvl="0" indent="-228600" algn="l" rtl="0">
              <a:lnSpc>
                <a:spcPct val="100000"/>
              </a:lnSpc>
              <a:spcBef>
                <a:spcPts val="0"/>
              </a:spcBef>
              <a:spcAft>
                <a:spcPts val="0"/>
              </a:spcAft>
              <a:buClr>
                <a:schemeClr val="dk1"/>
              </a:buClr>
              <a:buSzPts val="2400"/>
              <a:buChar char="•"/>
            </a:pPr>
            <a:r>
              <a:rPr lang="en-US" sz="2400" b="1" dirty="0"/>
              <a:t>Make requests, not demands</a:t>
            </a:r>
            <a:endParaRPr dirty="0"/>
          </a:p>
          <a:p>
            <a:pPr marL="228600" lvl="0" indent="-76200" algn="l" rtl="0">
              <a:lnSpc>
                <a:spcPct val="100000"/>
              </a:lnSpc>
              <a:spcBef>
                <a:spcPts val="0"/>
              </a:spcBef>
              <a:spcAft>
                <a:spcPts val="0"/>
              </a:spcAft>
              <a:buClr>
                <a:schemeClr val="dk1"/>
              </a:buClr>
              <a:buSzPts val="2400"/>
              <a:buNone/>
            </a:pPr>
            <a:endParaRPr sz="2400" b="1" dirty="0"/>
          </a:p>
          <a:p>
            <a:pPr marL="228600" lvl="0" indent="-228600" algn="l" rtl="0">
              <a:lnSpc>
                <a:spcPct val="100000"/>
              </a:lnSpc>
              <a:spcBef>
                <a:spcPts val="0"/>
              </a:spcBef>
              <a:spcAft>
                <a:spcPts val="0"/>
              </a:spcAft>
              <a:buClr>
                <a:schemeClr val="dk1"/>
              </a:buClr>
              <a:buSzPts val="2400"/>
              <a:buChar char="•"/>
            </a:pPr>
            <a:r>
              <a:rPr lang="en-US" sz="2400" b="1" dirty="0"/>
              <a:t>Please </a:t>
            </a:r>
            <a:r>
              <a:rPr lang="en-US" sz="2400" dirty="0"/>
              <a:t>and </a:t>
            </a:r>
            <a:r>
              <a:rPr lang="en-US" sz="2400" b="1" dirty="0"/>
              <a:t>Thank you </a:t>
            </a:r>
            <a:r>
              <a:rPr lang="en-US" sz="2400" dirty="0"/>
              <a:t>help create and maintain a polite atmosphere</a:t>
            </a:r>
            <a:endParaRPr dirty="0"/>
          </a:p>
          <a:p>
            <a:pPr marL="228600" lvl="0" indent="-76200" algn="l" rtl="0">
              <a:lnSpc>
                <a:spcPct val="100000"/>
              </a:lnSpc>
              <a:spcBef>
                <a:spcPts val="0"/>
              </a:spcBef>
              <a:spcAft>
                <a:spcPts val="0"/>
              </a:spcAft>
              <a:buClr>
                <a:schemeClr val="dk1"/>
              </a:buClr>
              <a:buSzPts val="2400"/>
              <a:buNone/>
            </a:pPr>
            <a:endParaRPr sz="2400" dirty="0"/>
          </a:p>
          <a:p>
            <a:pPr marL="228600" lvl="0" indent="-76200" algn="l" rtl="0">
              <a:lnSpc>
                <a:spcPct val="100000"/>
              </a:lnSpc>
              <a:spcBef>
                <a:spcPts val="0"/>
              </a:spcBef>
              <a:spcAft>
                <a:spcPts val="0"/>
              </a:spcAft>
              <a:buClr>
                <a:schemeClr val="dk1"/>
              </a:buClr>
              <a:buSzPts val="2400"/>
              <a:buNone/>
            </a:pP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8">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838199" y="365125"/>
            <a:ext cx="1106978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Calibri"/>
              <a:buNone/>
            </a:pPr>
            <a:r>
              <a:rPr lang="en-US" b="1" dirty="0">
                <a:solidFill>
                  <a:schemeClr val="accent5"/>
                </a:solidFill>
                <a:latin typeface="Calibri"/>
                <a:ea typeface="Calibri"/>
                <a:cs typeface="Calibri"/>
                <a:sym typeface="Calibri"/>
              </a:rPr>
              <a:t>5. Communicative Obstacle: Lack of Accuracy</a:t>
            </a:r>
            <a:endParaRPr b="1" dirty="0">
              <a:solidFill>
                <a:schemeClr val="accent5"/>
              </a:solidFill>
              <a:latin typeface="Calibri"/>
              <a:ea typeface="Calibri"/>
              <a:cs typeface="Calibri"/>
              <a:sym typeface="Calibri"/>
            </a:endParaRPr>
          </a:p>
        </p:txBody>
      </p:sp>
      <p:sp>
        <p:nvSpPr>
          <p:cNvPr id="224" name="Google Shape;224;p22"/>
          <p:cNvSpPr txBox="1">
            <a:spLocks noGrp="1"/>
          </p:cNvSpPr>
          <p:nvPr>
            <p:ph type="body" idx="1"/>
          </p:nvPr>
        </p:nvSpPr>
        <p:spPr>
          <a:xfrm>
            <a:off x="838200" y="1690688"/>
            <a:ext cx="10515600" cy="4351338"/>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dirty="0"/>
              <a:t>Common Errors:</a:t>
            </a:r>
            <a:endParaRPr dirty="0"/>
          </a:p>
          <a:p>
            <a:pPr marL="0" lvl="0" indent="0" algn="l" rtl="0">
              <a:lnSpc>
                <a:spcPct val="100000"/>
              </a:lnSpc>
              <a:spcBef>
                <a:spcPts val="0"/>
              </a:spcBef>
              <a:spcAft>
                <a:spcPts val="0"/>
              </a:spcAft>
              <a:buClr>
                <a:schemeClr val="dk1"/>
              </a:buClr>
              <a:buSzPts val="2200"/>
              <a:buNone/>
            </a:pPr>
            <a:r>
              <a:rPr lang="en-US" sz="2200" dirty="0"/>
              <a:t>Common grammatical issues such as </a:t>
            </a:r>
            <a:r>
              <a:rPr lang="en-US" sz="2200" i="1" dirty="0">
                <a:solidFill>
                  <a:schemeClr val="accent5"/>
                </a:solidFill>
              </a:rPr>
              <a:t>singular/plural, verb tenses, articles, word order, prepositions, question formation</a:t>
            </a:r>
            <a:endParaRPr dirty="0"/>
          </a:p>
          <a:p>
            <a:pPr marL="0" lvl="0" indent="0" algn="l" rtl="0">
              <a:lnSpc>
                <a:spcPct val="100000"/>
              </a:lnSpc>
              <a:spcBef>
                <a:spcPts val="0"/>
              </a:spcBef>
              <a:spcAft>
                <a:spcPts val="0"/>
              </a:spcAft>
              <a:buClr>
                <a:schemeClr val="dk1"/>
              </a:buClr>
              <a:buSzPts val="1200"/>
              <a:buNone/>
            </a:pPr>
            <a:endParaRPr sz="1200" b="1" dirty="0"/>
          </a:p>
          <a:p>
            <a:pPr marL="0" lvl="0" indent="0" algn="l" rtl="0">
              <a:lnSpc>
                <a:spcPct val="100000"/>
              </a:lnSpc>
              <a:spcBef>
                <a:spcPts val="0"/>
              </a:spcBef>
              <a:spcAft>
                <a:spcPts val="0"/>
              </a:spcAft>
              <a:buClr>
                <a:schemeClr val="dk1"/>
              </a:buClr>
              <a:buSzPts val="2400"/>
              <a:buNone/>
            </a:pPr>
            <a:r>
              <a:rPr lang="en-US" sz="2400" b="1" dirty="0"/>
              <a:t>Use a dictionary:</a:t>
            </a:r>
            <a:endParaRPr dirty="0"/>
          </a:p>
          <a:p>
            <a:pPr marL="228600" lvl="0" indent="-228600" algn="l" rtl="0">
              <a:lnSpc>
                <a:spcPct val="100000"/>
              </a:lnSpc>
              <a:spcBef>
                <a:spcPts val="0"/>
              </a:spcBef>
              <a:spcAft>
                <a:spcPts val="0"/>
              </a:spcAft>
              <a:buClr>
                <a:schemeClr val="dk1"/>
              </a:buClr>
              <a:buSzPts val="2200"/>
              <a:buChar char="•"/>
            </a:pPr>
            <a:r>
              <a:rPr lang="en-US" sz="2200" dirty="0"/>
              <a:t>Understand word definitions</a:t>
            </a:r>
            <a:endParaRPr dirty="0"/>
          </a:p>
          <a:p>
            <a:pPr marL="228600" lvl="0" indent="-228600" algn="l" rtl="0">
              <a:lnSpc>
                <a:spcPct val="100000"/>
              </a:lnSpc>
              <a:spcBef>
                <a:spcPts val="0"/>
              </a:spcBef>
              <a:spcAft>
                <a:spcPts val="0"/>
              </a:spcAft>
              <a:buClr>
                <a:schemeClr val="dk1"/>
              </a:buClr>
              <a:buSzPts val="2200"/>
              <a:buChar char="•"/>
            </a:pPr>
            <a:r>
              <a:rPr lang="en-US" sz="2200" dirty="0"/>
              <a:t>Learn word families</a:t>
            </a:r>
            <a:endParaRPr dirty="0"/>
          </a:p>
          <a:p>
            <a:pPr marL="228600" lvl="0" indent="-228600" algn="l" rtl="0">
              <a:lnSpc>
                <a:spcPct val="100000"/>
              </a:lnSpc>
              <a:spcBef>
                <a:spcPts val="0"/>
              </a:spcBef>
              <a:spcAft>
                <a:spcPts val="0"/>
              </a:spcAft>
              <a:buClr>
                <a:schemeClr val="dk1"/>
              </a:buClr>
              <a:buSzPts val="2200"/>
              <a:buChar char="•"/>
            </a:pPr>
            <a:r>
              <a:rPr lang="en-US" sz="2200" dirty="0"/>
              <a:t>Read example sentences</a:t>
            </a:r>
            <a:endParaRPr dirty="0"/>
          </a:p>
          <a:p>
            <a:pPr marL="0" lvl="0" indent="0" algn="l" rtl="0">
              <a:lnSpc>
                <a:spcPct val="100000"/>
              </a:lnSpc>
              <a:spcBef>
                <a:spcPts val="0"/>
              </a:spcBef>
              <a:spcAft>
                <a:spcPts val="0"/>
              </a:spcAft>
              <a:buClr>
                <a:schemeClr val="dk1"/>
              </a:buClr>
              <a:buSzPts val="1200"/>
              <a:buNone/>
            </a:pPr>
            <a:endParaRPr sz="1200" b="1" dirty="0"/>
          </a:p>
          <a:p>
            <a:pPr marL="0" lvl="0" indent="0" algn="l" rtl="0">
              <a:lnSpc>
                <a:spcPct val="100000"/>
              </a:lnSpc>
              <a:spcBef>
                <a:spcPts val="0"/>
              </a:spcBef>
              <a:spcAft>
                <a:spcPts val="0"/>
              </a:spcAft>
              <a:buClr>
                <a:schemeClr val="dk1"/>
              </a:buClr>
              <a:buSzPts val="2400"/>
              <a:buNone/>
            </a:pPr>
            <a:r>
              <a:rPr lang="en-US" sz="2400" b="1" dirty="0"/>
              <a:t>Be specific:</a:t>
            </a:r>
            <a:endParaRPr dirty="0"/>
          </a:p>
          <a:p>
            <a:pPr marL="0" lvl="0" indent="0" algn="l" rtl="0">
              <a:lnSpc>
                <a:spcPct val="100000"/>
              </a:lnSpc>
              <a:spcBef>
                <a:spcPts val="0"/>
              </a:spcBef>
              <a:spcAft>
                <a:spcPts val="0"/>
              </a:spcAft>
              <a:buClr>
                <a:schemeClr val="dk1"/>
              </a:buClr>
              <a:buSzPts val="2200"/>
              <a:buNone/>
            </a:pPr>
            <a:r>
              <a:rPr lang="en-US" sz="2200" dirty="0"/>
              <a:t>Use specific language with </a:t>
            </a:r>
            <a:r>
              <a:rPr lang="en-US" sz="2200" i="1" dirty="0">
                <a:solidFill>
                  <a:schemeClr val="accent5"/>
                </a:solidFill>
              </a:rPr>
              <a:t>numbers, dates, places, names to avoid confusion</a:t>
            </a:r>
            <a:endParaRPr sz="2200" i="1" dirty="0">
              <a:solidFill>
                <a:schemeClr val="accent5"/>
              </a:solidFill>
            </a:endParaRPr>
          </a:p>
          <a:p>
            <a:pPr marL="0" lvl="0" indent="0" algn="l" rtl="0">
              <a:lnSpc>
                <a:spcPct val="100000"/>
              </a:lnSpc>
              <a:spcBef>
                <a:spcPts val="0"/>
              </a:spcBef>
              <a:spcAft>
                <a:spcPts val="0"/>
              </a:spcAft>
              <a:buClr>
                <a:schemeClr val="dk1"/>
              </a:buClr>
              <a:buSzPts val="2400"/>
              <a:buNone/>
            </a:pPr>
            <a:endParaRPr sz="2400" b="1" dirty="0"/>
          </a:p>
          <a:p>
            <a:pPr marL="0" lvl="0" indent="0" algn="l" rtl="0">
              <a:lnSpc>
                <a:spcPct val="100000"/>
              </a:lnSpc>
              <a:spcBef>
                <a:spcPts val="0"/>
              </a:spcBef>
              <a:spcAft>
                <a:spcPts val="0"/>
              </a:spcAft>
              <a:buClr>
                <a:schemeClr val="accent5"/>
              </a:buClr>
              <a:buSzPts val="2400"/>
              <a:buNone/>
            </a:pPr>
            <a:r>
              <a:rPr lang="en-US" sz="2400" b="1" dirty="0">
                <a:solidFill>
                  <a:schemeClr val="accent5"/>
                </a:solidFill>
              </a:rPr>
              <a:t>Remember: </a:t>
            </a:r>
            <a:r>
              <a:rPr lang="en-US" sz="2400" dirty="0"/>
              <a:t>If your writing is not accurate, </a:t>
            </a:r>
            <a:r>
              <a:rPr lang="en-US" sz="2400" b="1" dirty="0">
                <a:solidFill>
                  <a:srgbClr val="FF0000"/>
                </a:solidFill>
              </a:rPr>
              <a:t>you will give a negative impression</a:t>
            </a:r>
            <a:endParaRPr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solidFill>
              </a:rPr>
              <a:t>Scenario 1- IT Helpdesk </a:t>
            </a:r>
          </a:p>
        </p:txBody>
      </p:sp>
      <p:sp>
        <p:nvSpPr>
          <p:cNvPr id="3" name="Text Placeholder 2"/>
          <p:cNvSpPr>
            <a:spLocks noGrp="1"/>
          </p:cNvSpPr>
          <p:nvPr>
            <p:ph type="body" idx="1"/>
          </p:nvPr>
        </p:nvSpPr>
        <p:spPr>
          <a:xfrm>
            <a:off x="838199" y="1825625"/>
            <a:ext cx="11084169" cy="4351338"/>
          </a:xfrm>
        </p:spPr>
        <p:txBody>
          <a:bodyPr>
            <a:normAutofit fontScale="85000" lnSpcReduction="10000"/>
          </a:bodyPr>
          <a:lstStyle/>
          <a:p>
            <a:pPr marL="114300" indent="0">
              <a:buNone/>
            </a:pPr>
            <a:r>
              <a:rPr lang="en-US" sz="2400" b="1" dirty="0"/>
              <a:t>Situation:</a:t>
            </a:r>
            <a:r>
              <a:rPr lang="en-US" sz="2400" dirty="0"/>
              <a:t> An employee has reported a technical issue.</a:t>
            </a:r>
          </a:p>
          <a:p>
            <a:endParaRPr lang="en-US" sz="2400" dirty="0"/>
          </a:p>
          <a:p>
            <a:pPr marL="114300" indent="0">
              <a:buNone/>
            </a:pPr>
            <a:r>
              <a:rPr lang="en-US" sz="2400" i="1" dirty="0"/>
              <a:t>Hi. We've had several people say they can't log into the system today. We think it might be connected to yesterday's update, but we're not completely sure yet. Please check it whenever you have time because people are starting to ask about it and we'd like to get it fixed before more problems happen.</a:t>
            </a:r>
          </a:p>
          <a:p>
            <a:pPr marL="114300" indent="0">
              <a:buNone/>
            </a:pPr>
            <a:endParaRPr lang="en-US" sz="2400" b="1" dirty="0"/>
          </a:p>
          <a:p>
            <a:pPr marL="114300" indent="0">
              <a:buNone/>
            </a:pPr>
            <a:r>
              <a:rPr lang="en-US" sz="2400" b="1" dirty="0"/>
              <a:t>Discuss</a:t>
            </a:r>
            <a:endParaRPr lang="en-US" sz="2400" dirty="0"/>
          </a:p>
          <a:p>
            <a:r>
              <a:rPr lang="en-US" sz="2400" dirty="0"/>
              <a:t>Who is the audience? </a:t>
            </a:r>
          </a:p>
          <a:p>
            <a:r>
              <a:rPr lang="en-US" sz="2400" dirty="0"/>
              <a:t>What is the purpose?</a:t>
            </a:r>
          </a:p>
          <a:p>
            <a:r>
              <a:rPr lang="en-US" sz="2400" dirty="0"/>
              <a:t> Is the message clear? </a:t>
            </a:r>
          </a:p>
          <a:p>
            <a:r>
              <a:rPr lang="en-US" sz="2400" dirty="0"/>
              <a:t>What important information is missing? </a:t>
            </a:r>
          </a:p>
          <a:p>
            <a:r>
              <a:rPr lang="en-US" sz="2400" dirty="0"/>
              <a:t>Would this communication be effective? Why or why not?</a:t>
            </a:r>
          </a:p>
          <a:p>
            <a:pPr marL="114300" indent="0">
              <a:buNone/>
            </a:pPr>
            <a:endParaRPr lang="en-US" sz="2400" dirty="0"/>
          </a:p>
        </p:txBody>
      </p:sp>
    </p:spTree>
    <p:extLst>
      <p:ext uri="{BB962C8B-B14F-4D97-AF65-F5344CB8AC3E}">
        <p14:creationId xmlns:p14="http://schemas.microsoft.com/office/powerpoint/2010/main" val="2886825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1F46-A239-145C-DBE8-9E8B9D624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A3654-2B64-7121-1FE5-6D68483440A2}"/>
              </a:ext>
            </a:extLst>
          </p:cNvPr>
          <p:cNvSpPr>
            <a:spLocks noGrp="1"/>
          </p:cNvSpPr>
          <p:nvPr>
            <p:ph type="title"/>
          </p:nvPr>
        </p:nvSpPr>
        <p:spPr/>
        <p:txBody>
          <a:bodyPr/>
          <a:lstStyle/>
          <a:p>
            <a:r>
              <a:rPr lang="en-US" b="1" dirty="0">
                <a:solidFill>
                  <a:schemeClr val="accent5"/>
                </a:solidFill>
              </a:rPr>
              <a:t>Scenario 2- Customer Notice</a:t>
            </a:r>
          </a:p>
        </p:txBody>
      </p:sp>
      <p:sp>
        <p:nvSpPr>
          <p:cNvPr id="3" name="Text Placeholder 2">
            <a:extLst>
              <a:ext uri="{FF2B5EF4-FFF2-40B4-BE49-F238E27FC236}">
                <a16:creationId xmlns:a16="http://schemas.microsoft.com/office/drawing/2014/main" id="{3B144385-5A7D-82B7-946D-E90F10DF5509}"/>
              </a:ext>
            </a:extLst>
          </p:cNvPr>
          <p:cNvSpPr>
            <a:spLocks noGrp="1"/>
          </p:cNvSpPr>
          <p:nvPr>
            <p:ph type="body" idx="1"/>
          </p:nvPr>
        </p:nvSpPr>
        <p:spPr>
          <a:xfrm>
            <a:off x="838199" y="1825625"/>
            <a:ext cx="11084169" cy="4351338"/>
          </a:xfrm>
        </p:spPr>
        <p:txBody>
          <a:bodyPr>
            <a:normAutofit fontScale="92500" lnSpcReduction="20000"/>
          </a:bodyPr>
          <a:lstStyle/>
          <a:p>
            <a:pPr marL="114300" indent="0">
              <a:buNone/>
            </a:pPr>
            <a:r>
              <a:rPr lang="en-US" sz="2400" b="1" dirty="0"/>
              <a:t>Situation:</a:t>
            </a:r>
            <a:r>
              <a:rPr lang="en-US" sz="2400" dirty="0"/>
              <a:t> A company needs to inform customers about a scheduled maintenance.</a:t>
            </a:r>
          </a:p>
          <a:p>
            <a:pPr marL="114300" indent="0">
              <a:buNone/>
            </a:pPr>
            <a:endParaRPr lang="en-US" sz="2400" dirty="0"/>
          </a:p>
          <a:p>
            <a:pPr marL="114300" indent="0">
              <a:buNone/>
            </a:pPr>
            <a:r>
              <a:rPr lang="en-US" sz="2400" i="1" dirty="0"/>
              <a:t>We are going to do some work on our system tomorrow. Some services may not work properly for a while. We hope everything will be finished quickly, but we can't say exactly when. Thank you for your understanding.</a:t>
            </a:r>
          </a:p>
          <a:p>
            <a:pPr marL="114300" indent="0">
              <a:buNone/>
            </a:pPr>
            <a:endParaRPr lang="en-US" sz="2400" b="1" dirty="0"/>
          </a:p>
          <a:p>
            <a:pPr marL="114300" indent="0">
              <a:buNone/>
            </a:pPr>
            <a:r>
              <a:rPr lang="en-US" sz="2400" b="1" dirty="0"/>
              <a:t>Discuss</a:t>
            </a:r>
            <a:endParaRPr lang="en-US" sz="2400" dirty="0"/>
          </a:p>
          <a:p>
            <a:r>
              <a:rPr lang="en-US" sz="2400" dirty="0"/>
              <a:t>Who is the audience? </a:t>
            </a:r>
          </a:p>
          <a:p>
            <a:r>
              <a:rPr lang="en-US" sz="2400" dirty="0"/>
              <a:t>What is the purpose?</a:t>
            </a:r>
          </a:p>
          <a:p>
            <a:r>
              <a:rPr lang="en-US" sz="2400" dirty="0"/>
              <a:t> Is the message clear? </a:t>
            </a:r>
          </a:p>
          <a:p>
            <a:r>
              <a:rPr lang="en-US" sz="2400" dirty="0"/>
              <a:t>What important information is missing? </a:t>
            </a:r>
          </a:p>
          <a:p>
            <a:r>
              <a:rPr lang="en-US" sz="2400" dirty="0"/>
              <a:t>Would this communication be effective? Why or why not?</a:t>
            </a:r>
          </a:p>
          <a:p>
            <a:pPr marL="114300" indent="0">
              <a:buNone/>
            </a:pPr>
            <a:endParaRPr lang="en-US" sz="2400" dirty="0"/>
          </a:p>
        </p:txBody>
      </p:sp>
    </p:spTree>
    <p:extLst>
      <p:ext uri="{BB962C8B-B14F-4D97-AF65-F5344CB8AC3E}">
        <p14:creationId xmlns:p14="http://schemas.microsoft.com/office/powerpoint/2010/main" val="3183300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70402-2BBC-FC56-C713-10F787313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3DA1D-F309-952F-97FC-DBCC14E863C5}"/>
              </a:ext>
            </a:extLst>
          </p:cNvPr>
          <p:cNvSpPr>
            <a:spLocks noGrp="1"/>
          </p:cNvSpPr>
          <p:nvPr>
            <p:ph type="title"/>
          </p:nvPr>
        </p:nvSpPr>
        <p:spPr/>
        <p:txBody>
          <a:bodyPr/>
          <a:lstStyle/>
          <a:p>
            <a:r>
              <a:rPr lang="en-US" b="1" dirty="0">
                <a:solidFill>
                  <a:schemeClr val="accent5"/>
                </a:solidFill>
              </a:rPr>
              <a:t>Scenario 3- Project Team</a:t>
            </a:r>
          </a:p>
        </p:txBody>
      </p:sp>
      <p:sp>
        <p:nvSpPr>
          <p:cNvPr id="3" name="Text Placeholder 2">
            <a:extLst>
              <a:ext uri="{FF2B5EF4-FFF2-40B4-BE49-F238E27FC236}">
                <a16:creationId xmlns:a16="http://schemas.microsoft.com/office/drawing/2014/main" id="{606F463A-D0AA-7E96-9248-CCC1B0049D11}"/>
              </a:ext>
            </a:extLst>
          </p:cNvPr>
          <p:cNvSpPr>
            <a:spLocks noGrp="1"/>
          </p:cNvSpPr>
          <p:nvPr>
            <p:ph type="body" idx="1"/>
          </p:nvPr>
        </p:nvSpPr>
        <p:spPr>
          <a:xfrm>
            <a:off x="838199" y="1825625"/>
            <a:ext cx="11084169" cy="4351338"/>
          </a:xfrm>
        </p:spPr>
        <p:txBody>
          <a:bodyPr>
            <a:normAutofit fontScale="92500" lnSpcReduction="20000"/>
          </a:bodyPr>
          <a:lstStyle/>
          <a:p>
            <a:pPr marL="114300" indent="0">
              <a:buNone/>
            </a:pPr>
            <a:r>
              <a:rPr lang="en-US" sz="2400" b="1" dirty="0"/>
              <a:t>Situation:</a:t>
            </a:r>
            <a:r>
              <a:rPr lang="en-US" sz="2400" dirty="0"/>
              <a:t> A project leader is updating the team.</a:t>
            </a:r>
          </a:p>
          <a:p>
            <a:pPr marL="114300" indent="0">
              <a:buNone/>
            </a:pPr>
            <a:endParaRPr lang="en-US" sz="2400" dirty="0"/>
          </a:p>
          <a:p>
            <a:pPr marL="114300" indent="0">
              <a:buNone/>
            </a:pPr>
            <a:r>
              <a:rPr lang="en-US" sz="2400" i="1" dirty="0"/>
              <a:t>We are making good progress on the project, but there are still several things that need to be completed before the deadline. Everyone should continue working on their assigned tasks and try to finish everything as soon as possible. Let me know if there are any problems.</a:t>
            </a:r>
          </a:p>
          <a:p>
            <a:pPr marL="114300" indent="0">
              <a:buNone/>
            </a:pPr>
            <a:endParaRPr lang="en-US" sz="2400" i="1" dirty="0"/>
          </a:p>
          <a:p>
            <a:pPr marL="114300" indent="0">
              <a:buNone/>
            </a:pPr>
            <a:r>
              <a:rPr lang="en-US" sz="2400" b="1" dirty="0"/>
              <a:t>Discuss</a:t>
            </a:r>
            <a:endParaRPr lang="en-US" sz="2400" dirty="0"/>
          </a:p>
          <a:p>
            <a:r>
              <a:rPr lang="en-US" sz="2400" dirty="0"/>
              <a:t>Who is the audience? </a:t>
            </a:r>
          </a:p>
          <a:p>
            <a:r>
              <a:rPr lang="en-US" sz="2400" dirty="0"/>
              <a:t>What is the purpose?</a:t>
            </a:r>
          </a:p>
          <a:p>
            <a:r>
              <a:rPr lang="en-US" sz="2400" dirty="0"/>
              <a:t> Is the message clear? </a:t>
            </a:r>
          </a:p>
          <a:p>
            <a:r>
              <a:rPr lang="en-US" sz="2400" dirty="0"/>
              <a:t>What important information is missing? </a:t>
            </a:r>
          </a:p>
          <a:p>
            <a:r>
              <a:rPr lang="en-US" sz="2400" dirty="0"/>
              <a:t>Would this communication be effective? Why or why not?</a:t>
            </a:r>
          </a:p>
        </p:txBody>
      </p:sp>
    </p:spTree>
    <p:extLst>
      <p:ext uri="{BB962C8B-B14F-4D97-AF65-F5344CB8AC3E}">
        <p14:creationId xmlns:p14="http://schemas.microsoft.com/office/powerpoint/2010/main" val="311122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3CD3E-6889-64C4-4A19-8F91AEC36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7D271-0C9D-6B83-D97C-583FC893B4EF}"/>
              </a:ext>
            </a:extLst>
          </p:cNvPr>
          <p:cNvSpPr>
            <a:spLocks noGrp="1"/>
          </p:cNvSpPr>
          <p:nvPr>
            <p:ph type="title"/>
          </p:nvPr>
        </p:nvSpPr>
        <p:spPr/>
        <p:txBody>
          <a:bodyPr/>
          <a:lstStyle/>
          <a:p>
            <a:r>
              <a:rPr lang="en-US" b="1" dirty="0">
                <a:solidFill>
                  <a:schemeClr val="accent5"/>
                </a:solidFill>
              </a:rPr>
              <a:t>Week 1 Summary</a:t>
            </a:r>
          </a:p>
        </p:txBody>
      </p:sp>
      <p:sp>
        <p:nvSpPr>
          <p:cNvPr id="3" name="Text Placeholder 2">
            <a:extLst>
              <a:ext uri="{FF2B5EF4-FFF2-40B4-BE49-F238E27FC236}">
                <a16:creationId xmlns:a16="http://schemas.microsoft.com/office/drawing/2014/main" id="{A277E379-1D61-7B29-DDBE-34472BB7A5EE}"/>
              </a:ext>
            </a:extLst>
          </p:cNvPr>
          <p:cNvSpPr>
            <a:spLocks noGrp="1"/>
          </p:cNvSpPr>
          <p:nvPr>
            <p:ph type="body" idx="1"/>
          </p:nvPr>
        </p:nvSpPr>
        <p:spPr>
          <a:xfrm>
            <a:off x="838199" y="1825625"/>
            <a:ext cx="11084169" cy="4351338"/>
          </a:xfrm>
        </p:spPr>
        <p:txBody>
          <a:bodyPr>
            <a:normAutofit/>
          </a:bodyPr>
          <a:lstStyle/>
          <a:p>
            <a:pPr marL="114300" indent="0">
              <a:buNone/>
            </a:pPr>
            <a:r>
              <a:rPr lang="en-US" sz="2400" b="1" dirty="0"/>
              <a:t>Before you communicate, always ask yourself the following:</a:t>
            </a:r>
          </a:p>
          <a:p>
            <a:r>
              <a:rPr lang="en-US" sz="2400" b="1" dirty="0"/>
              <a:t>Who</a:t>
            </a:r>
            <a:r>
              <a:rPr lang="en-US" sz="2400" dirty="0"/>
              <a:t> is my audience?</a:t>
            </a:r>
          </a:p>
          <a:p>
            <a:r>
              <a:rPr lang="en-US" sz="2400" b="1" dirty="0"/>
              <a:t>What</a:t>
            </a:r>
            <a:r>
              <a:rPr lang="en-US" sz="2400" dirty="0"/>
              <a:t> is my purpose?</a:t>
            </a:r>
          </a:p>
          <a:p>
            <a:r>
              <a:rPr lang="en-US" sz="2400" b="1" dirty="0"/>
              <a:t>What</a:t>
            </a:r>
            <a:r>
              <a:rPr lang="en-US" sz="2400" dirty="0"/>
              <a:t> information does my audience need?</a:t>
            </a:r>
          </a:p>
          <a:p>
            <a:r>
              <a:rPr lang="en-US" sz="2400" b="1" dirty="0"/>
              <a:t>What</a:t>
            </a:r>
            <a:r>
              <a:rPr lang="en-US" sz="2400" dirty="0"/>
              <a:t> language and tone should I use?</a:t>
            </a:r>
          </a:p>
          <a:p>
            <a:r>
              <a:rPr lang="en-US" sz="2400" b="1" dirty="0"/>
              <a:t>Which</a:t>
            </a:r>
            <a:r>
              <a:rPr lang="en-US" sz="2400" dirty="0"/>
              <a:t> communication method is most appropriate?</a:t>
            </a:r>
          </a:p>
          <a:p>
            <a:endParaRPr lang="en-US" sz="2400" dirty="0"/>
          </a:p>
          <a:p>
            <a:pPr marL="114300" indent="0">
              <a:buNone/>
            </a:pPr>
            <a:r>
              <a:rPr lang="en-US" sz="2400" dirty="0"/>
              <a:t>Good business communication means delivering the right message to the right audience using the right language and communication method.</a:t>
            </a:r>
            <a:endParaRPr lang="en-US" sz="2400" b="1" dirty="0"/>
          </a:p>
        </p:txBody>
      </p:sp>
    </p:spTree>
    <p:extLst>
      <p:ext uri="{BB962C8B-B14F-4D97-AF65-F5344CB8AC3E}">
        <p14:creationId xmlns:p14="http://schemas.microsoft.com/office/powerpoint/2010/main" val="442187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480F-6E68-1390-B3F8-901CA30C2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9DCED-FB4A-DDE3-B030-7A3A7506AF09}"/>
              </a:ext>
            </a:extLst>
          </p:cNvPr>
          <p:cNvSpPr>
            <a:spLocks noGrp="1"/>
          </p:cNvSpPr>
          <p:nvPr>
            <p:ph type="title"/>
          </p:nvPr>
        </p:nvSpPr>
        <p:spPr/>
        <p:txBody>
          <a:bodyPr/>
          <a:lstStyle/>
          <a:p>
            <a:r>
              <a:rPr lang="en-US" b="1" dirty="0">
                <a:solidFill>
                  <a:schemeClr val="accent5"/>
                </a:solidFill>
              </a:rPr>
              <a:t>Homework: Improve a Business message</a:t>
            </a:r>
          </a:p>
        </p:txBody>
      </p:sp>
      <p:sp>
        <p:nvSpPr>
          <p:cNvPr id="3" name="Text Placeholder 2">
            <a:extLst>
              <a:ext uri="{FF2B5EF4-FFF2-40B4-BE49-F238E27FC236}">
                <a16:creationId xmlns:a16="http://schemas.microsoft.com/office/drawing/2014/main" id="{9FAD74BC-A8EE-FFEE-7204-753B8344CAA8}"/>
              </a:ext>
            </a:extLst>
          </p:cNvPr>
          <p:cNvSpPr>
            <a:spLocks noGrp="1"/>
          </p:cNvSpPr>
          <p:nvPr>
            <p:ph type="body" idx="1"/>
          </p:nvPr>
        </p:nvSpPr>
        <p:spPr>
          <a:xfrm>
            <a:off x="838199" y="1825625"/>
            <a:ext cx="11084169" cy="4351338"/>
          </a:xfrm>
        </p:spPr>
        <p:txBody>
          <a:bodyPr>
            <a:normAutofit/>
          </a:bodyPr>
          <a:lstStyle/>
          <a:p>
            <a:pPr marL="114300" indent="0">
              <a:buNone/>
            </a:pPr>
            <a:r>
              <a:rPr lang="en-US" sz="2400" b="1" dirty="0"/>
              <a:t>Choose one of the scenarios you considered before.</a:t>
            </a:r>
          </a:p>
          <a:p>
            <a:pPr marL="114300" indent="0">
              <a:buNone/>
            </a:pPr>
            <a:endParaRPr lang="en-US" sz="2400" dirty="0"/>
          </a:p>
          <a:p>
            <a:pPr marL="114300" indent="0">
              <a:buNone/>
            </a:pPr>
            <a:r>
              <a:rPr lang="en-US" sz="2400" dirty="0"/>
              <a:t>Rewrite the message to make it:</a:t>
            </a:r>
          </a:p>
          <a:p>
            <a:r>
              <a:rPr lang="en-US" sz="2400" dirty="0"/>
              <a:t>Clear </a:t>
            </a:r>
          </a:p>
          <a:p>
            <a:r>
              <a:rPr lang="en-US" sz="2400" dirty="0"/>
              <a:t>Concise </a:t>
            </a:r>
          </a:p>
          <a:p>
            <a:r>
              <a:rPr lang="en-US" sz="2400" dirty="0"/>
              <a:t>Professional </a:t>
            </a:r>
          </a:p>
          <a:p>
            <a:r>
              <a:rPr lang="en-US" sz="2400" dirty="0"/>
              <a:t>Appropriate for the audience </a:t>
            </a:r>
          </a:p>
          <a:p>
            <a:r>
              <a:rPr lang="en-US" sz="2400" dirty="0"/>
              <a:t>Grammatically accurate</a:t>
            </a:r>
          </a:p>
          <a:p>
            <a:pPr marL="114300" indent="0">
              <a:buNone/>
            </a:pPr>
            <a:endParaRPr lang="en-US" sz="2400" b="1"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4" name="Ink 3">
                <a:extLst>
                  <a:ext uri="{FF2B5EF4-FFF2-40B4-BE49-F238E27FC236}">
                    <a16:creationId xmlns:a16="http://schemas.microsoft.com/office/drawing/2014/main" id="{E0E91E0A-39DA-ED46-669D-F8FD28725D48}"/>
                  </a:ext>
                </a:extLst>
              </p14:cNvPr>
              <p14:cNvContentPartPr/>
              <p14:nvPr/>
            </p14:nvContentPartPr>
            <p14:xfrm>
              <a:off x="11670069" y="3743846"/>
              <a:ext cx="34200" cy="5760"/>
            </p14:xfrm>
          </p:contentPart>
        </mc:Choice>
        <mc:Fallback xmlns="">
          <p:pic>
            <p:nvPicPr>
              <p:cNvPr id="4" name="Ink 3">
                <a:extLst>
                  <a:ext uri="{FF2B5EF4-FFF2-40B4-BE49-F238E27FC236}">
                    <a16:creationId xmlns:a16="http://schemas.microsoft.com/office/drawing/2014/main" id="{E0E91E0A-39DA-ED46-669D-F8FD28725D48}"/>
                  </a:ext>
                </a:extLst>
              </p:cNvPr>
              <p:cNvPicPr/>
              <p:nvPr/>
            </p:nvPicPr>
            <p:blipFill>
              <a:blip r:embed="rId4"/>
              <a:stretch>
                <a:fillRect/>
              </a:stretch>
            </p:blipFill>
            <p:spPr>
              <a:xfrm>
                <a:off x="11661429" y="3734846"/>
                <a:ext cx="51840" cy="23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8D4A9E21-7E1D-49A9-BF2C-F6F66441D560}"/>
                  </a:ext>
                </a:extLst>
              </p14:cNvPr>
              <p14:cNvContentPartPr/>
              <p14:nvPr/>
            </p14:nvContentPartPr>
            <p14:xfrm>
              <a:off x="10959789" y="2495006"/>
              <a:ext cx="360" cy="360"/>
            </p14:xfrm>
          </p:contentPart>
        </mc:Choice>
        <mc:Fallback xmlns="">
          <p:pic>
            <p:nvPicPr>
              <p:cNvPr id="5" name="Ink 4">
                <a:extLst>
                  <a:ext uri="{FF2B5EF4-FFF2-40B4-BE49-F238E27FC236}">
                    <a16:creationId xmlns:a16="http://schemas.microsoft.com/office/drawing/2014/main" id="{8D4A9E21-7E1D-49A9-BF2C-F6F66441D560}"/>
                  </a:ext>
                </a:extLst>
              </p:cNvPr>
              <p:cNvPicPr/>
              <p:nvPr/>
            </p:nvPicPr>
            <p:blipFill>
              <a:blip r:embed="rId6"/>
              <a:stretch>
                <a:fillRect/>
              </a:stretch>
            </p:blipFill>
            <p:spPr>
              <a:xfrm>
                <a:off x="10951149" y="248636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6" name="Ink 5">
                <a:extLst>
                  <a:ext uri="{FF2B5EF4-FFF2-40B4-BE49-F238E27FC236}">
                    <a16:creationId xmlns:a16="http://schemas.microsoft.com/office/drawing/2014/main" id="{BA8B5C42-82D1-2175-3FB8-E7403C76A10F}"/>
                  </a:ext>
                </a:extLst>
              </p14:cNvPr>
              <p14:cNvContentPartPr/>
              <p14:nvPr/>
            </p14:nvContentPartPr>
            <p14:xfrm>
              <a:off x="10698069" y="2259926"/>
              <a:ext cx="360" cy="360"/>
            </p14:xfrm>
          </p:contentPart>
        </mc:Choice>
        <mc:Fallback xmlns="">
          <p:pic>
            <p:nvPicPr>
              <p:cNvPr id="6" name="Ink 5">
                <a:extLst>
                  <a:ext uri="{FF2B5EF4-FFF2-40B4-BE49-F238E27FC236}">
                    <a16:creationId xmlns:a16="http://schemas.microsoft.com/office/drawing/2014/main" id="{BA8B5C42-82D1-2175-3FB8-E7403C76A10F}"/>
                  </a:ext>
                </a:extLst>
              </p:cNvPr>
              <p:cNvPicPr/>
              <p:nvPr/>
            </p:nvPicPr>
            <p:blipFill>
              <a:blip r:embed="rId8"/>
              <a:stretch>
                <a:fillRect/>
              </a:stretch>
            </p:blipFill>
            <p:spPr>
              <a:xfrm>
                <a:off x="10689429" y="225092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7" name="Ink 6">
                <a:extLst>
                  <a:ext uri="{FF2B5EF4-FFF2-40B4-BE49-F238E27FC236}">
                    <a16:creationId xmlns:a16="http://schemas.microsoft.com/office/drawing/2014/main" id="{389BABFC-0A8A-D08D-3230-16870116D81B}"/>
                  </a:ext>
                </a:extLst>
              </p14:cNvPr>
              <p14:cNvContentPartPr/>
              <p14:nvPr/>
            </p14:nvContentPartPr>
            <p14:xfrm>
              <a:off x="10659189" y="2103326"/>
              <a:ext cx="360" cy="360"/>
            </p14:xfrm>
          </p:contentPart>
        </mc:Choice>
        <mc:Fallback xmlns="">
          <p:pic>
            <p:nvPicPr>
              <p:cNvPr id="7" name="Ink 6">
                <a:extLst>
                  <a:ext uri="{FF2B5EF4-FFF2-40B4-BE49-F238E27FC236}">
                    <a16:creationId xmlns:a16="http://schemas.microsoft.com/office/drawing/2014/main" id="{389BABFC-0A8A-D08D-3230-16870116D81B}"/>
                  </a:ext>
                </a:extLst>
              </p:cNvPr>
              <p:cNvPicPr/>
              <p:nvPr/>
            </p:nvPicPr>
            <p:blipFill>
              <a:blip r:embed="rId10"/>
              <a:stretch>
                <a:fillRect/>
              </a:stretch>
            </p:blipFill>
            <p:spPr>
              <a:xfrm>
                <a:off x="10650549" y="209432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8" name="Ink 7">
                <a:extLst>
                  <a:ext uri="{FF2B5EF4-FFF2-40B4-BE49-F238E27FC236}">
                    <a16:creationId xmlns:a16="http://schemas.microsoft.com/office/drawing/2014/main" id="{976CEFB1-BF30-4E7D-3A9D-C88F1F7C7BC0}"/>
                  </a:ext>
                </a:extLst>
              </p14:cNvPr>
              <p14:cNvContentPartPr/>
              <p14:nvPr/>
            </p14:nvContentPartPr>
            <p14:xfrm>
              <a:off x="10214949" y="2090366"/>
              <a:ext cx="360" cy="360"/>
            </p14:xfrm>
          </p:contentPart>
        </mc:Choice>
        <mc:Fallback xmlns="">
          <p:pic>
            <p:nvPicPr>
              <p:cNvPr id="8" name="Ink 7">
                <a:extLst>
                  <a:ext uri="{FF2B5EF4-FFF2-40B4-BE49-F238E27FC236}">
                    <a16:creationId xmlns:a16="http://schemas.microsoft.com/office/drawing/2014/main" id="{976CEFB1-BF30-4E7D-3A9D-C88F1F7C7BC0}"/>
                  </a:ext>
                </a:extLst>
              </p:cNvPr>
              <p:cNvPicPr/>
              <p:nvPr/>
            </p:nvPicPr>
            <p:blipFill>
              <a:blip r:embed="rId12"/>
              <a:stretch>
                <a:fillRect/>
              </a:stretch>
            </p:blipFill>
            <p:spPr>
              <a:xfrm>
                <a:off x="10206309" y="208136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9" name="Ink 8">
                <a:extLst>
                  <a:ext uri="{FF2B5EF4-FFF2-40B4-BE49-F238E27FC236}">
                    <a16:creationId xmlns:a16="http://schemas.microsoft.com/office/drawing/2014/main" id="{5F2C4016-19CD-9C53-CB8B-C948EF654252}"/>
                  </a:ext>
                </a:extLst>
              </p14:cNvPr>
              <p14:cNvContentPartPr/>
              <p14:nvPr/>
            </p14:nvContentPartPr>
            <p14:xfrm>
              <a:off x="9666309" y="2116286"/>
              <a:ext cx="360" cy="360"/>
            </p14:xfrm>
          </p:contentPart>
        </mc:Choice>
        <mc:Fallback xmlns="">
          <p:pic>
            <p:nvPicPr>
              <p:cNvPr id="9" name="Ink 8">
                <a:extLst>
                  <a:ext uri="{FF2B5EF4-FFF2-40B4-BE49-F238E27FC236}">
                    <a16:creationId xmlns:a16="http://schemas.microsoft.com/office/drawing/2014/main" id="{5F2C4016-19CD-9C53-CB8B-C948EF654252}"/>
                  </a:ext>
                </a:extLst>
              </p:cNvPr>
              <p:cNvPicPr/>
              <p:nvPr/>
            </p:nvPicPr>
            <p:blipFill>
              <a:blip r:embed="rId14"/>
              <a:stretch>
                <a:fillRect/>
              </a:stretch>
            </p:blipFill>
            <p:spPr>
              <a:xfrm>
                <a:off x="9657669" y="210728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6" name="Ink 15">
                <a:extLst>
                  <a:ext uri="{FF2B5EF4-FFF2-40B4-BE49-F238E27FC236}">
                    <a16:creationId xmlns:a16="http://schemas.microsoft.com/office/drawing/2014/main" id="{518F9381-43C6-5ABA-2C75-FD578D1D685E}"/>
                  </a:ext>
                </a:extLst>
              </p14:cNvPr>
              <p14:cNvContentPartPr/>
              <p14:nvPr/>
            </p14:nvContentPartPr>
            <p14:xfrm>
              <a:off x="10685109" y="2246966"/>
              <a:ext cx="360" cy="360"/>
            </p14:xfrm>
          </p:contentPart>
        </mc:Choice>
        <mc:Fallback xmlns="">
          <p:pic>
            <p:nvPicPr>
              <p:cNvPr id="16" name="Ink 15">
                <a:extLst>
                  <a:ext uri="{FF2B5EF4-FFF2-40B4-BE49-F238E27FC236}">
                    <a16:creationId xmlns:a16="http://schemas.microsoft.com/office/drawing/2014/main" id="{518F9381-43C6-5ABA-2C75-FD578D1D685E}"/>
                  </a:ext>
                </a:extLst>
              </p:cNvPr>
              <p:cNvPicPr/>
              <p:nvPr/>
            </p:nvPicPr>
            <p:blipFill>
              <a:blip r:embed="rId16"/>
              <a:stretch>
                <a:fillRect/>
              </a:stretch>
            </p:blipFill>
            <p:spPr>
              <a:xfrm>
                <a:off x="10676469" y="223796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7" name="Ink 16">
                <a:extLst>
                  <a:ext uri="{FF2B5EF4-FFF2-40B4-BE49-F238E27FC236}">
                    <a16:creationId xmlns:a16="http://schemas.microsoft.com/office/drawing/2014/main" id="{F20FFC89-49BF-9A52-6C17-1421B8AF0C2A}"/>
                  </a:ext>
                </a:extLst>
              </p14:cNvPr>
              <p14:cNvContentPartPr/>
              <p14:nvPr/>
            </p14:nvContentPartPr>
            <p14:xfrm>
              <a:off x="10619949" y="2155526"/>
              <a:ext cx="360" cy="360"/>
            </p14:xfrm>
          </p:contentPart>
        </mc:Choice>
        <mc:Fallback xmlns="">
          <p:pic>
            <p:nvPicPr>
              <p:cNvPr id="17" name="Ink 16">
                <a:extLst>
                  <a:ext uri="{FF2B5EF4-FFF2-40B4-BE49-F238E27FC236}">
                    <a16:creationId xmlns:a16="http://schemas.microsoft.com/office/drawing/2014/main" id="{F20FFC89-49BF-9A52-6C17-1421B8AF0C2A}"/>
                  </a:ext>
                </a:extLst>
              </p:cNvPr>
              <p:cNvPicPr/>
              <p:nvPr/>
            </p:nvPicPr>
            <p:blipFill>
              <a:blip r:embed="rId18"/>
              <a:stretch>
                <a:fillRect/>
              </a:stretch>
            </p:blipFill>
            <p:spPr>
              <a:xfrm>
                <a:off x="10610949" y="2146526"/>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8" name="Ink 17">
                <a:extLst>
                  <a:ext uri="{FF2B5EF4-FFF2-40B4-BE49-F238E27FC236}">
                    <a16:creationId xmlns:a16="http://schemas.microsoft.com/office/drawing/2014/main" id="{93000022-71FF-7DC0-0358-FEE270E15A3A}"/>
                  </a:ext>
                </a:extLst>
              </p14:cNvPr>
              <p14:cNvContentPartPr/>
              <p14:nvPr/>
            </p14:nvContentPartPr>
            <p14:xfrm>
              <a:off x="-1594131" y="5172686"/>
              <a:ext cx="360" cy="360"/>
            </p14:xfrm>
          </p:contentPart>
        </mc:Choice>
        <mc:Fallback xmlns="">
          <p:pic>
            <p:nvPicPr>
              <p:cNvPr id="18" name="Ink 17">
                <a:extLst>
                  <a:ext uri="{FF2B5EF4-FFF2-40B4-BE49-F238E27FC236}">
                    <a16:creationId xmlns:a16="http://schemas.microsoft.com/office/drawing/2014/main" id="{93000022-71FF-7DC0-0358-FEE270E15A3A}"/>
                  </a:ext>
                </a:extLst>
              </p:cNvPr>
              <p:cNvPicPr/>
              <p:nvPr/>
            </p:nvPicPr>
            <p:blipFill>
              <a:blip r:embed="rId6"/>
              <a:stretch>
                <a:fillRect/>
              </a:stretch>
            </p:blipFill>
            <p:spPr>
              <a:xfrm>
                <a:off x="-1602771" y="5164046"/>
                <a:ext cx="18000" cy="18000"/>
              </a:xfrm>
              <a:prstGeom prst="rect">
                <a:avLst/>
              </a:prstGeom>
            </p:spPr>
          </p:pic>
        </mc:Fallback>
      </mc:AlternateContent>
    </p:spTree>
    <p:extLst>
      <p:ext uri="{BB962C8B-B14F-4D97-AF65-F5344CB8AC3E}">
        <p14:creationId xmlns:p14="http://schemas.microsoft.com/office/powerpoint/2010/main" val="107775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4"/>
          <p:cNvSpPr txBox="1">
            <a:spLocks noGrp="1"/>
          </p:cNvSpPr>
          <p:nvPr>
            <p:ph type="title"/>
          </p:nvPr>
        </p:nvSpPr>
        <p:spPr>
          <a:xfrm>
            <a:off x="808722" y="2153266"/>
            <a:ext cx="10519678" cy="410943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accent5"/>
              </a:buClr>
              <a:buSzPct val="100000"/>
              <a:buFont typeface="Calibri"/>
              <a:buNone/>
            </a:pPr>
            <a:r>
              <a:rPr lang="en-US" sz="3600" b="1">
                <a:solidFill>
                  <a:schemeClr val="accent5"/>
                </a:solidFill>
                <a:latin typeface="Calibri"/>
                <a:ea typeface="Calibri"/>
                <a:cs typeface="Calibri"/>
                <a:sym typeface="Calibri"/>
              </a:rPr>
              <a:t>Congratulations </a:t>
            </a:r>
            <a:r>
              <a:rPr lang="en-US" sz="3600" b="1">
                <a:latin typeface="Calibri"/>
                <a:ea typeface="Calibri"/>
                <a:cs typeface="Calibri"/>
                <a:sym typeface="Calibri"/>
              </a:rPr>
              <a:t>on surviving your 1</a:t>
            </a:r>
            <a:r>
              <a:rPr lang="en-US" sz="3600" b="1" baseline="30000">
                <a:latin typeface="Calibri"/>
                <a:ea typeface="Calibri"/>
                <a:cs typeface="Calibri"/>
                <a:sym typeface="Calibri"/>
              </a:rPr>
              <a:t>st</a:t>
            </a:r>
            <a:r>
              <a:rPr lang="en-US" sz="3600" b="1">
                <a:latin typeface="Calibri"/>
                <a:ea typeface="Calibri"/>
                <a:cs typeface="Calibri"/>
                <a:sym typeface="Calibri"/>
              </a:rPr>
              <a:t> class</a:t>
            </a:r>
            <a:br>
              <a:rPr lang="en-US" sz="3600" b="1">
                <a:solidFill>
                  <a:schemeClr val="accent5"/>
                </a:solidFill>
                <a:latin typeface="Calibri"/>
                <a:ea typeface="Calibri"/>
                <a:cs typeface="Calibri"/>
                <a:sym typeface="Calibri"/>
              </a:rPr>
            </a:br>
            <a:br>
              <a:rPr lang="en-US" sz="3600" b="1">
                <a:solidFill>
                  <a:schemeClr val="accent5"/>
                </a:solidFill>
                <a:latin typeface="Calibri"/>
                <a:ea typeface="Calibri"/>
                <a:cs typeface="Calibri"/>
                <a:sym typeface="Calibri"/>
              </a:rPr>
            </a:br>
            <a:r>
              <a:rPr lang="en-US" sz="3600" b="1">
                <a:solidFill>
                  <a:schemeClr val="accent5"/>
                </a:solidFill>
                <a:latin typeface="Calibri"/>
                <a:ea typeface="Calibri"/>
                <a:cs typeface="Calibri"/>
                <a:sym typeface="Calibri"/>
              </a:rPr>
              <a:t>THANK YOU </a:t>
            </a:r>
            <a:r>
              <a:rPr lang="en-US" sz="3600" b="1">
                <a:latin typeface="Calibri"/>
                <a:ea typeface="Calibri"/>
                <a:cs typeface="Calibri"/>
                <a:sym typeface="Calibri"/>
              </a:rPr>
              <a:t>for your participation today</a:t>
            </a:r>
            <a:br>
              <a:rPr lang="en-US" sz="4400" b="1">
                <a:solidFill>
                  <a:schemeClr val="accent1"/>
                </a:solidFill>
                <a:latin typeface="Calibri"/>
                <a:ea typeface="Calibri"/>
                <a:cs typeface="Calibri"/>
                <a:sym typeface="Calibri"/>
              </a:rPr>
            </a:br>
            <a:br>
              <a:rPr lang="en-US" sz="4400" b="1">
                <a:solidFill>
                  <a:schemeClr val="accent1"/>
                </a:solidFill>
                <a:latin typeface="Calibri"/>
                <a:ea typeface="Calibri"/>
                <a:cs typeface="Calibri"/>
                <a:sym typeface="Calibri"/>
              </a:rPr>
            </a:br>
            <a:br>
              <a:rPr lang="en-US" sz="3000" b="1">
                <a:solidFill>
                  <a:schemeClr val="accent1"/>
                </a:solidFill>
                <a:latin typeface="Calibri"/>
                <a:ea typeface="Calibri"/>
                <a:cs typeface="Calibri"/>
                <a:sym typeface="Calibri"/>
              </a:rPr>
            </a:br>
            <a:r>
              <a:rPr lang="en-US" sz="3000" b="1">
                <a:latin typeface="Calibri"/>
                <a:ea typeface="Calibri"/>
                <a:cs typeface="Calibri"/>
                <a:sym typeface="Calibri"/>
              </a:rPr>
              <a:t>Have a great week everyone!</a:t>
            </a:r>
            <a:br>
              <a:rPr lang="en-US" sz="3000" b="1">
                <a:latin typeface="Calibri"/>
                <a:ea typeface="Calibri"/>
                <a:cs typeface="Calibri"/>
                <a:sym typeface="Calibri"/>
              </a:rPr>
            </a:br>
            <a:br>
              <a:rPr lang="en-US" sz="3000" b="1">
                <a:latin typeface="Calibri"/>
                <a:ea typeface="Calibri"/>
                <a:cs typeface="Calibri"/>
                <a:sym typeface="Calibri"/>
              </a:rPr>
            </a:br>
            <a:r>
              <a:rPr lang="en-US" sz="3000" b="1">
                <a:latin typeface="Calibri"/>
                <a:ea typeface="Calibri"/>
                <a:cs typeface="Calibri"/>
                <a:sym typeface="Calibri"/>
              </a:rPr>
              <a:t>See you next week</a:t>
            </a:r>
            <a:br>
              <a:rPr lang="en-US" sz="3000" b="1">
                <a:latin typeface="Calibri"/>
                <a:ea typeface="Calibri"/>
                <a:cs typeface="Calibri"/>
                <a:sym typeface="Calibri"/>
              </a:rPr>
            </a:br>
            <a:r>
              <a:rPr lang="en-US" sz="3000" b="1">
                <a:latin typeface="Calibri"/>
                <a:ea typeface="Calibri"/>
                <a:cs typeface="Calibri"/>
                <a:sym typeface="Calibri"/>
              </a:rPr>
              <a:t>Until then, Take Care &amp; Stay Safe</a:t>
            </a:r>
            <a:endParaRPr sz="3000" b="1">
              <a:latin typeface="Calibri"/>
              <a:ea typeface="Calibri"/>
              <a:cs typeface="Calibri"/>
              <a:sym typeface="Calibri"/>
            </a:endParaRPr>
          </a:p>
        </p:txBody>
      </p:sp>
      <p:sp>
        <p:nvSpPr>
          <p:cNvPr id="236" name="Google Shape;236;p24"/>
          <p:cNvSpPr txBox="1"/>
          <p:nvPr/>
        </p:nvSpPr>
        <p:spPr>
          <a:xfrm>
            <a:off x="808722" y="408341"/>
            <a:ext cx="78867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accent5"/>
              </a:buClr>
              <a:buSzPts val="4400"/>
              <a:buFont typeface="Calibri"/>
              <a:buNone/>
            </a:pPr>
            <a:r>
              <a:rPr lang="en-US" sz="4400" b="1">
                <a:solidFill>
                  <a:schemeClr val="accent5"/>
                </a:solidFill>
                <a:latin typeface="Calibri"/>
                <a:ea typeface="Calibri"/>
                <a:cs typeface="Calibri"/>
                <a:sym typeface="Calibri"/>
              </a:rPr>
              <a:t>Finally….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3420</TotalTime>
  <Words>2460</Words>
  <Application>Microsoft Office PowerPoint</Application>
  <PresentationFormat>Widescreen</PresentationFormat>
  <Paragraphs>414</Paragraphs>
  <Slides>38</Slides>
  <Notes>30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ITLG311 - Business Communication</vt:lpstr>
      <vt:lpstr>Course Resources:</vt:lpstr>
      <vt:lpstr>Getting Started:</vt:lpstr>
      <vt:lpstr>Today:</vt:lpstr>
      <vt:lpstr>Class Expectations</vt:lpstr>
      <vt:lpstr>Getting Started:</vt:lpstr>
      <vt:lpstr>In this course you will…</vt:lpstr>
      <vt:lpstr>Questions so far?</vt:lpstr>
      <vt:lpstr>What IS Business Communication?</vt:lpstr>
      <vt:lpstr>What IS Business Communication?</vt:lpstr>
      <vt:lpstr>Common Business Situations:</vt:lpstr>
      <vt:lpstr>Good Communication</vt:lpstr>
      <vt:lpstr>Good Writing</vt:lpstr>
      <vt:lpstr>Why is Business Communication important? What is its purpose?</vt:lpstr>
      <vt:lpstr>The Audience</vt:lpstr>
      <vt:lpstr>Types of Business Communication Methods/Platforms:</vt:lpstr>
      <vt:lpstr>Different Methods/Platforms for communications:</vt:lpstr>
      <vt:lpstr>Choosing the Best Communication Method</vt:lpstr>
      <vt:lpstr>Different Audiences &amp; Different Purposes</vt:lpstr>
      <vt:lpstr>Reflection:</vt:lpstr>
      <vt:lpstr>PowerPoint Presentation</vt:lpstr>
      <vt:lpstr>Vocabulary/Phrasing: Why Does It Matter?</vt:lpstr>
      <vt:lpstr>Vocabulary/Phrasing</vt:lpstr>
      <vt:lpstr> Business Vocabulary In Action</vt:lpstr>
      <vt:lpstr>Effective Writing: The Writing Process</vt:lpstr>
      <vt:lpstr>Pre-writing:</vt:lpstr>
      <vt:lpstr>Principles of Business Communications</vt:lpstr>
      <vt:lpstr>1. Clarity of the Message</vt:lpstr>
      <vt:lpstr>2. Conciseness:</vt:lpstr>
      <vt:lpstr>3. Language: Tone</vt:lpstr>
      <vt:lpstr>4. Language: Politeness</vt:lpstr>
      <vt:lpstr>5. Communicative Obstacle: Lack of Accuracy</vt:lpstr>
      <vt:lpstr>Scenario 1- IT Helpdesk </vt:lpstr>
      <vt:lpstr>Scenario 2- Customer Notice</vt:lpstr>
      <vt:lpstr>Scenario 3- Project Team</vt:lpstr>
      <vt:lpstr>Week 1 Summary</vt:lpstr>
      <vt:lpstr>Homework: Improve a Business message</vt:lpstr>
      <vt:lpstr>Congratulations on surviving your 1st class  THANK YOU for your participation today   Have a great week everyone!  See you next week Until then, Take Care &amp; Stay Safe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Writing</dc:title>
  <dc:creator>MUICT</dc:creator>
  <cp:lastModifiedBy>martin willemse</cp:lastModifiedBy>
  <cp:revision>32</cp:revision>
  <cp:lastPrinted>2024-08-02T08:36:44Z</cp:lastPrinted>
  <dcterms:created xsi:type="dcterms:W3CDTF">2018-08-21T03:27:20Z</dcterms:created>
  <dcterms:modified xsi:type="dcterms:W3CDTF">2026-07-31T04:13:42Z</dcterms:modified>
</cp:coreProperties>
</file>