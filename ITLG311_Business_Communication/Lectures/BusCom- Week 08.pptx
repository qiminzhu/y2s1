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0"/>
  </p:notesMasterIdLst>
  <p:sldIdLst>
    <p:sldId id="256" r:id="rId2"/>
    <p:sldId id="371" r:id="rId3"/>
    <p:sldId id="376" r:id="rId4"/>
    <p:sldId id="374" r:id="rId5"/>
    <p:sldId id="375" r:id="rId6"/>
    <p:sldId id="372" r:id="rId7"/>
    <p:sldId id="377" r:id="rId8"/>
    <p:sldId id="293" r:id="rId9"/>
  </p:sldIdLst>
  <p:sldSz cx="12192000" cy="6858000"/>
  <p:notesSz cx="9926638" cy="6797675"/>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1" roundtripDataSignature="AMtx7mjXd6/Ps0N6qFN2nCBp8SpTmLy5+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520" autoAdjust="0"/>
  </p:normalViewPr>
  <p:slideViewPr>
    <p:cSldViewPr snapToGrid="0">
      <p:cViewPr varScale="1">
        <p:scale>
          <a:sx n="78" d="100"/>
          <a:sy n="78" d="100"/>
        </p:scale>
        <p:origin x="85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41"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45"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notesMaster" Target="notesMasters/notesMaster1.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654750" y="509825"/>
            <a:ext cx="6618075" cy="2549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992650" y="3228875"/>
            <a:ext cx="7941300" cy="305895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37:notes"/>
          <p:cNvSpPr txBox="1">
            <a:spLocks noGrp="1"/>
          </p:cNvSpPr>
          <p:nvPr>
            <p:ph type="body" idx="1"/>
          </p:nvPr>
        </p:nvSpPr>
        <p:spPr>
          <a:xfrm>
            <a:off x="992650" y="3228875"/>
            <a:ext cx="7941300" cy="30589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0" name="Google Shape;60;p37: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21:notes"/>
          <p:cNvSpPr txBox="1">
            <a:spLocks noGrp="1"/>
          </p:cNvSpPr>
          <p:nvPr>
            <p:ph type="body" idx="1"/>
          </p:nvPr>
        </p:nvSpPr>
        <p:spPr>
          <a:xfrm>
            <a:off x="679768" y="4777194"/>
            <a:ext cx="5438140" cy="3908614"/>
          </a:xfrm>
          <a:prstGeom prst="rect">
            <a:avLst/>
          </a:prstGeom>
        </p:spPr>
        <p:txBody>
          <a:bodyPr spcFirstLastPara="1" wrap="square" lIns="91425" tIns="45700" rIns="91425" bIns="45700" anchor="t" anchorCtr="0">
            <a:noAutofit/>
          </a:bodyPr>
          <a:lstStyle/>
          <a:p>
            <a:pPr marL="0" lvl="0" indent="0">
              <a:spcBef>
                <a:spcPts val="0"/>
              </a:spcBef>
              <a:buNone/>
            </a:pPr>
            <a:r>
              <a:rPr lang="en-US" sz="1200" b="1" dirty="0"/>
              <a:t>Course Review:</a:t>
            </a:r>
          </a:p>
          <a:p>
            <a:pPr marL="0" lvl="0" indent="0">
              <a:spcBef>
                <a:spcPts val="0"/>
              </a:spcBef>
              <a:buNone/>
            </a:pPr>
            <a:r>
              <a:rPr lang="en-US" sz="1200" dirty="0"/>
              <a:t>Now you should know….. (Course Outline)</a:t>
            </a:r>
          </a:p>
          <a:p>
            <a:pPr marL="0" lvl="0" indent="0">
              <a:spcBef>
                <a:spcPts val="0"/>
              </a:spcBef>
              <a:buNone/>
            </a:pPr>
            <a:r>
              <a:rPr lang="en-US" sz="1200" dirty="0"/>
              <a:t>Feedback</a:t>
            </a:r>
          </a:p>
          <a:p>
            <a:pPr marL="0" lvl="0" indent="0">
              <a:spcBef>
                <a:spcPts val="0"/>
              </a:spcBef>
              <a:buNone/>
            </a:pPr>
            <a:r>
              <a:rPr lang="en-US" sz="1200" dirty="0"/>
              <a:t>Q&amp;A</a:t>
            </a:r>
          </a:p>
          <a:p>
            <a:pPr marL="0" lvl="0" indent="0">
              <a:spcBef>
                <a:spcPts val="0"/>
              </a:spcBef>
              <a:buNone/>
            </a:pPr>
            <a:endParaRPr lang="en-US" sz="1200" dirty="0"/>
          </a:p>
          <a:p>
            <a:pPr marL="0" lvl="0" indent="0">
              <a:spcBef>
                <a:spcPts val="0"/>
              </a:spcBef>
              <a:buNone/>
            </a:pPr>
            <a:r>
              <a:rPr lang="en-US" sz="1200" b="1" dirty="0"/>
              <a:t>Exam Review:</a:t>
            </a:r>
          </a:p>
          <a:p>
            <a:pPr marL="0" lvl="0" indent="0">
              <a:spcBef>
                <a:spcPts val="0"/>
              </a:spcBef>
              <a:buNone/>
            </a:pPr>
            <a:r>
              <a:rPr lang="en-US" sz="1200" dirty="0"/>
              <a:t>See next page</a:t>
            </a:r>
          </a:p>
          <a:p>
            <a:pPr marL="0" lvl="0" indent="0" algn="l" rtl="0">
              <a:spcBef>
                <a:spcPts val="0"/>
              </a:spcBef>
              <a:spcAft>
                <a:spcPts val="0"/>
              </a:spcAft>
              <a:buNone/>
            </a:pPr>
            <a:endParaRPr b="1" dirty="0"/>
          </a:p>
        </p:txBody>
      </p:sp>
      <p:sp>
        <p:nvSpPr>
          <p:cNvPr id="209" name="Google Shape;209;p21: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88835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21:notes"/>
          <p:cNvSpPr txBox="1">
            <a:spLocks noGrp="1"/>
          </p:cNvSpPr>
          <p:nvPr>
            <p:ph type="body" idx="1"/>
          </p:nvPr>
        </p:nvSpPr>
        <p:spPr>
          <a:xfrm>
            <a:off x="679768" y="4777194"/>
            <a:ext cx="5438140" cy="390861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b="1" dirty="0"/>
          </a:p>
        </p:txBody>
      </p:sp>
      <p:sp>
        <p:nvSpPr>
          <p:cNvPr id="209" name="Google Shape;209;p21: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80847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24:notes"/>
          <p:cNvSpPr txBox="1">
            <a:spLocks noGrp="1"/>
          </p:cNvSpPr>
          <p:nvPr>
            <p:ph type="body" idx="1"/>
          </p:nvPr>
        </p:nvSpPr>
        <p:spPr>
          <a:xfrm>
            <a:off x="992650" y="3228875"/>
            <a:ext cx="7941300" cy="30589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8" name="Google Shape;338;p24: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6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6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2"/>
        <p:cNvGrpSpPr/>
        <p:nvPr/>
      </p:nvGrpSpPr>
      <p:grpSpPr>
        <a:xfrm>
          <a:off x="0" y="0"/>
          <a:ext cx="0" cy="0"/>
          <a:chOff x="0" y="0"/>
          <a:chExt cx="0" cy="0"/>
        </a:xfrm>
      </p:grpSpPr>
      <p:sp>
        <p:nvSpPr>
          <p:cNvPr id="33" name="Google Shape;33;p3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35" name="Google Shape;35;p3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36" name="Google Shape;36;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9"/>
        <p:cNvGrpSpPr/>
        <p:nvPr/>
      </p:nvGrpSpPr>
      <p:grpSpPr>
        <a:xfrm>
          <a:off x="0" y="0"/>
          <a:ext cx="0" cy="0"/>
          <a:chOff x="0" y="0"/>
          <a:chExt cx="0" cy="0"/>
        </a:xfrm>
      </p:grpSpPr>
      <p:sp>
        <p:nvSpPr>
          <p:cNvPr id="40" name="Google Shape;40;p3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34"/>
          <p:cNvSpPr>
            <a:spLocks noGrp="1"/>
          </p:cNvSpPr>
          <p:nvPr>
            <p:ph type="pic" idx="2"/>
          </p:nvPr>
        </p:nvSpPr>
        <p:spPr>
          <a:xfrm>
            <a:off x="5183188" y="987425"/>
            <a:ext cx="6172200" cy="4873625"/>
          </a:xfrm>
          <a:prstGeom prst="rect">
            <a:avLst/>
          </a:prstGeom>
          <a:noFill/>
          <a:ln>
            <a:noFill/>
          </a:ln>
        </p:spPr>
      </p:sp>
      <p:sp>
        <p:nvSpPr>
          <p:cNvPr id="42" name="Google Shape;42;p3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43" name="Google Shape;43;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6"/>
        <p:cNvGrpSpPr/>
        <p:nvPr/>
      </p:nvGrpSpPr>
      <p:grpSpPr>
        <a:xfrm>
          <a:off x="0" y="0"/>
          <a:ext cx="0" cy="0"/>
          <a:chOff x="0" y="0"/>
          <a:chExt cx="0" cy="0"/>
        </a:xfrm>
      </p:grpSpPr>
      <p:sp>
        <p:nvSpPr>
          <p:cNvPr id="47" name="Google Shape;47;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2"/>
        <p:cNvGrpSpPr/>
        <p:nvPr/>
      </p:nvGrpSpPr>
      <p:grpSpPr>
        <a:xfrm>
          <a:off x="0" y="0"/>
          <a:ext cx="0" cy="0"/>
          <a:chOff x="0" y="0"/>
          <a:chExt cx="0" cy="0"/>
        </a:xfrm>
      </p:grpSpPr>
      <p:sp>
        <p:nvSpPr>
          <p:cNvPr id="53" name="Google Shape;53;p3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3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37"/>
          <p:cNvSpPr txBox="1">
            <a:spLocks noGrp="1"/>
          </p:cNvSpPr>
          <p:nvPr>
            <p:ph type="ctrTitle"/>
          </p:nvPr>
        </p:nvSpPr>
        <p:spPr>
          <a:xfrm>
            <a:off x="0" y="1122364"/>
            <a:ext cx="12192000" cy="13160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accent5"/>
              </a:buClr>
              <a:buSzPts val="6000"/>
              <a:buFont typeface="Calibri"/>
              <a:buNone/>
            </a:pPr>
            <a:r>
              <a:rPr lang="en-US" sz="6000" b="1" dirty="0">
                <a:solidFill>
                  <a:schemeClr val="accent5"/>
                </a:solidFill>
                <a:latin typeface="Calibri"/>
                <a:ea typeface="Calibri"/>
                <a:cs typeface="Calibri"/>
                <a:sym typeface="Calibri"/>
              </a:rPr>
              <a:t>ITLG311 - Business Communication</a:t>
            </a:r>
            <a:endParaRPr dirty="0"/>
          </a:p>
        </p:txBody>
      </p:sp>
      <p:sp>
        <p:nvSpPr>
          <p:cNvPr id="63" name="Google Shape;63;p37"/>
          <p:cNvSpPr txBox="1">
            <a:spLocks noGrp="1"/>
          </p:cNvSpPr>
          <p:nvPr>
            <p:ph type="subTitle" idx="1"/>
          </p:nvPr>
        </p:nvSpPr>
        <p:spPr>
          <a:xfrm>
            <a:off x="0" y="3353680"/>
            <a:ext cx="12192000" cy="1655762"/>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dk1"/>
              </a:buClr>
              <a:buSzPts val="2800"/>
              <a:buNone/>
            </a:pPr>
            <a:r>
              <a:rPr lang="en-US" sz="2800" b="1" dirty="0"/>
              <a:t>Faculty of ICT, </a:t>
            </a:r>
            <a:r>
              <a:rPr lang="en-US" sz="2800" b="1" dirty="0" err="1"/>
              <a:t>Mahidol</a:t>
            </a:r>
            <a:r>
              <a:rPr lang="en-US" sz="2800" b="1" dirty="0"/>
              <a:t> University</a:t>
            </a:r>
            <a:endParaRPr dirty="0"/>
          </a:p>
          <a:p>
            <a:pPr marL="0" lvl="0" indent="0" algn="ctr" rtl="0">
              <a:lnSpc>
                <a:spcPct val="90000"/>
              </a:lnSpc>
              <a:spcBef>
                <a:spcPts val="1000"/>
              </a:spcBef>
              <a:spcAft>
                <a:spcPts val="0"/>
              </a:spcAft>
              <a:buClr>
                <a:schemeClr val="dk1"/>
              </a:buClr>
              <a:buSzPts val="2800"/>
              <a:buNone/>
            </a:pPr>
            <a:r>
              <a:rPr lang="en-US" sz="2800" b="1" dirty="0"/>
              <a:t>Semester 1, 2026-27</a:t>
            </a:r>
            <a:endParaRPr dirty="0"/>
          </a:p>
          <a:p>
            <a:pPr marL="0" lvl="0" indent="0" algn="ctr" rtl="0">
              <a:lnSpc>
                <a:spcPct val="90000"/>
              </a:lnSpc>
              <a:spcBef>
                <a:spcPts val="1000"/>
              </a:spcBef>
              <a:spcAft>
                <a:spcPts val="0"/>
              </a:spcAft>
              <a:buClr>
                <a:schemeClr val="dk1"/>
              </a:buClr>
              <a:buSzPts val="2800"/>
              <a:buNone/>
            </a:pPr>
            <a:endParaRPr dirty="0"/>
          </a:p>
          <a:p>
            <a:pPr marL="0" lvl="0" indent="0" algn="ctr" rtl="0">
              <a:lnSpc>
                <a:spcPct val="90000"/>
              </a:lnSpc>
              <a:spcBef>
                <a:spcPts val="1000"/>
              </a:spcBef>
              <a:spcAft>
                <a:spcPts val="0"/>
              </a:spcAft>
              <a:buClr>
                <a:schemeClr val="dk1"/>
              </a:buClr>
              <a:buSzPts val="2800"/>
              <a:buNone/>
            </a:pPr>
            <a:r>
              <a:rPr lang="en-US" sz="2800" b="1" dirty="0">
                <a:solidFill>
                  <a:schemeClr val="dk1"/>
                </a:solidFill>
              </a:rPr>
              <a:t>Session 08: </a:t>
            </a:r>
            <a:r>
              <a:rPr lang="en-US" sz="2800" b="1" dirty="0"/>
              <a:t>Information Briefings and Exam Preparation</a:t>
            </a:r>
            <a:endParaRPr sz="2800" b="1" dirty="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Calibri"/>
              <a:buNone/>
            </a:pPr>
            <a:r>
              <a:rPr lang="en-US" b="1" dirty="0">
                <a:solidFill>
                  <a:schemeClr val="accent5"/>
                </a:solidFill>
                <a:latin typeface="Calibri"/>
                <a:ea typeface="Calibri"/>
                <a:cs typeface="Calibri"/>
                <a:sym typeface="Calibri"/>
              </a:rPr>
              <a:t>Today’s Goals:</a:t>
            </a:r>
            <a:endParaRPr b="1" dirty="0">
              <a:solidFill>
                <a:schemeClr val="accent5"/>
              </a:solidFill>
              <a:latin typeface="Calibri"/>
              <a:ea typeface="Calibri"/>
              <a:cs typeface="Calibri"/>
              <a:sym typeface="Calibri"/>
            </a:endParaRPr>
          </a:p>
        </p:txBody>
      </p:sp>
      <p:sp>
        <p:nvSpPr>
          <p:cNvPr id="212" name="Google Shape;212;p21"/>
          <p:cNvSpPr txBox="1">
            <a:spLocks noGrp="1"/>
          </p:cNvSpPr>
          <p:nvPr>
            <p:ph type="body" idx="1"/>
          </p:nvPr>
        </p:nvSpPr>
        <p:spPr>
          <a:xfrm>
            <a:off x="838200" y="1825624"/>
            <a:ext cx="11170920" cy="4811481"/>
          </a:xfrm>
          <a:prstGeom prst="rect">
            <a:avLst/>
          </a:prstGeom>
          <a:noFill/>
          <a:ln>
            <a:noFill/>
          </a:ln>
        </p:spPr>
        <p:txBody>
          <a:bodyPr spcFirstLastPara="1" wrap="square" lIns="91425" tIns="45700" rIns="91425" bIns="45700" anchor="t" anchorCtr="0">
            <a:normAutofit/>
          </a:bodyPr>
          <a:lstStyle/>
          <a:p>
            <a:pPr marL="0" lvl="0" indent="0">
              <a:spcBef>
                <a:spcPts val="0"/>
              </a:spcBef>
              <a:buNone/>
            </a:pPr>
            <a:r>
              <a:rPr lang="en-US" sz="2400" b="1" dirty="0"/>
              <a:t>1. Business Information Briefing</a:t>
            </a:r>
          </a:p>
          <a:p>
            <a:pPr marL="0" lvl="0" indent="0">
              <a:spcBef>
                <a:spcPts val="0"/>
              </a:spcBef>
              <a:buNone/>
            </a:pPr>
            <a:endParaRPr lang="en-US" sz="2400" dirty="0"/>
          </a:p>
          <a:p>
            <a:pPr marL="0" lvl="0" indent="0">
              <a:spcBef>
                <a:spcPts val="0"/>
              </a:spcBef>
              <a:buNone/>
            </a:pPr>
            <a:r>
              <a:rPr lang="en-US" sz="2400" b="1" dirty="0"/>
              <a:t>2. Self and Peer Evaluation Business Information Briefing</a:t>
            </a:r>
          </a:p>
          <a:p>
            <a:pPr marL="0" lvl="0" indent="0">
              <a:spcBef>
                <a:spcPts val="0"/>
              </a:spcBef>
              <a:buNone/>
            </a:pPr>
            <a:endParaRPr lang="en-US" sz="2400" b="1" dirty="0"/>
          </a:p>
          <a:p>
            <a:pPr marL="0" lvl="0" indent="0">
              <a:spcBef>
                <a:spcPts val="0"/>
              </a:spcBef>
              <a:buNone/>
            </a:pPr>
            <a:r>
              <a:rPr lang="en-US" sz="2400" b="1" dirty="0"/>
              <a:t>3. Exam Content and Q&amp;A</a:t>
            </a:r>
          </a:p>
          <a:p>
            <a:pPr marL="0" indent="0">
              <a:spcBef>
                <a:spcPts val="0"/>
              </a:spcBef>
              <a:buNone/>
            </a:pPr>
            <a:r>
              <a:rPr lang="en-US" sz="2400" dirty="0"/>
              <a:t>Now you should know….. </a:t>
            </a:r>
          </a:p>
          <a:p>
            <a:pPr marL="0" lvl="0" indent="0">
              <a:spcBef>
                <a:spcPts val="0"/>
              </a:spcBef>
              <a:buNone/>
            </a:pPr>
            <a:endParaRPr lang="en-US" sz="2400" b="1" dirty="0"/>
          </a:p>
          <a:p>
            <a:pPr marL="0" lvl="0" indent="0">
              <a:spcBef>
                <a:spcPts val="0"/>
              </a:spcBef>
              <a:buNone/>
            </a:pPr>
            <a:r>
              <a:rPr lang="en-US" sz="2400" b="1" dirty="0"/>
              <a:t>4. Presenting Information Exam Practice</a:t>
            </a:r>
          </a:p>
          <a:p>
            <a:pPr marL="0" lvl="0" indent="0">
              <a:spcBef>
                <a:spcPts val="0"/>
              </a:spcBef>
              <a:buNone/>
            </a:pPr>
            <a:endParaRPr lang="en-US" sz="2400" b="1" dirty="0"/>
          </a:p>
        </p:txBody>
      </p:sp>
    </p:spTree>
    <p:extLst>
      <p:ext uri="{BB962C8B-B14F-4D97-AF65-F5344CB8AC3E}">
        <p14:creationId xmlns:p14="http://schemas.microsoft.com/office/powerpoint/2010/main" val="3355921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A8AAE-B029-8CA2-A6A2-8372C3E8E629}"/>
              </a:ext>
            </a:extLst>
          </p:cNvPr>
          <p:cNvSpPr>
            <a:spLocks noGrp="1"/>
          </p:cNvSpPr>
          <p:nvPr>
            <p:ph type="title"/>
          </p:nvPr>
        </p:nvSpPr>
        <p:spPr/>
        <p:txBody>
          <a:bodyPr/>
          <a:lstStyle/>
          <a:p>
            <a:r>
              <a:rPr lang="en-US" b="1" dirty="0">
                <a:solidFill>
                  <a:schemeClr val="accent5"/>
                </a:solidFill>
              </a:rPr>
              <a:t>Resources</a:t>
            </a:r>
            <a:endParaRPr lang="en-US" dirty="0"/>
          </a:p>
        </p:txBody>
      </p:sp>
      <p:sp>
        <p:nvSpPr>
          <p:cNvPr id="3" name="Text Placeholder 2">
            <a:extLst>
              <a:ext uri="{FF2B5EF4-FFF2-40B4-BE49-F238E27FC236}">
                <a16:creationId xmlns:a16="http://schemas.microsoft.com/office/drawing/2014/main" id="{41DAB8B4-AD7C-CF0B-5B5F-ED1751213DC8}"/>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EB4803B0-7C36-DBB3-D6E2-920D43AB79FC}"/>
              </a:ext>
            </a:extLst>
          </p:cNvPr>
          <p:cNvPicPr>
            <a:picLocks noChangeAspect="1"/>
          </p:cNvPicPr>
          <p:nvPr/>
        </p:nvPicPr>
        <p:blipFill>
          <a:blip r:embed="rId2"/>
          <a:stretch>
            <a:fillRect/>
          </a:stretch>
        </p:blipFill>
        <p:spPr>
          <a:xfrm>
            <a:off x="838200" y="1825626"/>
            <a:ext cx="6925642" cy="2601606"/>
          </a:xfrm>
          <a:prstGeom prst="rect">
            <a:avLst/>
          </a:prstGeom>
        </p:spPr>
      </p:pic>
      <p:pic>
        <p:nvPicPr>
          <p:cNvPr id="7" name="Picture 6">
            <a:extLst>
              <a:ext uri="{FF2B5EF4-FFF2-40B4-BE49-F238E27FC236}">
                <a16:creationId xmlns:a16="http://schemas.microsoft.com/office/drawing/2014/main" id="{877F9B2E-A2A7-BC67-FCEB-0F56584C9D80}"/>
              </a:ext>
            </a:extLst>
          </p:cNvPr>
          <p:cNvPicPr>
            <a:picLocks noChangeAspect="1"/>
          </p:cNvPicPr>
          <p:nvPr/>
        </p:nvPicPr>
        <p:blipFill>
          <a:blip r:embed="rId3"/>
          <a:stretch>
            <a:fillRect/>
          </a:stretch>
        </p:blipFill>
        <p:spPr>
          <a:xfrm>
            <a:off x="3951842" y="4562169"/>
            <a:ext cx="7401958" cy="1468356"/>
          </a:xfrm>
          <a:prstGeom prst="rect">
            <a:avLst/>
          </a:prstGeom>
        </p:spPr>
      </p:pic>
    </p:spTree>
    <p:extLst>
      <p:ext uri="{BB962C8B-B14F-4D97-AF65-F5344CB8AC3E}">
        <p14:creationId xmlns:p14="http://schemas.microsoft.com/office/powerpoint/2010/main" val="3202470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E2E8C-FB16-7A8C-BA7E-7F0FB04CFAF0}"/>
              </a:ext>
            </a:extLst>
          </p:cNvPr>
          <p:cNvSpPr>
            <a:spLocks noGrp="1"/>
          </p:cNvSpPr>
          <p:nvPr>
            <p:ph type="title"/>
          </p:nvPr>
        </p:nvSpPr>
        <p:spPr/>
        <p:txBody>
          <a:bodyPr/>
          <a:lstStyle/>
          <a:p>
            <a:r>
              <a:rPr lang="en-US" b="1" dirty="0">
                <a:solidFill>
                  <a:schemeClr val="accent5"/>
                </a:solidFill>
              </a:rPr>
              <a:t>Business Information Briefing</a:t>
            </a:r>
            <a:endParaRPr lang="en-US" dirty="0"/>
          </a:p>
        </p:txBody>
      </p:sp>
      <p:sp>
        <p:nvSpPr>
          <p:cNvPr id="3" name="Text Placeholder 2">
            <a:extLst>
              <a:ext uri="{FF2B5EF4-FFF2-40B4-BE49-F238E27FC236}">
                <a16:creationId xmlns:a16="http://schemas.microsoft.com/office/drawing/2014/main" id="{A6C72C8D-D4AF-61A5-A0D0-9D2920349E6D}"/>
              </a:ext>
            </a:extLst>
          </p:cNvPr>
          <p:cNvSpPr>
            <a:spLocks noGrp="1"/>
          </p:cNvSpPr>
          <p:nvPr>
            <p:ph type="body" idx="1"/>
          </p:nvPr>
        </p:nvSpPr>
        <p:spPr/>
        <p:txBody>
          <a:bodyPr>
            <a:normAutofit fontScale="47500" lnSpcReduction="20000"/>
          </a:bodyPr>
          <a:lstStyle/>
          <a:p>
            <a:pPr marL="114300" indent="0">
              <a:buNone/>
            </a:pPr>
            <a:r>
              <a:rPr lang="en-US" b="1" dirty="0"/>
              <a:t>Before you present:</a:t>
            </a:r>
            <a:endParaRPr lang="en-US" dirty="0"/>
          </a:p>
          <a:p>
            <a:pPr lvl="0"/>
            <a:r>
              <a:rPr lang="en-US" dirty="0"/>
              <a:t>Be ready when your group is called. </a:t>
            </a:r>
          </a:p>
          <a:p>
            <a:pPr lvl="0"/>
            <a:r>
              <a:rPr lang="en-US" dirty="0"/>
              <a:t>Have your presentation file ready to be opened on the classroom computer.</a:t>
            </a:r>
          </a:p>
          <a:p>
            <a:pPr lvl="0"/>
            <a:endParaRPr lang="en-US" b="1" dirty="0"/>
          </a:p>
          <a:p>
            <a:pPr marL="114300" indent="0">
              <a:buNone/>
            </a:pPr>
            <a:r>
              <a:rPr lang="en-US" b="1" dirty="0"/>
              <a:t>During the briefing</a:t>
            </a:r>
            <a:endParaRPr lang="en-US" dirty="0"/>
          </a:p>
          <a:p>
            <a:pPr lvl="0"/>
            <a:r>
              <a:rPr lang="en-US" dirty="0"/>
              <a:t>5 minutes for your briefing. </a:t>
            </a:r>
          </a:p>
          <a:p>
            <a:pPr lvl="0"/>
            <a:r>
              <a:rPr lang="en-US" dirty="0"/>
              <a:t>Everyone must speak. </a:t>
            </a:r>
          </a:p>
          <a:p>
            <a:pPr lvl="0"/>
            <a:r>
              <a:rPr lang="en-US" dirty="0"/>
              <a:t>Speak to your audience, not to the screen. </a:t>
            </a:r>
          </a:p>
          <a:p>
            <a:pPr lvl="0"/>
            <a:r>
              <a:rPr lang="en-US" dirty="0"/>
              <a:t>As your presentation will be recorded, please ensure you speak through the microphone to ensure the best sound quality.</a:t>
            </a:r>
          </a:p>
          <a:p>
            <a:endParaRPr lang="en-US" b="1" dirty="0"/>
          </a:p>
          <a:p>
            <a:pPr marL="114300" indent="0">
              <a:buNone/>
            </a:pPr>
            <a:r>
              <a:rPr lang="en-US" b="1" dirty="0"/>
              <a:t>Questions</a:t>
            </a:r>
            <a:endParaRPr lang="en-US" dirty="0"/>
          </a:p>
          <a:p>
            <a:pPr lvl="0"/>
            <a:r>
              <a:rPr lang="en-US" dirty="0"/>
              <a:t>Your instructor will ask questions after the briefing. </a:t>
            </a:r>
          </a:p>
          <a:p>
            <a:pPr lvl="0"/>
            <a:r>
              <a:rPr lang="en-US" dirty="0"/>
              <a:t>Listen carefully before answering. </a:t>
            </a:r>
          </a:p>
          <a:p>
            <a:pPr lvl="0"/>
            <a:r>
              <a:rPr lang="en-US" dirty="0"/>
              <a:t>Answer using the R.A.R.E Question Answering technique and use your investigation/evidence when appropriate. </a:t>
            </a:r>
          </a:p>
          <a:p>
            <a:pPr lvl="0"/>
            <a:endParaRPr lang="en-US" dirty="0"/>
          </a:p>
          <a:p>
            <a:pPr marL="114300" lvl="0" indent="0">
              <a:buNone/>
            </a:pPr>
            <a:r>
              <a:rPr lang="en-US" dirty="0">
                <a:solidFill>
                  <a:schemeClr val="accent5"/>
                </a:solidFill>
              </a:rPr>
              <a:t>GOOD </a:t>
            </a:r>
            <a:r>
              <a:rPr lang="en-US" dirty="0" err="1">
                <a:solidFill>
                  <a:schemeClr val="accent5"/>
                </a:solidFill>
              </a:rPr>
              <a:t>LUCk</a:t>
            </a:r>
            <a:r>
              <a:rPr lang="en-US" dirty="0">
                <a:solidFill>
                  <a:schemeClr val="accent5"/>
                </a:solidFill>
              </a:rPr>
              <a:t>!</a:t>
            </a:r>
          </a:p>
        </p:txBody>
      </p:sp>
    </p:spTree>
    <p:extLst>
      <p:ext uri="{BB962C8B-B14F-4D97-AF65-F5344CB8AC3E}">
        <p14:creationId xmlns:p14="http://schemas.microsoft.com/office/powerpoint/2010/main" val="2119598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5348E-5930-DDAA-6119-809EE46BBD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13B235-9B84-B3C8-A65C-F1CF162D64FD}"/>
              </a:ext>
            </a:extLst>
          </p:cNvPr>
          <p:cNvSpPr>
            <a:spLocks noGrp="1"/>
          </p:cNvSpPr>
          <p:nvPr>
            <p:ph type="title"/>
          </p:nvPr>
        </p:nvSpPr>
        <p:spPr/>
        <p:txBody>
          <a:bodyPr/>
          <a:lstStyle/>
          <a:p>
            <a:r>
              <a:rPr lang="en-US" b="1" dirty="0">
                <a:solidFill>
                  <a:schemeClr val="accent5"/>
                </a:solidFill>
              </a:rPr>
              <a:t>Self and Peer Evaluation Business Information Briefing</a:t>
            </a:r>
            <a:endParaRPr lang="en-US" dirty="0"/>
          </a:p>
        </p:txBody>
      </p:sp>
      <p:sp>
        <p:nvSpPr>
          <p:cNvPr id="3" name="Text Placeholder 2">
            <a:extLst>
              <a:ext uri="{FF2B5EF4-FFF2-40B4-BE49-F238E27FC236}">
                <a16:creationId xmlns:a16="http://schemas.microsoft.com/office/drawing/2014/main" id="{E39D0B5C-F454-16D9-C899-FBAC2187F461}"/>
              </a:ext>
            </a:extLst>
          </p:cNvPr>
          <p:cNvSpPr>
            <a:spLocks noGrp="1"/>
          </p:cNvSpPr>
          <p:nvPr>
            <p:ph type="body" idx="1"/>
          </p:nvPr>
        </p:nvSpPr>
        <p:spPr/>
        <p:txBody>
          <a:bodyPr>
            <a:normAutofit fontScale="92500" lnSpcReduction="10000"/>
          </a:bodyPr>
          <a:lstStyle/>
          <a:p>
            <a:pPr marL="114300" indent="0">
              <a:buNone/>
            </a:pPr>
            <a:r>
              <a:rPr lang="en-US" b="1" dirty="0"/>
              <a:t>Class Participation Score (10%)</a:t>
            </a:r>
          </a:p>
          <a:p>
            <a:r>
              <a:rPr lang="en-US" dirty="0"/>
              <a:t>5% given by your instructor based on your participation in class</a:t>
            </a:r>
          </a:p>
          <a:p>
            <a:r>
              <a:rPr lang="en-US" dirty="0"/>
              <a:t>5% given by your peers based on your performance and participation in the 2 group activities</a:t>
            </a:r>
          </a:p>
          <a:p>
            <a:endParaRPr lang="en-US" dirty="0"/>
          </a:p>
          <a:p>
            <a:pPr marL="114300" indent="0">
              <a:buNone/>
            </a:pPr>
            <a:r>
              <a:rPr lang="en-US" dirty="0"/>
              <a:t>Complete the Business Information Briefing: Self &amp; Peer Evaluation in MyCourses before October 4. </a:t>
            </a:r>
          </a:p>
          <a:p>
            <a:pPr marL="114300" indent="0">
              <a:buNone/>
            </a:pPr>
            <a:endParaRPr lang="en-US" dirty="0"/>
          </a:p>
          <a:p>
            <a:pPr marL="114300" indent="0">
              <a:buNone/>
            </a:pPr>
            <a:endParaRPr lang="en-US" dirty="0"/>
          </a:p>
          <a:p>
            <a:pPr marL="114300" indent="0">
              <a:buNone/>
            </a:pPr>
            <a:r>
              <a:rPr lang="en-US" dirty="0"/>
              <a:t>All response will be kept confidential</a:t>
            </a:r>
          </a:p>
        </p:txBody>
      </p:sp>
      <p:pic>
        <p:nvPicPr>
          <p:cNvPr id="5" name="Picture 4">
            <a:extLst>
              <a:ext uri="{FF2B5EF4-FFF2-40B4-BE49-F238E27FC236}">
                <a16:creationId xmlns:a16="http://schemas.microsoft.com/office/drawing/2014/main" id="{D86FA6A4-0C36-5247-823E-ECC098A5F5C9}"/>
              </a:ext>
            </a:extLst>
          </p:cNvPr>
          <p:cNvPicPr>
            <a:picLocks noChangeAspect="1"/>
          </p:cNvPicPr>
          <p:nvPr/>
        </p:nvPicPr>
        <p:blipFill>
          <a:blip r:embed="rId2"/>
          <a:stretch>
            <a:fillRect/>
          </a:stretch>
        </p:blipFill>
        <p:spPr>
          <a:xfrm>
            <a:off x="1105814" y="4840345"/>
            <a:ext cx="6716062" cy="638264"/>
          </a:xfrm>
          <a:prstGeom prst="rect">
            <a:avLst/>
          </a:prstGeom>
        </p:spPr>
      </p:pic>
    </p:spTree>
    <p:extLst>
      <p:ext uri="{BB962C8B-B14F-4D97-AF65-F5344CB8AC3E}">
        <p14:creationId xmlns:p14="http://schemas.microsoft.com/office/powerpoint/2010/main" val="2946384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Calibri"/>
              <a:buNone/>
            </a:pPr>
            <a:r>
              <a:rPr lang="en-US" b="1" dirty="0">
                <a:solidFill>
                  <a:schemeClr val="accent5"/>
                </a:solidFill>
                <a:latin typeface="Calibri"/>
                <a:ea typeface="Calibri"/>
                <a:cs typeface="Calibri"/>
                <a:sym typeface="Calibri"/>
              </a:rPr>
              <a:t>The Midterm Exam:</a:t>
            </a:r>
            <a:endParaRPr b="1" dirty="0">
              <a:solidFill>
                <a:schemeClr val="accent5"/>
              </a:solidFill>
              <a:latin typeface="Calibri"/>
              <a:ea typeface="Calibri"/>
              <a:cs typeface="Calibri"/>
              <a:sym typeface="Calibri"/>
            </a:endParaRPr>
          </a:p>
        </p:txBody>
      </p:sp>
      <p:sp>
        <p:nvSpPr>
          <p:cNvPr id="212" name="Google Shape;212;p21"/>
          <p:cNvSpPr txBox="1">
            <a:spLocks noGrp="1"/>
          </p:cNvSpPr>
          <p:nvPr>
            <p:ph type="body" idx="1"/>
          </p:nvPr>
        </p:nvSpPr>
        <p:spPr>
          <a:xfrm>
            <a:off x="883228" y="1825624"/>
            <a:ext cx="11060317" cy="481148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2400"/>
              <a:buNone/>
            </a:pPr>
            <a:r>
              <a:rPr lang="en-US" sz="2000" b="1" dirty="0">
                <a:solidFill>
                  <a:srgbClr val="FF0000"/>
                </a:solidFill>
              </a:rPr>
              <a:t>14:00-16:00 on Friday 2</a:t>
            </a:r>
            <a:r>
              <a:rPr lang="en-US" sz="2000" b="1" baseline="30000" dirty="0">
                <a:solidFill>
                  <a:srgbClr val="FF0000"/>
                </a:solidFill>
              </a:rPr>
              <a:t>nd </a:t>
            </a:r>
            <a:r>
              <a:rPr lang="en-US" sz="2000" b="1" dirty="0">
                <a:solidFill>
                  <a:srgbClr val="FF0000"/>
                </a:solidFill>
              </a:rPr>
              <a:t>October, 2026</a:t>
            </a:r>
          </a:p>
          <a:p>
            <a:pPr marL="0" lvl="0" indent="0" algn="l" rtl="0">
              <a:lnSpc>
                <a:spcPct val="100000"/>
              </a:lnSpc>
              <a:spcBef>
                <a:spcPts val="0"/>
              </a:spcBef>
              <a:spcAft>
                <a:spcPts val="0"/>
              </a:spcAft>
              <a:buClr>
                <a:schemeClr val="dk1"/>
              </a:buClr>
              <a:buSzPts val="2400"/>
              <a:buNone/>
            </a:pPr>
            <a:r>
              <a:rPr lang="en-US" sz="2000" dirty="0"/>
              <a:t>Closed book exam, but English to English Paper-based dictionary is allowed</a:t>
            </a:r>
          </a:p>
          <a:p>
            <a:pPr marL="0" lvl="0" indent="0" algn="l" rtl="0">
              <a:lnSpc>
                <a:spcPct val="100000"/>
              </a:lnSpc>
              <a:spcBef>
                <a:spcPts val="0"/>
              </a:spcBef>
              <a:spcAft>
                <a:spcPts val="0"/>
              </a:spcAft>
              <a:buClr>
                <a:schemeClr val="dk1"/>
              </a:buClr>
              <a:buSzPts val="2400"/>
              <a:buNone/>
            </a:pPr>
            <a:endParaRPr lang="en-US" sz="1600" dirty="0"/>
          </a:p>
          <a:p>
            <a:pPr marL="0" lvl="0" indent="0">
              <a:lnSpc>
                <a:spcPct val="100000"/>
              </a:lnSpc>
              <a:spcBef>
                <a:spcPts val="0"/>
              </a:spcBef>
              <a:buSzPts val="2400"/>
              <a:buNone/>
            </a:pPr>
            <a:r>
              <a:rPr lang="en-US" sz="2000" b="1" dirty="0"/>
              <a:t>Business Communications Theory</a:t>
            </a:r>
            <a:r>
              <a:rPr lang="en-US" sz="2000" dirty="0"/>
              <a:t>: Multiple Choice/Gap-fill/Drop-down selections</a:t>
            </a:r>
          </a:p>
          <a:p>
            <a:pPr marL="342900">
              <a:lnSpc>
                <a:spcPct val="100000"/>
              </a:lnSpc>
              <a:spcBef>
                <a:spcPts val="0"/>
              </a:spcBef>
              <a:buSzPts val="2400"/>
            </a:pPr>
            <a:r>
              <a:rPr lang="en-US" sz="1800" dirty="0"/>
              <a:t>Style, Tone, Politeness, Message Length</a:t>
            </a:r>
          </a:p>
          <a:p>
            <a:pPr marL="342900">
              <a:lnSpc>
                <a:spcPct val="100000"/>
              </a:lnSpc>
              <a:spcBef>
                <a:spcPts val="0"/>
              </a:spcBef>
              <a:buSzPts val="2400"/>
            </a:pPr>
            <a:r>
              <a:rPr lang="en-US" sz="1800" dirty="0"/>
              <a:t>Professional Vocabulary</a:t>
            </a:r>
          </a:p>
          <a:p>
            <a:pPr marL="342900">
              <a:lnSpc>
                <a:spcPct val="100000"/>
              </a:lnSpc>
              <a:spcBef>
                <a:spcPts val="0"/>
              </a:spcBef>
              <a:buSzPts val="2400"/>
            </a:pPr>
            <a:r>
              <a:rPr lang="en-US" sz="1800" dirty="0"/>
              <a:t>Email Format/Structure</a:t>
            </a:r>
          </a:p>
          <a:p>
            <a:pPr marL="342900">
              <a:lnSpc>
                <a:spcPct val="100000"/>
              </a:lnSpc>
              <a:spcBef>
                <a:spcPts val="0"/>
              </a:spcBef>
              <a:buSzPts val="2400"/>
            </a:pPr>
            <a:r>
              <a:rPr lang="en-US" sz="1800" dirty="0"/>
              <a:t>Electronic Communications (email/instant messages)</a:t>
            </a:r>
          </a:p>
          <a:p>
            <a:pPr marL="342900">
              <a:spcBef>
                <a:spcPts val="0"/>
              </a:spcBef>
              <a:buSzPts val="2400"/>
            </a:pPr>
            <a:r>
              <a:rPr lang="en-US" sz="1800" dirty="0"/>
              <a:t>Meeting Management ((Agendas, Minutes and Meeting Vocabulary)</a:t>
            </a:r>
          </a:p>
          <a:p>
            <a:pPr marL="342900">
              <a:spcBef>
                <a:spcPts val="0"/>
              </a:spcBef>
              <a:buSzPts val="2400"/>
            </a:pPr>
            <a:r>
              <a:rPr lang="en-US" sz="1800" dirty="0"/>
              <a:t>Reporting Figures, Tables, Charts and Results</a:t>
            </a:r>
          </a:p>
          <a:p>
            <a:pPr marL="342900">
              <a:spcBef>
                <a:spcPts val="0"/>
              </a:spcBef>
              <a:buSzPts val="2400"/>
            </a:pPr>
            <a:r>
              <a:rPr lang="en-US" sz="1800" dirty="0"/>
              <a:t>Grammar/Vocabulary</a:t>
            </a:r>
          </a:p>
          <a:p>
            <a:pPr marL="0" lvl="0" indent="0">
              <a:lnSpc>
                <a:spcPct val="100000"/>
              </a:lnSpc>
              <a:spcBef>
                <a:spcPts val="0"/>
              </a:spcBef>
              <a:buSzPts val="2400"/>
              <a:buNone/>
            </a:pPr>
            <a:endParaRPr lang="en-US" sz="1200" dirty="0"/>
          </a:p>
          <a:p>
            <a:pPr marL="0" lvl="0" indent="0">
              <a:lnSpc>
                <a:spcPct val="100000"/>
              </a:lnSpc>
              <a:spcBef>
                <a:spcPts val="0"/>
              </a:spcBef>
              <a:buSzPts val="2400"/>
              <a:buNone/>
            </a:pPr>
            <a:r>
              <a:rPr lang="en-US" sz="2000" b="1" dirty="0"/>
              <a:t>Written Production:</a:t>
            </a:r>
          </a:p>
          <a:p>
            <a:pPr marL="342900">
              <a:spcBef>
                <a:spcPts val="0"/>
              </a:spcBef>
              <a:buSzPts val="2400"/>
            </a:pPr>
            <a:r>
              <a:rPr lang="en-US" sz="1800" dirty="0"/>
              <a:t>Rewriting language for appropriate tone and formality</a:t>
            </a:r>
          </a:p>
          <a:p>
            <a:pPr marL="342900">
              <a:spcBef>
                <a:spcPts val="0"/>
              </a:spcBef>
              <a:buSzPts val="2400"/>
            </a:pPr>
            <a:r>
              <a:rPr lang="en-US" sz="1800" dirty="0"/>
              <a:t>Producing appropriate business communication</a:t>
            </a:r>
          </a:p>
          <a:p>
            <a:pPr marL="342900">
              <a:spcBef>
                <a:spcPts val="0"/>
              </a:spcBef>
              <a:buSzPts val="2400"/>
            </a:pPr>
            <a:r>
              <a:rPr lang="en-US" sz="1800" dirty="0"/>
              <a:t>Reporting and interpreting information from figures, tables and charts</a:t>
            </a:r>
            <a:endParaRPr lang="en-US" sz="2000" dirty="0"/>
          </a:p>
        </p:txBody>
      </p:sp>
    </p:spTree>
    <p:extLst>
      <p:ext uri="{BB962C8B-B14F-4D97-AF65-F5344CB8AC3E}">
        <p14:creationId xmlns:p14="http://schemas.microsoft.com/office/powerpoint/2010/main" val="10988369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DFA8E-89B9-4E30-FE9D-63A66E2CA048}"/>
              </a:ext>
            </a:extLst>
          </p:cNvPr>
          <p:cNvSpPr>
            <a:spLocks noGrp="1"/>
          </p:cNvSpPr>
          <p:nvPr>
            <p:ph type="title"/>
          </p:nvPr>
        </p:nvSpPr>
        <p:spPr/>
        <p:txBody>
          <a:bodyPr/>
          <a:lstStyle/>
          <a:p>
            <a:r>
              <a:rPr lang="en-US" b="1" dirty="0">
                <a:solidFill>
                  <a:schemeClr val="accent5"/>
                </a:solidFill>
              </a:rPr>
              <a:t>Presenting Information Exam Practice:</a:t>
            </a:r>
            <a:endParaRPr lang="en-US" dirty="0"/>
          </a:p>
        </p:txBody>
      </p:sp>
      <p:sp>
        <p:nvSpPr>
          <p:cNvPr id="3" name="Text Placeholder 2">
            <a:extLst>
              <a:ext uri="{FF2B5EF4-FFF2-40B4-BE49-F238E27FC236}">
                <a16:creationId xmlns:a16="http://schemas.microsoft.com/office/drawing/2014/main" id="{8517B634-726B-7471-E9E5-07FD0DE5DA44}"/>
              </a:ext>
            </a:extLst>
          </p:cNvPr>
          <p:cNvSpPr>
            <a:spLocks noGrp="1"/>
          </p:cNvSpPr>
          <p:nvPr>
            <p:ph type="body" idx="1"/>
          </p:nvPr>
        </p:nvSpPr>
        <p:spPr/>
        <p:txBody>
          <a:bodyPr/>
          <a:lstStyle/>
          <a:p>
            <a:r>
              <a:rPr lang="en-US" dirty="0"/>
              <a:t>You will be given a figure, table or chart. </a:t>
            </a:r>
          </a:p>
          <a:p>
            <a:r>
              <a:rPr lang="en-US" dirty="0"/>
              <a:t>Identify the most important information, make clear comparisons, and describe the main finding. </a:t>
            </a:r>
          </a:p>
          <a:p>
            <a:r>
              <a:rPr lang="en-US" dirty="0"/>
              <a:t>Use relevant numbers or percentages to support your answer. </a:t>
            </a:r>
          </a:p>
          <a:p>
            <a:r>
              <a:rPr lang="en-US" dirty="0"/>
              <a:t>Explain what the finding suggests.</a:t>
            </a:r>
          </a:p>
        </p:txBody>
      </p:sp>
      <p:pic>
        <p:nvPicPr>
          <p:cNvPr id="5" name="Picture 4">
            <a:extLst>
              <a:ext uri="{FF2B5EF4-FFF2-40B4-BE49-F238E27FC236}">
                <a16:creationId xmlns:a16="http://schemas.microsoft.com/office/drawing/2014/main" id="{22035E0B-3B84-1CC4-39E5-83E0CD2E8C20}"/>
              </a:ext>
            </a:extLst>
          </p:cNvPr>
          <p:cNvPicPr>
            <a:picLocks noChangeAspect="1"/>
          </p:cNvPicPr>
          <p:nvPr/>
        </p:nvPicPr>
        <p:blipFill>
          <a:blip r:embed="rId2"/>
          <a:stretch>
            <a:fillRect/>
          </a:stretch>
        </p:blipFill>
        <p:spPr>
          <a:xfrm>
            <a:off x="4305487" y="5664869"/>
            <a:ext cx="3915321" cy="352474"/>
          </a:xfrm>
          <a:prstGeom prst="rect">
            <a:avLst/>
          </a:prstGeom>
        </p:spPr>
      </p:pic>
      <p:pic>
        <p:nvPicPr>
          <p:cNvPr id="7" name="Picture 6">
            <a:extLst>
              <a:ext uri="{FF2B5EF4-FFF2-40B4-BE49-F238E27FC236}">
                <a16:creationId xmlns:a16="http://schemas.microsoft.com/office/drawing/2014/main" id="{07997CE1-11EF-AB78-D887-DE1E7BB2E37A}"/>
              </a:ext>
            </a:extLst>
          </p:cNvPr>
          <p:cNvPicPr>
            <a:picLocks noChangeAspect="1"/>
          </p:cNvPicPr>
          <p:nvPr/>
        </p:nvPicPr>
        <p:blipFill>
          <a:blip r:embed="rId3"/>
          <a:stretch>
            <a:fillRect/>
          </a:stretch>
        </p:blipFill>
        <p:spPr>
          <a:xfrm>
            <a:off x="8524568" y="4001295"/>
            <a:ext cx="2327786" cy="2016048"/>
          </a:xfrm>
          <a:prstGeom prst="rect">
            <a:avLst/>
          </a:prstGeom>
        </p:spPr>
      </p:pic>
    </p:spTree>
    <p:extLst>
      <p:ext uri="{BB962C8B-B14F-4D97-AF65-F5344CB8AC3E}">
        <p14:creationId xmlns:p14="http://schemas.microsoft.com/office/powerpoint/2010/main" val="13692049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24"/>
          <p:cNvSpPr txBox="1">
            <a:spLocks noGrp="1"/>
          </p:cNvSpPr>
          <p:nvPr>
            <p:ph type="title"/>
          </p:nvPr>
        </p:nvSpPr>
        <p:spPr>
          <a:xfrm>
            <a:off x="808722" y="2153266"/>
            <a:ext cx="10519678" cy="410943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accent5"/>
              </a:buClr>
              <a:buSzPct val="100000"/>
              <a:buFont typeface="Calibri"/>
              <a:buNone/>
            </a:pPr>
            <a:r>
              <a:rPr lang="en-US" sz="3600" b="1" dirty="0">
                <a:solidFill>
                  <a:schemeClr val="dk1"/>
                </a:solidFill>
                <a:latin typeface="Calibri"/>
                <a:ea typeface="Calibri"/>
                <a:cs typeface="Calibri"/>
                <a:sym typeface="Calibri"/>
              </a:rPr>
              <a:t>Congratulations </a:t>
            </a:r>
            <a:r>
              <a:rPr lang="en-US" sz="3600" b="1" dirty="0">
                <a:latin typeface="Calibri"/>
                <a:ea typeface="Calibri"/>
                <a:cs typeface="Calibri"/>
                <a:sym typeface="Calibri"/>
              </a:rPr>
              <a:t>on surviving the first half of the semester</a:t>
            </a:r>
            <a:br>
              <a:rPr lang="en-US" sz="3600" b="1" dirty="0">
                <a:solidFill>
                  <a:schemeClr val="accent5"/>
                </a:solidFill>
                <a:latin typeface="Calibri"/>
                <a:ea typeface="Calibri"/>
                <a:cs typeface="Calibri"/>
                <a:sym typeface="Calibri"/>
              </a:rPr>
            </a:br>
            <a:br>
              <a:rPr lang="en-US" sz="3600" b="1" dirty="0">
                <a:solidFill>
                  <a:schemeClr val="accent5"/>
                </a:solidFill>
                <a:latin typeface="Calibri"/>
                <a:ea typeface="Calibri"/>
                <a:cs typeface="Calibri"/>
                <a:sym typeface="Calibri"/>
              </a:rPr>
            </a:br>
            <a:r>
              <a:rPr lang="en-US" sz="3600" b="1" dirty="0">
                <a:solidFill>
                  <a:schemeClr val="accent5"/>
                </a:solidFill>
                <a:latin typeface="Calibri"/>
                <a:ea typeface="Calibri"/>
                <a:cs typeface="Calibri"/>
                <a:sym typeface="Calibri"/>
              </a:rPr>
              <a:t>THANK YOU </a:t>
            </a:r>
            <a:r>
              <a:rPr lang="en-US" sz="3600" b="1" dirty="0">
                <a:latin typeface="Calibri"/>
                <a:ea typeface="Calibri"/>
                <a:cs typeface="Calibri"/>
                <a:sym typeface="Calibri"/>
              </a:rPr>
              <a:t>for your participation today</a:t>
            </a:r>
            <a:br>
              <a:rPr lang="en-US" sz="4400" b="1" dirty="0">
                <a:solidFill>
                  <a:schemeClr val="accent1"/>
                </a:solidFill>
                <a:latin typeface="Calibri"/>
                <a:ea typeface="Calibri"/>
                <a:cs typeface="Calibri"/>
                <a:sym typeface="Calibri"/>
              </a:rPr>
            </a:br>
            <a:br>
              <a:rPr lang="en-US" sz="4400" b="1" dirty="0">
                <a:solidFill>
                  <a:schemeClr val="accent1"/>
                </a:solidFill>
                <a:latin typeface="Calibri"/>
                <a:ea typeface="Calibri"/>
                <a:cs typeface="Calibri"/>
                <a:sym typeface="Calibri"/>
              </a:rPr>
            </a:br>
            <a:br>
              <a:rPr lang="en-US" sz="3000" b="1" dirty="0">
                <a:solidFill>
                  <a:schemeClr val="accent1"/>
                </a:solidFill>
                <a:latin typeface="Calibri"/>
                <a:ea typeface="Calibri"/>
                <a:cs typeface="Calibri"/>
                <a:sym typeface="Calibri"/>
              </a:rPr>
            </a:br>
            <a:r>
              <a:rPr lang="en-US" sz="3000" b="1" dirty="0"/>
              <a:t>Good luck in your midterm exams </a:t>
            </a:r>
            <a:r>
              <a:rPr lang="en-US" sz="3000" b="1" dirty="0">
                <a:latin typeface="Calibri"/>
                <a:ea typeface="Calibri"/>
                <a:cs typeface="Calibri"/>
                <a:sym typeface="Calibri"/>
              </a:rPr>
              <a:t>everyone!</a:t>
            </a:r>
            <a:br>
              <a:rPr lang="en-US" sz="3000" b="1" dirty="0">
                <a:latin typeface="Calibri"/>
                <a:ea typeface="Calibri"/>
                <a:cs typeface="Calibri"/>
                <a:sym typeface="Calibri"/>
              </a:rPr>
            </a:br>
            <a:br>
              <a:rPr lang="en-US" sz="3000" b="1" dirty="0">
                <a:latin typeface="Calibri"/>
                <a:ea typeface="Calibri"/>
                <a:cs typeface="Calibri"/>
                <a:sym typeface="Calibri"/>
              </a:rPr>
            </a:br>
            <a:r>
              <a:rPr lang="en-US" sz="3000" b="1" dirty="0">
                <a:latin typeface="Calibri"/>
                <a:ea typeface="Calibri"/>
                <a:cs typeface="Calibri"/>
                <a:sym typeface="Calibri"/>
              </a:rPr>
              <a:t>See you after the exams</a:t>
            </a:r>
            <a:br>
              <a:rPr lang="en-US" sz="3000" b="1" dirty="0">
                <a:latin typeface="Calibri"/>
                <a:ea typeface="Calibri"/>
                <a:cs typeface="Calibri"/>
                <a:sym typeface="Calibri"/>
              </a:rPr>
            </a:br>
            <a:r>
              <a:rPr lang="en-US" sz="3000" b="1" dirty="0">
                <a:latin typeface="Calibri"/>
                <a:ea typeface="Calibri"/>
                <a:cs typeface="Calibri"/>
                <a:sym typeface="Calibri"/>
              </a:rPr>
              <a:t>Until then, Take Care &amp; Stay Safe</a:t>
            </a:r>
            <a:endParaRPr sz="3000" b="1" dirty="0">
              <a:latin typeface="Calibri"/>
              <a:ea typeface="Calibri"/>
              <a:cs typeface="Calibri"/>
              <a:sym typeface="Calibri"/>
            </a:endParaRPr>
          </a:p>
        </p:txBody>
      </p:sp>
      <p:sp>
        <p:nvSpPr>
          <p:cNvPr id="341" name="Google Shape;341;p24"/>
          <p:cNvSpPr txBox="1"/>
          <p:nvPr/>
        </p:nvSpPr>
        <p:spPr>
          <a:xfrm>
            <a:off x="808722" y="408341"/>
            <a:ext cx="78867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accent5"/>
              </a:buClr>
              <a:buSzPts val="4400"/>
              <a:buFont typeface="Calibri"/>
              <a:buNone/>
            </a:pPr>
            <a:r>
              <a:rPr lang="en-US" sz="4400" b="1" i="0" u="none" strike="noStrike" cap="none">
                <a:solidFill>
                  <a:schemeClr val="accent5"/>
                </a:solidFill>
                <a:latin typeface="Calibri"/>
                <a:ea typeface="Calibri"/>
                <a:cs typeface="Calibri"/>
                <a:sym typeface="Calibri"/>
              </a:rPr>
              <a:t>Finally….</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872</TotalTime>
  <Words>452</Words>
  <Application>Microsoft Office PowerPoint</Application>
  <PresentationFormat>Widescreen</PresentationFormat>
  <Paragraphs>72</Paragraphs>
  <Slides>8</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ITLG311 - Business Communication</vt:lpstr>
      <vt:lpstr>Today’s Goals:</vt:lpstr>
      <vt:lpstr>Resources</vt:lpstr>
      <vt:lpstr>Business Information Briefing</vt:lpstr>
      <vt:lpstr>Self and Peer Evaluation Business Information Briefing</vt:lpstr>
      <vt:lpstr>The Midterm Exam:</vt:lpstr>
      <vt:lpstr>Presenting Information Exam Practice:</vt:lpstr>
      <vt:lpstr>Congratulations on surviving the first half of the semester  THANK YOU for your participation today   Good luck in your midterm exams everyone!  See you after the exams Until then, Take Care &amp; Stay Safe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ITLG301 - Business Writing</dc:title>
  <dc:creator>MUICT</dc:creator>
  <cp:lastModifiedBy>martin willemse</cp:lastModifiedBy>
  <cp:revision>29</cp:revision>
  <dcterms:created xsi:type="dcterms:W3CDTF">2018-08-21T03:27:20Z</dcterms:created>
  <dcterms:modified xsi:type="dcterms:W3CDTF">2026-09-18T06:28:38Z</dcterms:modified>
</cp:coreProperties>
</file>