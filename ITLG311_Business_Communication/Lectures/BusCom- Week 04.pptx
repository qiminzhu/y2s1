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4" r:id="rId9"/>
    <p:sldId id="265" r:id="rId10"/>
    <p:sldId id="266" r:id="rId11"/>
    <p:sldId id="267" r:id="rId12"/>
    <p:sldId id="269" r:id="rId13"/>
    <p:sldId id="270" r:id="rId14"/>
    <p:sldId id="271" r:id="rId15"/>
    <p:sldId id="274" r:id="rId16"/>
    <p:sldId id="276" r:id="rId17"/>
    <p:sldId id="277" r:id="rId18"/>
    <p:sldId id="278" r:id="rId19"/>
    <p:sldId id="299" r:id="rId20"/>
    <p:sldId id="300" r:id="rId21"/>
    <p:sldId id="301" r:id="rId22"/>
    <p:sldId id="356" r:id="rId23"/>
    <p:sldId id="360" r:id="rId24"/>
    <p:sldId id="361" r:id="rId25"/>
    <p:sldId id="290" r:id="rId26"/>
    <p:sldId id="288" r:id="rId27"/>
    <p:sldId id="291" r:id="rId28"/>
    <p:sldId id="292" r:id="rId29"/>
    <p:sldId id="293" r:id="rId30"/>
  </p:sldIdLst>
  <p:sldSz cx="12192000" cy="6858000"/>
  <p:notesSz cx="9926638" cy="679767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3" roundtripDataSignature="AMtx7mjdXx57j4q44LtQfNjAH3qFVWB3V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03"/>
    <p:restoredTop sz="95033" autoAdjust="0"/>
  </p:normalViewPr>
  <p:slideViewPr>
    <p:cSldViewPr snapToGrid="0">
      <p:cViewPr varScale="1">
        <p:scale>
          <a:sx n="169" d="100"/>
          <a:sy n="169" d="100"/>
        </p:scale>
        <p:origin x="216"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43" Type="http://customschemas.google.com/relationships/presentationmetadata" Target="meta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654750" y="509825"/>
            <a:ext cx="6618075" cy="25491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92650" y="3228875"/>
            <a:ext cx="7941300" cy="305895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37:notes"/>
          <p:cNvSpPr txBox="1">
            <a:spLocks noGrp="1"/>
          </p:cNvSpPr>
          <p:nvPr>
            <p:ph type="body" idx="1"/>
          </p:nvPr>
        </p:nvSpPr>
        <p:spPr>
          <a:xfrm>
            <a:off x="992650" y="3228875"/>
            <a:ext cx="7941300" cy="30589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0" name="Google Shape;60;p37: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38:notes"/>
          <p:cNvSpPr txBox="1">
            <a:spLocks noGrp="1"/>
          </p:cNvSpPr>
          <p:nvPr>
            <p:ph type="body" idx="1"/>
          </p:nvPr>
        </p:nvSpPr>
        <p:spPr>
          <a:xfrm>
            <a:off x="992650" y="3228875"/>
            <a:ext cx="7941300" cy="30589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6" name="Google Shape;66;p38: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1:notes"/>
          <p:cNvSpPr txBox="1">
            <a:spLocks noGrp="1"/>
          </p:cNvSpPr>
          <p:nvPr>
            <p:ph type="body" idx="1"/>
          </p:nvPr>
        </p:nvSpPr>
        <p:spPr>
          <a:xfrm>
            <a:off x="992650" y="3228875"/>
            <a:ext cx="7941300" cy="3058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 name="Google Shape;72;p1:notes"/>
          <p:cNvSpPr>
            <a:spLocks noGrp="1" noRot="1" noChangeAspect="1"/>
          </p:cNvSpPr>
          <p:nvPr>
            <p:ph type="sldImg" idx="2"/>
          </p:nvPr>
        </p:nvSpPr>
        <p:spPr>
          <a:xfrm>
            <a:off x="1654750" y="509825"/>
            <a:ext cx="6618075" cy="2549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39:notes"/>
          <p:cNvSpPr txBox="1">
            <a:spLocks noGrp="1"/>
          </p:cNvSpPr>
          <p:nvPr>
            <p:ph type="body" idx="1"/>
          </p:nvPr>
        </p:nvSpPr>
        <p:spPr>
          <a:xfrm>
            <a:off x="992650" y="3228875"/>
            <a:ext cx="7941300" cy="30589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8" name="Google Shape;78;p39: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40:notes"/>
          <p:cNvSpPr txBox="1">
            <a:spLocks noGrp="1"/>
          </p:cNvSpPr>
          <p:nvPr>
            <p:ph type="body" idx="1"/>
          </p:nvPr>
        </p:nvSpPr>
        <p:spPr>
          <a:xfrm>
            <a:off x="992650" y="3228875"/>
            <a:ext cx="7941300" cy="30589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4" name="Google Shape;84;p40: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41:notes"/>
          <p:cNvSpPr txBox="1">
            <a:spLocks noGrp="1"/>
          </p:cNvSpPr>
          <p:nvPr>
            <p:ph type="body" idx="1"/>
          </p:nvPr>
        </p:nvSpPr>
        <p:spPr>
          <a:xfrm>
            <a:off x="992650" y="3228875"/>
            <a:ext cx="7941300" cy="30589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41: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2:notes"/>
          <p:cNvSpPr txBox="1">
            <a:spLocks noGrp="1"/>
          </p:cNvSpPr>
          <p:nvPr>
            <p:ph type="body" idx="1"/>
          </p:nvPr>
        </p:nvSpPr>
        <p:spPr>
          <a:xfrm>
            <a:off x="992650" y="3228875"/>
            <a:ext cx="7941300" cy="30589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42: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4:notes"/>
          <p:cNvSpPr txBox="1">
            <a:spLocks noGrp="1"/>
          </p:cNvSpPr>
          <p:nvPr>
            <p:ph type="body" idx="1"/>
          </p:nvPr>
        </p:nvSpPr>
        <p:spPr>
          <a:xfrm>
            <a:off x="992650" y="3228875"/>
            <a:ext cx="7941300" cy="30589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6" name="Google Shape;116;p44: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5:notes"/>
          <p:cNvSpPr txBox="1">
            <a:spLocks noGrp="1"/>
          </p:cNvSpPr>
          <p:nvPr>
            <p:ph type="body" idx="1"/>
          </p:nvPr>
        </p:nvSpPr>
        <p:spPr>
          <a:xfrm>
            <a:off x="992650" y="3228875"/>
            <a:ext cx="7941300" cy="30589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45: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46:notes"/>
          <p:cNvSpPr txBox="1">
            <a:spLocks noGrp="1"/>
          </p:cNvSpPr>
          <p:nvPr>
            <p:ph type="body" idx="1"/>
          </p:nvPr>
        </p:nvSpPr>
        <p:spPr>
          <a:xfrm>
            <a:off x="992650" y="3228875"/>
            <a:ext cx="7941300" cy="30589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8" name="Google Shape;128;p46: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47:notes"/>
          <p:cNvSpPr txBox="1">
            <a:spLocks noGrp="1"/>
          </p:cNvSpPr>
          <p:nvPr>
            <p:ph type="body" idx="1"/>
          </p:nvPr>
        </p:nvSpPr>
        <p:spPr>
          <a:xfrm>
            <a:off x="992650" y="3228875"/>
            <a:ext cx="7941300" cy="30589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47: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49:notes"/>
          <p:cNvSpPr txBox="1">
            <a:spLocks noGrp="1"/>
          </p:cNvSpPr>
          <p:nvPr>
            <p:ph type="body" idx="1"/>
          </p:nvPr>
        </p:nvSpPr>
        <p:spPr>
          <a:xfrm>
            <a:off x="992650" y="3228875"/>
            <a:ext cx="7941300" cy="30589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8" name="Google Shape;148;p49: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2:notes"/>
          <p:cNvSpPr txBox="1">
            <a:spLocks noGrp="1"/>
          </p:cNvSpPr>
          <p:nvPr>
            <p:ph type="body" idx="1"/>
          </p:nvPr>
        </p:nvSpPr>
        <p:spPr>
          <a:xfrm>
            <a:off x="992650" y="3228875"/>
            <a:ext cx="7941300" cy="3058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2: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50: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p50:notes"/>
          <p:cNvSpPr txBox="1">
            <a:spLocks noGrp="1"/>
          </p:cNvSpPr>
          <p:nvPr>
            <p:ph type="body" idx="1"/>
          </p:nvPr>
        </p:nvSpPr>
        <p:spPr>
          <a:xfrm>
            <a:off x="992650" y="3228875"/>
            <a:ext cx="7941300" cy="305895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53:notes"/>
          <p:cNvSpPr txBox="1">
            <a:spLocks noGrp="1"/>
          </p:cNvSpPr>
          <p:nvPr>
            <p:ph type="body" idx="1"/>
          </p:nvPr>
        </p:nvSpPr>
        <p:spPr>
          <a:xfrm>
            <a:off x="992650" y="3228875"/>
            <a:ext cx="7941300" cy="30589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8" name="Google Shape;178;p53: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55: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55:notes"/>
          <p:cNvSpPr txBox="1">
            <a:spLocks noGrp="1"/>
          </p:cNvSpPr>
          <p:nvPr>
            <p:ph type="body" idx="1"/>
          </p:nvPr>
        </p:nvSpPr>
        <p:spPr>
          <a:xfrm>
            <a:off x="992650" y="3228875"/>
            <a:ext cx="7941300" cy="3058950"/>
          </a:xfrm>
          <a:prstGeom prst="rect">
            <a:avLst/>
          </a:prstGeom>
          <a:noFill/>
          <a:ln>
            <a:noFill/>
          </a:ln>
        </p:spPr>
        <p:txBody>
          <a:bodyPr spcFirstLastPara="1" wrap="square" lIns="91425" tIns="91425" rIns="91425" bIns="91425" anchor="t" anchorCtr="0">
            <a:noAutofit/>
          </a:bodyPr>
          <a:lstStyle/>
          <a:p>
            <a:pPr marL="158750" lvl="0" indent="0" algn="l" rtl="0">
              <a:lnSpc>
                <a:spcPct val="100000"/>
              </a:lnSpc>
              <a:spcBef>
                <a:spcPts val="0"/>
              </a:spcBef>
              <a:spcAft>
                <a:spcPts val="0"/>
              </a:spcAft>
              <a:buSzPts val="1100"/>
              <a:buNone/>
            </a:pPr>
            <a:r>
              <a:rPr lang="en-US" b="1">
                <a:latin typeface="Calibri"/>
                <a:ea typeface="Calibri"/>
                <a:cs typeface="Calibri"/>
                <a:sym typeface="Calibri"/>
              </a:rPr>
              <a:t>How to Respond to Digital Messages</a:t>
            </a:r>
            <a:endParaRPr/>
          </a:p>
          <a:p>
            <a:pPr marL="158750" lvl="0" indent="0" algn="l" rtl="0">
              <a:lnSpc>
                <a:spcPct val="100000"/>
              </a:lnSpc>
              <a:spcBef>
                <a:spcPts val="0"/>
              </a:spcBef>
              <a:spcAft>
                <a:spcPts val="0"/>
              </a:spcAft>
              <a:buSzPts val="1100"/>
              <a:buNone/>
            </a:pPr>
            <a:endParaRPr>
              <a:latin typeface="Calibri"/>
              <a:ea typeface="Calibri"/>
              <a:cs typeface="Calibri"/>
              <a:sym typeface="Calibri"/>
            </a:endParaRPr>
          </a:p>
          <a:p>
            <a:pPr marL="158750" lvl="0" indent="0" algn="l" rtl="0">
              <a:lnSpc>
                <a:spcPct val="100000"/>
              </a:lnSpc>
              <a:spcBef>
                <a:spcPts val="0"/>
              </a:spcBef>
              <a:spcAft>
                <a:spcPts val="0"/>
              </a:spcAft>
              <a:buSzPts val="1100"/>
              <a:buNone/>
            </a:pPr>
            <a:r>
              <a:rPr lang="en-US" b="1">
                <a:latin typeface="Calibri"/>
                <a:ea typeface="Calibri"/>
                <a:cs typeface="Calibri"/>
                <a:sym typeface="Calibri"/>
              </a:rPr>
              <a:t>1. Acknowledge Receipt Promptly:</a:t>
            </a:r>
            <a:endParaRPr/>
          </a:p>
          <a:p>
            <a:pPr marL="158750" lvl="0" indent="0" algn="l" rtl="0">
              <a:lnSpc>
                <a:spcPct val="100000"/>
              </a:lnSpc>
              <a:spcBef>
                <a:spcPts val="0"/>
              </a:spcBef>
              <a:spcAft>
                <a:spcPts val="0"/>
              </a:spcAft>
              <a:buSzPts val="1100"/>
              <a:buNone/>
            </a:pPr>
            <a:r>
              <a:rPr lang="en-US">
                <a:latin typeface="Calibri"/>
                <a:ea typeface="Calibri"/>
                <a:cs typeface="Calibri"/>
                <a:sym typeface="Calibri"/>
              </a:rPr>
              <a:t>Why: Timely acknowledgment shows that you’ve received the message and are engaged. It reassures the sender that their communication has reached you.</a:t>
            </a:r>
            <a:endParaRPr/>
          </a:p>
          <a:p>
            <a:pPr marL="158750" lvl="0" indent="0" algn="l" rtl="0">
              <a:lnSpc>
                <a:spcPct val="100000"/>
              </a:lnSpc>
              <a:spcBef>
                <a:spcPts val="0"/>
              </a:spcBef>
              <a:spcAft>
                <a:spcPts val="0"/>
              </a:spcAft>
              <a:buSzPts val="1100"/>
              <a:buNone/>
            </a:pPr>
            <a:r>
              <a:rPr lang="en-US">
                <a:latin typeface="Calibri"/>
                <a:ea typeface="Calibri"/>
                <a:cs typeface="Calibri"/>
                <a:sym typeface="Calibri"/>
              </a:rPr>
              <a:t>How: Even if you can’t provide a full response immediately, send a brief note like, “Got it, I’ll get back to you shortly” or “Thanks for the update.”</a:t>
            </a:r>
            <a:endParaRPr/>
          </a:p>
          <a:p>
            <a:pPr marL="158750" lvl="0" indent="0" algn="l" rtl="0">
              <a:lnSpc>
                <a:spcPct val="100000"/>
              </a:lnSpc>
              <a:spcBef>
                <a:spcPts val="0"/>
              </a:spcBef>
              <a:spcAft>
                <a:spcPts val="0"/>
              </a:spcAft>
              <a:buSzPts val="1100"/>
              <a:buNone/>
            </a:pPr>
            <a:endParaRPr>
              <a:latin typeface="Calibri"/>
              <a:ea typeface="Calibri"/>
              <a:cs typeface="Calibri"/>
              <a:sym typeface="Calibri"/>
            </a:endParaRPr>
          </a:p>
          <a:p>
            <a:pPr marL="158750" lvl="0" indent="0" algn="l" rtl="0">
              <a:lnSpc>
                <a:spcPct val="100000"/>
              </a:lnSpc>
              <a:spcBef>
                <a:spcPts val="0"/>
              </a:spcBef>
              <a:spcAft>
                <a:spcPts val="0"/>
              </a:spcAft>
              <a:buSzPts val="1100"/>
              <a:buNone/>
            </a:pPr>
            <a:r>
              <a:rPr lang="en-US" b="1">
                <a:latin typeface="Calibri"/>
                <a:ea typeface="Calibri"/>
                <a:cs typeface="Calibri"/>
                <a:sym typeface="Calibri"/>
              </a:rPr>
              <a:t>2. Understand the Context:</a:t>
            </a:r>
            <a:endParaRPr/>
          </a:p>
          <a:p>
            <a:pPr marL="158750" lvl="0" indent="0" algn="l" rtl="0">
              <a:lnSpc>
                <a:spcPct val="100000"/>
              </a:lnSpc>
              <a:spcBef>
                <a:spcPts val="0"/>
              </a:spcBef>
              <a:spcAft>
                <a:spcPts val="0"/>
              </a:spcAft>
              <a:buSzPts val="1100"/>
              <a:buNone/>
            </a:pPr>
            <a:r>
              <a:rPr lang="en-US">
                <a:latin typeface="Calibri"/>
                <a:ea typeface="Calibri"/>
                <a:cs typeface="Calibri"/>
                <a:sym typeface="Calibri"/>
              </a:rPr>
              <a:t>Why: Responding appropriately requires understanding the context, urgency, and tone of the original message.</a:t>
            </a:r>
            <a:endParaRPr/>
          </a:p>
          <a:p>
            <a:pPr marL="158750" lvl="0" indent="0" algn="l" rtl="0">
              <a:lnSpc>
                <a:spcPct val="100000"/>
              </a:lnSpc>
              <a:spcBef>
                <a:spcPts val="0"/>
              </a:spcBef>
              <a:spcAft>
                <a:spcPts val="0"/>
              </a:spcAft>
              <a:buSzPts val="1100"/>
              <a:buNone/>
            </a:pPr>
            <a:r>
              <a:rPr lang="en-US">
                <a:latin typeface="Calibri"/>
                <a:ea typeface="Calibri"/>
                <a:cs typeface="Calibri"/>
                <a:sym typeface="Calibri"/>
              </a:rPr>
              <a:t>How: Read the message carefully, considering who sent it, the purpose, and the platform (e.g., email vs. instant message). If unclear, don’t hesitate to ask for clarification.</a:t>
            </a:r>
            <a:endParaRPr/>
          </a:p>
          <a:p>
            <a:pPr marL="158750" lvl="0" indent="0" algn="l" rtl="0">
              <a:lnSpc>
                <a:spcPct val="100000"/>
              </a:lnSpc>
              <a:spcBef>
                <a:spcPts val="0"/>
              </a:spcBef>
              <a:spcAft>
                <a:spcPts val="0"/>
              </a:spcAft>
              <a:buSzPts val="1100"/>
              <a:buNone/>
            </a:pPr>
            <a:endParaRPr>
              <a:latin typeface="Calibri"/>
              <a:ea typeface="Calibri"/>
              <a:cs typeface="Calibri"/>
              <a:sym typeface="Calibri"/>
            </a:endParaRPr>
          </a:p>
          <a:p>
            <a:pPr marL="158750" lvl="0" indent="0" algn="l" rtl="0">
              <a:lnSpc>
                <a:spcPct val="100000"/>
              </a:lnSpc>
              <a:spcBef>
                <a:spcPts val="0"/>
              </a:spcBef>
              <a:spcAft>
                <a:spcPts val="0"/>
              </a:spcAft>
              <a:buSzPts val="1100"/>
              <a:buNone/>
            </a:pPr>
            <a:r>
              <a:rPr lang="en-US" b="1">
                <a:latin typeface="Calibri"/>
                <a:ea typeface="Calibri"/>
                <a:cs typeface="Calibri"/>
                <a:sym typeface="Calibri"/>
              </a:rPr>
              <a:t>3. Match the Tone:</a:t>
            </a:r>
            <a:endParaRPr/>
          </a:p>
          <a:p>
            <a:pPr marL="158750" lvl="0" indent="0" algn="l" rtl="0">
              <a:lnSpc>
                <a:spcPct val="100000"/>
              </a:lnSpc>
              <a:spcBef>
                <a:spcPts val="0"/>
              </a:spcBef>
              <a:spcAft>
                <a:spcPts val="0"/>
              </a:spcAft>
              <a:buSzPts val="1100"/>
              <a:buNone/>
            </a:pPr>
            <a:r>
              <a:rPr lang="en-US">
                <a:latin typeface="Calibri"/>
                <a:ea typeface="Calibri"/>
                <a:cs typeface="Calibri"/>
                <a:sym typeface="Calibri"/>
              </a:rPr>
              <a:t>Why: Matching the sender’s tone helps maintain rapport and ensures that your response is appropriate for the situation.</a:t>
            </a:r>
            <a:endParaRPr/>
          </a:p>
          <a:p>
            <a:pPr marL="158750" lvl="0" indent="0" algn="l" rtl="0">
              <a:lnSpc>
                <a:spcPct val="100000"/>
              </a:lnSpc>
              <a:spcBef>
                <a:spcPts val="0"/>
              </a:spcBef>
              <a:spcAft>
                <a:spcPts val="0"/>
              </a:spcAft>
              <a:buSzPts val="1100"/>
              <a:buNone/>
            </a:pPr>
            <a:r>
              <a:rPr lang="en-US">
                <a:latin typeface="Calibri"/>
                <a:ea typeface="Calibri"/>
                <a:cs typeface="Calibri"/>
                <a:sym typeface="Calibri"/>
              </a:rPr>
              <a:t>How: For formal messages, use a professional tone. For informal platforms, a more casual tone may be acceptable. Always be polite and respectful.</a:t>
            </a:r>
            <a:endParaRPr/>
          </a:p>
          <a:p>
            <a:pPr marL="158750" lvl="0" indent="0" algn="l" rtl="0">
              <a:lnSpc>
                <a:spcPct val="100000"/>
              </a:lnSpc>
              <a:spcBef>
                <a:spcPts val="0"/>
              </a:spcBef>
              <a:spcAft>
                <a:spcPts val="0"/>
              </a:spcAft>
              <a:buSzPts val="1100"/>
              <a:buNone/>
            </a:pPr>
            <a:endParaRPr>
              <a:latin typeface="Calibri"/>
              <a:ea typeface="Calibri"/>
              <a:cs typeface="Calibri"/>
              <a:sym typeface="Calibri"/>
            </a:endParaRPr>
          </a:p>
          <a:p>
            <a:pPr marL="158750" lvl="0" indent="0" algn="l" rtl="0">
              <a:lnSpc>
                <a:spcPct val="100000"/>
              </a:lnSpc>
              <a:spcBef>
                <a:spcPts val="0"/>
              </a:spcBef>
              <a:spcAft>
                <a:spcPts val="0"/>
              </a:spcAft>
              <a:buSzPts val="1100"/>
              <a:buNone/>
            </a:pPr>
            <a:r>
              <a:rPr lang="en-US" b="1">
                <a:latin typeface="Calibri"/>
                <a:ea typeface="Calibri"/>
                <a:cs typeface="Calibri"/>
                <a:sym typeface="Calibri"/>
              </a:rPr>
              <a:t>4. Be Clear and Concise:</a:t>
            </a:r>
            <a:endParaRPr/>
          </a:p>
          <a:p>
            <a:pPr marL="158750" lvl="0" indent="0" algn="l" rtl="0">
              <a:lnSpc>
                <a:spcPct val="100000"/>
              </a:lnSpc>
              <a:spcBef>
                <a:spcPts val="0"/>
              </a:spcBef>
              <a:spcAft>
                <a:spcPts val="0"/>
              </a:spcAft>
              <a:buSzPts val="1100"/>
              <a:buNone/>
            </a:pPr>
            <a:r>
              <a:rPr lang="en-US">
                <a:latin typeface="Calibri"/>
                <a:ea typeface="Calibri"/>
                <a:cs typeface="Calibri"/>
                <a:sym typeface="Calibri"/>
              </a:rPr>
              <a:t>Why: Clear communication minimizes misunderstandings and ensures that your response is understood the first time.</a:t>
            </a:r>
            <a:endParaRPr/>
          </a:p>
          <a:p>
            <a:pPr marL="158750" lvl="0" indent="0" algn="l" rtl="0">
              <a:lnSpc>
                <a:spcPct val="100000"/>
              </a:lnSpc>
              <a:spcBef>
                <a:spcPts val="0"/>
              </a:spcBef>
              <a:spcAft>
                <a:spcPts val="0"/>
              </a:spcAft>
              <a:buSzPts val="1100"/>
              <a:buNone/>
            </a:pPr>
            <a:r>
              <a:rPr lang="en-US">
                <a:latin typeface="Calibri"/>
                <a:ea typeface="Calibri"/>
                <a:cs typeface="Calibri"/>
                <a:sym typeface="Calibri"/>
              </a:rPr>
              <a:t>How: Get straight to the point, answer questions directly, and avoid unnecessary jargon. If more detail is needed, structure your response to be easy to follow.</a:t>
            </a:r>
            <a:endParaRPr/>
          </a:p>
          <a:p>
            <a:pPr marL="158750" lvl="0" indent="0" algn="l" rtl="0">
              <a:lnSpc>
                <a:spcPct val="100000"/>
              </a:lnSpc>
              <a:spcBef>
                <a:spcPts val="0"/>
              </a:spcBef>
              <a:spcAft>
                <a:spcPts val="0"/>
              </a:spcAft>
              <a:buSzPts val="1100"/>
              <a:buNone/>
            </a:pPr>
            <a:endParaRPr>
              <a:latin typeface="Calibri"/>
              <a:ea typeface="Calibri"/>
              <a:cs typeface="Calibri"/>
              <a:sym typeface="Calibri"/>
            </a:endParaRPr>
          </a:p>
          <a:p>
            <a:pPr marL="158750" lvl="0" indent="0" algn="l" rtl="0">
              <a:lnSpc>
                <a:spcPct val="100000"/>
              </a:lnSpc>
              <a:spcBef>
                <a:spcPts val="0"/>
              </a:spcBef>
              <a:spcAft>
                <a:spcPts val="0"/>
              </a:spcAft>
              <a:buSzPts val="1100"/>
              <a:buNone/>
            </a:pPr>
            <a:r>
              <a:rPr lang="en-US" b="1">
                <a:latin typeface="Calibri"/>
                <a:ea typeface="Calibri"/>
                <a:cs typeface="Calibri"/>
                <a:sym typeface="Calibri"/>
              </a:rPr>
              <a:t>5. Provide Next Steps or a Closing Statement:</a:t>
            </a:r>
            <a:endParaRPr/>
          </a:p>
          <a:p>
            <a:pPr marL="158750" lvl="0" indent="0" algn="l" rtl="0">
              <a:lnSpc>
                <a:spcPct val="100000"/>
              </a:lnSpc>
              <a:spcBef>
                <a:spcPts val="0"/>
              </a:spcBef>
              <a:spcAft>
                <a:spcPts val="0"/>
              </a:spcAft>
              <a:buSzPts val="1100"/>
              <a:buNone/>
            </a:pPr>
            <a:r>
              <a:rPr lang="en-US">
                <a:latin typeface="Calibri"/>
                <a:ea typeface="Calibri"/>
                <a:cs typeface="Calibri"/>
                <a:sym typeface="Calibri"/>
              </a:rPr>
              <a:t>Why: Clear next steps or a summary at the end of your message ensures that both you and the recipient know what comes next.</a:t>
            </a:r>
            <a:endParaRPr/>
          </a:p>
          <a:p>
            <a:pPr marL="158750" lvl="0" indent="0" algn="l" rtl="0">
              <a:lnSpc>
                <a:spcPct val="100000"/>
              </a:lnSpc>
              <a:spcBef>
                <a:spcPts val="0"/>
              </a:spcBef>
              <a:spcAft>
                <a:spcPts val="0"/>
              </a:spcAft>
              <a:buSzPts val="1100"/>
              <a:buNone/>
            </a:pPr>
            <a:r>
              <a:rPr lang="en-US">
                <a:latin typeface="Calibri"/>
                <a:ea typeface="Calibri"/>
                <a:cs typeface="Calibri"/>
                <a:sym typeface="Calibri"/>
              </a:rPr>
              <a:t>How: Include phrases like, “Please confirm,” “Let me know if you have any questions,” or “Looking forward to your feedback.”</a:t>
            </a:r>
            <a:endParaRPr/>
          </a:p>
          <a:p>
            <a:pPr marL="158750" lvl="0" indent="0" algn="l" rtl="0">
              <a:lnSpc>
                <a:spcPct val="100000"/>
              </a:lnSpc>
              <a:spcBef>
                <a:spcPts val="0"/>
              </a:spcBef>
              <a:spcAft>
                <a:spcPts val="0"/>
              </a:spcAft>
              <a:buSzPts val="1100"/>
              <a:buNone/>
            </a:pPr>
            <a:endParaRPr>
              <a:latin typeface="Calibri"/>
              <a:ea typeface="Calibri"/>
              <a:cs typeface="Calibri"/>
              <a:sym typeface="Calibri"/>
            </a:endParaRPr>
          </a:p>
          <a:p>
            <a:pPr marL="158750" lvl="0" indent="0" algn="l" rtl="0">
              <a:lnSpc>
                <a:spcPct val="100000"/>
              </a:lnSpc>
              <a:spcBef>
                <a:spcPts val="0"/>
              </a:spcBef>
              <a:spcAft>
                <a:spcPts val="0"/>
              </a:spcAft>
              <a:buSzPts val="1100"/>
              <a:buNone/>
            </a:pPr>
            <a:endParaRPr b="1">
              <a:latin typeface="Calibri"/>
              <a:ea typeface="Calibri"/>
              <a:cs typeface="Calibri"/>
              <a:sym typeface="Calibri"/>
            </a:endParaRPr>
          </a:p>
          <a:p>
            <a:pPr marL="158750" lvl="0" indent="0" algn="l" rtl="0">
              <a:lnSpc>
                <a:spcPct val="100000"/>
              </a:lnSpc>
              <a:spcBef>
                <a:spcPts val="0"/>
              </a:spcBef>
              <a:spcAft>
                <a:spcPts val="0"/>
              </a:spcAft>
              <a:buSzPts val="1100"/>
              <a:buNone/>
            </a:pPr>
            <a:r>
              <a:rPr lang="en-US" b="1">
                <a:latin typeface="Calibri"/>
                <a:ea typeface="Calibri"/>
                <a:cs typeface="Calibri"/>
                <a:sym typeface="Calibri"/>
              </a:rPr>
              <a:t>Why Responding to Digital Messages is Important</a:t>
            </a:r>
            <a:endParaRPr/>
          </a:p>
          <a:p>
            <a:pPr marL="158750" lvl="0" indent="0" algn="l" rtl="0">
              <a:lnSpc>
                <a:spcPct val="100000"/>
              </a:lnSpc>
              <a:spcBef>
                <a:spcPts val="0"/>
              </a:spcBef>
              <a:spcAft>
                <a:spcPts val="0"/>
              </a:spcAft>
              <a:buSzPts val="1100"/>
              <a:buNone/>
            </a:pPr>
            <a:endParaRPr b="1">
              <a:latin typeface="Calibri"/>
              <a:ea typeface="Calibri"/>
              <a:cs typeface="Calibri"/>
              <a:sym typeface="Calibri"/>
            </a:endParaRPr>
          </a:p>
          <a:p>
            <a:pPr marL="158750" lvl="0" indent="0" algn="l" rtl="0">
              <a:lnSpc>
                <a:spcPct val="100000"/>
              </a:lnSpc>
              <a:spcBef>
                <a:spcPts val="0"/>
              </a:spcBef>
              <a:spcAft>
                <a:spcPts val="0"/>
              </a:spcAft>
              <a:buSzPts val="1100"/>
              <a:buNone/>
            </a:pPr>
            <a:r>
              <a:rPr lang="en-US" b="1">
                <a:latin typeface="Calibri"/>
                <a:ea typeface="Calibri"/>
                <a:cs typeface="Calibri"/>
                <a:sym typeface="Calibri"/>
              </a:rPr>
              <a:t>1. Maintains Professionalism:</a:t>
            </a:r>
            <a:endParaRPr>
              <a:latin typeface="Calibri"/>
              <a:ea typeface="Calibri"/>
              <a:cs typeface="Calibri"/>
              <a:sym typeface="Calibri"/>
            </a:endParaRPr>
          </a:p>
          <a:p>
            <a:pPr marL="158750" lvl="0" indent="0" algn="l" rtl="0">
              <a:lnSpc>
                <a:spcPct val="100000"/>
              </a:lnSpc>
              <a:spcBef>
                <a:spcPts val="0"/>
              </a:spcBef>
              <a:spcAft>
                <a:spcPts val="0"/>
              </a:spcAft>
              <a:buSzPts val="1100"/>
              <a:buNone/>
            </a:pPr>
            <a:r>
              <a:rPr lang="en-US">
                <a:latin typeface="Calibri"/>
                <a:ea typeface="Calibri"/>
                <a:cs typeface="Calibri"/>
                <a:sym typeface="Calibri"/>
              </a:rPr>
              <a:t>Why: Responding in a timely and appropriate manner reflects well on your professionalism and reliability.</a:t>
            </a:r>
            <a:endParaRPr/>
          </a:p>
          <a:p>
            <a:pPr marL="158750" lvl="0" indent="0" algn="l" rtl="0">
              <a:lnSpc>
                <a:spcPct val="100000"/>
              </a:lnSpc>
              <a:spcBef>
                <a:spcPts val="0"/>
              </a:spcBef>
              <a:spcAft>
                <a:spcPts val="0"/>
              </a:spcAft>
              <a:buSzPts val="1100"/>
              <a:buNone/>
            </a:pPr>
            <a:r>
              <a:rPr lang="en-US">
                <a:latin typeface="Calibri"/>
                <a:ea typeface="Calibri"/>
                <a:cs typeface="Calibri"/>
                <a:sym typeface="Calibri"/>
              </a:rPr>
              <a:t>How: Regularly check your messages and prioritize responses based on urgency and importance.</a:t>
            </a:r>
            <a:endParaRPr/>
          </a:p>
          <a:p>
            <a:pPr marL="158750" lvl="0" indent="0" algn="l" rtl="0">
              <a:lnSpc>
                <a:spcPct val="100000"/>
              </a:lnSpc>
              <a:spcBef>
                <a:spcPts val="0"/>
              </a:spcBef>
              <a:spcAft>
                <a:spcPts val="0"/>
              </a:spcAft>
              <a:buSzPts val="1100"/>
              <a:buNone/>
            </a:pPr>
            <a:endParaRPr>
              <a:latin typeface="Calibri"/>
              <a:ea typeface="Calibri"/>
              <a:cs typeface="Calibri"/>
              <a:sym typeface="Calibri"/>
            </a:endParaRPr>
          </a:p>
          <a:p>
            <a:pPr marL="158750" lvl="0" indent="0" algn="l" rtl="0">
              <a:lnSpc>
                <a:spcPct val="100000"/>
              </a:lnSpc>
              <a:spcBef>
                <a:spcPts val="0"/>
              </a:spcBef>
              <a:spcAft>
                <a:spcPts val="0"/>
              </a:spcAft>
              <a:buSzPts val="1100"/>
              <a:buNone/>
            </a:pPr>
            <a:r>
              <a:rPr lang="en-US" b="1">
                <a:latin typeface="Calibri"/>
                <a:ea typeface="Calibri"/>
                <a:cs typeface="Calibri"/>
                <a:sym typeface="Calibri"/>
              </a:rPr>
              <a:t>2. Fosters Clear Communication:</a:t>
            </a:r>
            <a:endParaRPr/>
          </a:p>
          <a:p>
            <a:pPr marL="158750" lvl="0" indent="0" algn="l" rtl="0">
              <a:lnSpc>
                <a:spcPct val="100000"/>
              </a:lnSpc>
              <a:spcBef>
                <a:spcPts val="0"/>
              </a:spcBef>
              <a:spcAft>
                <a:spcPts val="0"/>
              </a:spcAft>
              <a:buSzPts val="1100"/>
              <a:buNone/>
            </a:pPr>
            <a:r>
              <a:rPr lang="en-US">
                <a:latin typeface="Calibri"/>
                <a:ea typeface="Calibri"/>
                <a:cs typeface="Calibri"/>
                <a:sym typeface="Calibri"/>
              </a:rPr>
              <a:t>Why: Regular and clear communication prevents misunderstandings, builds trust, and facilitates smooth collaboration.</a:t>
            </a:r>
            <a:endParaRPr/>
          </a:p>
          <a:p>
            <a:pPr marL="158750" lvl="0" indent="0" algn="l" rtl="0">
              <a:lnSpc>
                <a:spcPct val="100000"/>
              </a:lnSpc>
              <a:spcBef>
                <a:spcPts val="0"/>
              </a:spcBef>
              <a:spcAft>
                <a:spcPts val="0"/>
              </a:spcAft>
              <a:buSzPts val="1100"/>
              <a:buNone/>
            </a:pPr>
            <a:r>
              <a:rPr lang="en-US">
                <a:latin typeface="Calibri"/>
                <a:ea typeface="Calibri"/>
                <a:cs typeface="Calibri"/>
                <a:sym typeface="Calibri"/>
              </a:rPr>
              <a:t>How: Always respond with clarity, even if it’s just to confirm receipt or agree on a follow-up.</a:t>
            </a:r>
            <a:endParaRPr/>
          </a:p>
          <a:p>
            <a:pPr marL="158750" lvl="0" indent="0" algn="l" rtl="0">
              <a:lnSpc>
                <a:spcPct val="100000"/>
              </a:lnSpc>
              <a:spcBef>
                <a:spcPts val="0"/>
              </a:spcBef>
              <a:spcAft>
                <a:spcPts val="0"/>
              </a:spcAft>
              <a:buSzPts val="1100"/>
              <a:buNone/>
            </a:pPr>
            <a:endParaRPr>
              <a:latin typeface="Calibri"/>
              <a:ea typeface="Calibri"/>
              <a:cs typeface="Calibri"/>
              <a:sym typeface="Calibri"/>
            </a:endParaRPr>
          </a:p>
          <a:p>
            <a:pPr marL="158750" lvl="0" indent="0" algn="l" rtl="0">
              <a:lnSpc>
                <a:spcPct val="100000"/>
              </a:lnSpc>
              <a:spcBef>
                <a:spcPts val="0"/>
              </a:spcBef>
              <a:spcAft>
                <a:spcPts val="0"/>
              </a:spcAft>
              <a:buSzPts val="1100"/>
              <a:buNone/>
            </a:pPr>
            <a:r>
              <a:rPr lang="en-US" b="1">
                <a:latin typeface="Calibri"/>
                <a:ea typeface="Calibri"/>
                <a:cs typeface="Calibri"/>
                <a:sym typeface="Calibri"/>
              </a:rPr>
              <a:t>3. Builds Relationships:</a:t>
            </a:r>
            <a:endParaRPr>
              <a:latin typeface="Calibri"/>
              <a:ea typeface="Calibri"/>
              <a:cs typeface="Calibri"/>
              <a:sym typeface="Calibri"/>
            </a:endParaRPr>
          </a:p>
          <a:p>
            <a:pPr marL="158750" lvl="0" indent="0" algn="l" rtl="0">
              <a:lnSpc>
                <a:spcPct val="100000"/>
              </a:lnSpc>
              <a:spcBef>
                <a:spcPts val="0"/>
              </a:spcBef>
              <a:spcAft>
                <a:spcPts val="0"/>
              </a:spcAft>
              <a:buSzPts val="1100"/>
              <a:buNone/>
            </a:pPr>
            <a:r>
              <a:rPr lang="en-US">
                <a:latin typeface="Calibri"/>
                <a:ea typeface="Calibri"/>
                <a:cs typeface="Calibri"/>
                <a:sym typeface="Calibri"/>
              </a:rPr>
              <a:t>Why: Consistent and thoughtful communication helps strengthen professional and personal relationships.</a:t>
            </a:r>
            <a:endParaRPr/>
          </a:p>
          <a:p>
            <a:pPr marL="158750" lvl="0" indent="0" algn="l" rtl="0">
              <a:lnSpc>
                <a:spcPct val="100000"/>
              </a:lnSpc>
              <a:spcBef>
                <a:spcPts val="0"/>
              </a:spcBef>
              <a:spcAft>
                <a:spcPts val="0"/>
              </a:spcAft>
              <a:buSzPts val="1100"/>
              <a:buNone/>
            </a:pPr>
            <a:r>
              <a:rPr lang="en-US">
                <a:latin typeface="Calibri"/>
                <a:ea typeface="Calibri"/>
                <a:cs typeface="Calibri"/>
                <a:sym typeface="Calibri"/>
              </a:rPr>
              <a:t>How: Show appreciation for messages, respond to inquiries thoughtfully, and offer help when needed.</a:t>
            </a:r>
            <a:endParaRPr/>
          </a:p>
          <a:p>
            <a:pPr marL="158750" lvl="0" indent="0" algn="l" rtl="0">
              <a:lnSpc>
                <a:spcPct val="100000"/>
              </a:lnSpc>
              <a:spcBef>
                <a:spcPts val="0"/>
              </a:spcBef>
              <a:spcAft>
                <a:spcPts val="0"/>
              </a:spcAft>
              <a:buSzPts val="1100"/>
              <a:buNone/>
            </a:pPr>
            <a:endParaRPr>
              <a:latin typeface="Calibri"/>
              <a:ea typeface="Calibri"/>
              <a:cs typeface="Calibri"/>
              <a:sym typeface="Calibri"/>
            </a:endParaRPr>
          </a:p>
          <a:p>
            <a:pPr marL="158750" lvl="0" indent="0" algn="l" rtl="0">
              <a:lnSpc>
                <a:spcPct val="100000"/>
              </a:lnSpc>
              <a:spcBef>
                <a:spcPts val="0"/>
              </a:spcBef>
              <a:spcAft>
                <a:spcPts val="0"/>
              </a:spcAft>
              <a:buSzPts val="1100"/>
              <a:buNone/>
            </a:pPr>
            <a:r>
              <a:rPr lang="en-US" b="1">
                <a:latin typeface="Calibri"/>
                <a:ea typeface="Calibri"/>
                <a:cs typeface="Calibri"/>
                <a:sym typeface="Calibri"/>
              </a:rPr>
              <a:t>4. Demonstrates Respect:</a:t>
            </a:r>
            <a:endParaRPr/>
          </a:p>
          <a:p>
            <a:pPr marL="158750" lvl="0" indent="0" algn="l" rtl="0">
              <a:lnSpc>
                <a:spcPct val="100000"/>
              </a:lnSpc>
              <a:spcBef>
                <a:spcPts val="0"/>
              </a:spcBef>
              <a:spcAft>
                <a:spcPts val="0"/>
              </a:spcAft>
              <a:buSzPts val="1100"/>
              <a:buNone/>
            </a:pPr>
            <a:r>
              <a:rPr lang="en-US">
                <a:latin typeface="Calibri"/>
                <a:ea typeface="Calibri"/>
                <a:cs typeface="Calibri"/>
                <a:sym typeface="Calibri"/>
              </a:rPr>
              <a:t>Why: Responding to messages shows respect for the sender’s time and effort, reinforcing mutual respect in communication.</a:t>
            </a:r>
            <a:endParaRPr/>
          </a:p>
          <a:p>
            <a:pPr marL="158750" lvl="0" indent="0" algn="l" rtl="0">
              <a:lnSpc>
                <a:spcPct val="100000"/>
              </a:lnSpc>
              <a:spcBef>
                <a:spcPts val="0"/>
              </a:spcBef>
              <a:spcAft>
                <a:spcPts val="0"/>
              </a:spcAft>
              <a:buSzPts val="1100"/>
              <a:buNone/>
            </a:pPr>
            <a:r>
              <a:rPr lang="en-US">
                <a:latin typeface="Calibri"/>
                <a:ea typeface="Calibri"/>
                <a:cs typeface="Calibri"/>
                <a:sym typeface="Calibri"/>
              </a:rPr>
              <a:t>How: Even if the message doesn’t require a detailed response, a quick acknowledgment shows that you value the communication.</a:t>
            </a:r>
            <a:endParaRPr/>
          </a:p>
          <a:p>
            <a:pPr marL="158750" lvl="0" indent="0" algn="l" rtl="0">
              <a:lnSpc>
                <a:spcPct val="100000"/>
              </a:lnSpc>
              <a:spcBef>
                <a:spcPts val="0"/>
              </a:spcBef>
              <a:spcAft>
                <a:spcPts val="0"/>
              </a:spcAft>
              <a:buSzPts val="1100"/>
              <a:buNone/>
            </a:pPr>
            <a:endParaRPr>
              <a:latin typeface="Calibri"/>
              <a:ea typeface="Calibri"/>
              <a:cs typeface="Calibri"/>
              <a:sym typeface="Calibri"/>
            </a:endParaRPr>
          </a:p>
          <a:p>
            <a:pPr marL="158750" lvl="0" indent="0" algn="l" rtl="0">
              <a:lnSpc>
                <a:spcPct val="100000"/>
              </a:lnSpc>
              <a:spcBef>
                <a:spcPts val="0"/>
              </a:spcBef>
              <a:spcAft>
                <a:spcPts val="0"/>
              </a:spcAft>
              <a:buSzPts val="1100"/>
              <a:buNone/>
            </a:pPr>
            <a:r>
              <a:rPr lang="en-US" b="1">
                <a:latin typeface="Calibri"/>
                <a:ea typeface="Calibri"/>
                <a:cs typeface="Calibri"/>
                <a:sym typeface="Calibri"/>
              </a:rPr>
              <a:t>5. Ensures Efficiency:</a:t>
            </a:r>
            <a:endParaRPr/>
          </a:p>
          <a:p>
            <a:pPr marL="158750" lvl="0" indent="0" algn="l" rtl="0">
              <a:lnSpc>
                <a:spcPct val="100000"/>
              </a:lnSpc>
              <a:spcBef>
                <a:spcPts val="0"/>
              </a:spcBef>
              <a:spcAft>
                <a:spcPts val="0"/>
              </a:spcAft>
              <a:buSzPts val="1100"/>
              <a:buNone/>
            </a:pPr>
            <a:r>
              <a:rPr lang="en-US">
                <a:latin typeface="Calibri"/>
                <a:ea typeface="Calibri"/>
                <a:cs typeface="Calibri"/>
                <a:sym typeface="Calibri"/>
              </a:rPr>
              <a:t>Why: Quick and effective responses help keep projects and conversations moving forward, avoiding delays.</a:t>
            </a:r>
            <a:endParaRPr/>
          </a:p>
          <a:p>
            <a:pPr marL="158750" lvl="0" indent="0" algn="l" rtl="0">
              <a:lnSpc>
                <a:spcPct val="100000"/>
              </a:lnSpc>
              <a:spcBef>
                <a:spcPts val="0"/>
              </a:spcBef>
              <a:spcAft>
                <a:spcPts val="0"/>
              </a:spcAft>
              <a:buSzPts val="1100"/>
              <a:buNone/>
            </a:pPr>
            <a:r>
              <a:rPr lang="en-US">
                <a:latin typeface="Calibri"/>
                <a:ea typeface="Calibri"/>
                <a:cs typeface="Calibri"/>
                <a:sym typeface="Calibri"/>
              </a:rPr>
              <a:t>How: Prioritize messages based on deadlines, importance, and the sender’s expectations.</a:t>
            </a:r>
            <a:endParaRPr/>
          </a:p>
          <a:p>
            <a:pPr marL="158750" lvl="0" indent="0" algn="l" rtl="0">
              <a:lnSpc>
                <a:spcPct val="100000"/>
              </a:lnSpc>
              <a:spcBef>
                <a:spcPts val="0"/>
              </a:spcBef>
              <a:spcAft>
                <a:spcPts val="0"/>
              </a:spcAft>
              <a:buSzPts val="1100"/>
              <a:buNone/>
            </a:pPr>
            <a:endParaRPr>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3:notes"/>
          <p:cNvSpPr txBox="1">
            <a:spLocks noGrp="1"/>
          </p:cNvSpPr>
          <p:nvPr>
            <p:ph type="body" idx="1"/>
          </p:nvPr>
        </p:nvSpPr>
        <p:spPr>
          <a:xfrm>
            <a:off x="992650" y="3228875"/>
            <a:ext cx="7941300" cy="3058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3: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4:notes"/>
          <p:cNvSpPr txBox="1">
            <a:spLocks noGrp="1"/>
          </p:cNvSpPr>
          <p:nvPr>
            <p:ph type="body" idx="1"/>
          </p:nvPr>
        </p:nvSpPr>
        <p:spPr>
          <a:xfrm>
            <a:off x="992650" y="3228875"/>
            <a:ext cx="7941300" cy="3058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4:notes"/>
          <p:cNvSpPr>
            <a:spLocks noGrp="1" noRot="1" noChangeAspect="1"/>
          </p:cNvSpPr>
          <p:nvPr>
            <p:ph type="sldImg" idx="2"/>
          </p:nvPr>
        </p:nvSpPr>
        <p:spPr>
          <a:xfrm>
            <a:off x="1654750" y="509825"/>
            <a:ext cx="6618075" cy="25491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22:notes"/>
          <p:cNvSpPr>
            <a:spLocks noGrp="1" noRot="1" noChangeAspect="1"/>
          </p:cNvSpPr>
          <p:nvPr>
            <p:ph type="sldImg" idx="2"/>
          </p:nvPr>
        </p:nvSpPr>
        <p:spPr>
          <a:xfrm>
            <a:off x="2687638"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2" name="Google Shape;212;p22:notes"/>
          <p:cNvSpPr txBox="1">
            <a:spLocks noGrp="1"/>
          </p:cNvSpPr>
          <p:nvPr>
            <p:ph type="body" idx="1"/>
          </p:nvPr>
        </p:nvSpPr>
        <p:spPr>
          <a:xfrm>
            <a:off x="992650" y="3228875"/>
            <a:ext cx="7941300" cy="3058950"/>
          </a:xfrm>
          <a:prstGeom prst="rect">
            <a:avLst/>
          </a:prstGeom>
          <a:noFill/>
          <a:ln>
            <a:noFill/>
          </a:ln>
        </p:spPr>
        <p:txBody>
          <a:bodyPr spcFirstLastPara="1" wrap="square" lIns="91425" tIns="91425" rIns="91425" bIns="91425" anchor="t" anchorCtr="0">
            <a:noAutofit/>
          </a:bodyPr>
          <a:lstStyle/>
          <a:p>
            <a:pPr marL="159512" lvl="0" indent="0" algn="l" rtl="0">
              <a:lnSpc>
                <a:spcPct val="100000"/>
              </a:lnSpc>
              <a:spcBef>
                <a:spcPts val="0"/>
              </a:spcBef>
              <a:spcAft>
                <a:spcPts val="0"/>
              </a:spcAft>
              <a:buSzPts val="1100"/>
              <a:buNone/>
            </a:pPr>
            <a:r>
              <a:rPr lang="en-US" b="1" dirty="0"/>
              <a:t>Accuracy in Business Writing</a:t>
            </a:r>
            <a:endParaRPr dirty="0"/>
          </a:p>
          <a:p>
            <a:pPr marL="159512" lvl="0" indent="0" algn="l" rtl="0">
              <a:lnSpc>
                <a:spcPct val="100000"/>
              </a:lnSpc>
              <a:spcBef>
                <a:spcPts val="0"/>
              </a:spcBef>
              <a:spcAft>
                <a:spcPts val="0"/>
              </a:spcAft>
              <a:buSzPts val="1100"/>
              <a:buNone/>
            </a:pPr>
            <a:r>
              <a:rPr lang="en-US" dirty="0"/>
              <a:t>Ensuring that information is correct, precise, and free of errors. </a:t>
            </a:r>
            <a:endParaRPr dirty="0"/>
          </a:p>
          <a:p>
            <a:pPr marL="159512" lvl="0" indent="0" algn="l" rtl="0">
              <a:lnSpc>
                <a:spcPct val="100000"/>
              </a:lnSpc>
              <a:spcBef>
                <a:spcPts val="0"/>
              </a:spcBef>
              <a:spcAft>
                <a:spcPts val="0"/>
              </a:spcAft>
              <a:buSzPts val="1100"/>
              <a:buNone/>
            </a:pPr>
            <a:endParaRPr dirty="0"/>
          </a:p>
          <a:p>
            <a:pPr marL="159512" lvl="0" indent="0" algn="l" rtl="0">
              <a:lnSpc>
                <a:spcPct val="100000"/>
              </a:lnSpc>
              <a:spcBef>
                <a:spcPts val="0"/>
              </a:spcBef>
              <a:spcAft>
                <a:spcPts val="0"/>
              </a:spcAft>
              <a:buSzPts val="1100"/>
              <a:buNone/>
            </a:pPr>
            <a:r>
              <a:rPr lang="en-US" dirty="0"/>
              <a:t>This is crucial because:</a:t>
            </a:r>
            <a:endParaRPr dirty="0"/>
          </a:p>
          <a:p>
            <a:pPr marL="457200" lvl="0" indent="-298450" algn="l" rtl="0">
              <a:lnSpc>
                <a:spcPct val="100000"/>
              </a:lnSpc>
              <a:spcBef>
                <a:spcPts val="0"/>
              </a:spcBef>
              <a:spcAft>
                <a:spcPts val="0"/>
              </a:spcAft>
              <a:buSzPts val="1100"/>
              <a:buChar char="●"/>
            </a:pPr>
            <a:r>
              <a:rPr lang="en-US" dirty="0"/>
              <a:t>Professionalism: Accurate writing reflects well on the writer and the organization, showing attention to detail and care in communication.</a:t>
            </a:r>
            <a:endParaRPr dirty="0"/>
          </a:p>
          <a:p>
            <a:pPr marL="457200" lvl="0" indent="-298450" algn="l" rtl="0">
              <a:lnSpc>
                <a:spcPct val="100000"/>
              </a:lnSpc>
              <a:spcBef>
                <a:spcPts val="0"/>
              </a:spcBef>
              <a:spcAft>
                <a:spcPts val="0"/>
              </a:spcAft>
              <a:buSzPts val="1100"/>
              <a:buChar char="●"/>
            </a:pPr>
            <a:r>
              <a:rPr lang="en-US" dirty="0"/>
              <a:t>Clarity: Accurate information prevents misunderstandings and ensures that the message is clear and unambiguous.</a:t>
            </a:r>
            <a:endParaRPr dirty="0"/>
          </a:p>
          <a:p>
            <a:pPr marL="457200" lvl="0" indent="-298450" algn="l" rtl="0">
              <a:lnSpc>
                <a:spcPct val="100000"/>
              </a:lnSpc>
              <a:spcBef>
                <a:spcPts val="0"/>
              </a:spcBef>
              <a:spcAft>
                <a:spcPts val="0"/>
              </a:spcAft>
              <a:buSzPts val="1100"/>
              <a:buChar char="●"/>
            </a:pPr>
            <a:r>
              <a:rPr lang="en-US" dirty="0"/>
              <a:t>Trust: Maintaining accuracy builds trust with clients, colleagues, and stakeholders, as they can rely on the information provided.</a:t>
            </a:r>
            <a:endParaRPr dirty="0"/>
          </a:p>
          <a:p>
            <a:pPr marL="457200" lvl="0" indent="-298450" algn="l" rtl="0">
              <a:lnSpc>
                <a:spcPct val="100000"/>
              </a:lnSpc>
              <a:spcBef>
                <a:spcPts val="0"/>
              </a:spcBef>
              <a:spcAft>
                <a:spcPts val="0"/>
              </a:spcAft>
              <a:buSzPts val="1100"/>
              <a:buChar char="●"/>
            </a:pPr>
            <a:r>
              <a:rPr lang="en-US" dirty="0"/>
              <a:t>Efficiency: Reduces the need for follow-up questions or corrections, saving time and resources.</a:t>
            </a:r>
            <a:endParaRPr dirty="0"/>
          </a:p>
          <a:p>
            <a:pPr marL="457200" lvl="0" indent="-298450" algn="l" rtl="0">
              <a:lnSpc>
                <a:spcPct val="100000"/>
              </a:lnSpc>
              <a:spcBef>
                <a:spcPts val="0"/>
              </a:spcBef>
              <a:spcAft>
                <a:spcPts val="0"/>
              </a:spcAft>
              <a:buSzPts val="1100"/>
              <a:buChar char="●"/>
            </a:pPr>
            <a:r>
              <a:rPr lang="en-US" dirty="0"/>
              <a:t>Legal Compliance: Ensures that all communications comply with legal and regulatory requirements, minimizing risks of legal issues.</a:t>
            </a:r>
            <a:endParaRPr dirty="0"/>
          </a:p>
          <a:p>
            <a:pPr marL="457200" lvl="0" indent="-298450" algn="l" rtl="0">
              <a:lnSpc>
                <a:spcPct val="100000"/>
              </a:lnSpc>
              <a:spcBef>
                <a:spcPts val="0"/>
              </a:spcBef>
              <a:spcAft>
                <a:spcPts val="0"/>
              </a:spcAft>
              <a:buSzPts val="1100"/>
              <a:buChar char="●"/>
            </a:pPr>
            <a:r>
              <a:rPr lang="en-US" dirty="0"/>
              <a:t>Reputation: Protects and enhances the reputation of the business by demonstrating reliability and competence.</a:t>
            </a:r>
            <a:endParaRPr dirty="0"/>
          </a:p>
          <a:p>
            <a:pPr marL="457200" lvl="0" indent="-298450" algn="l" rtl="0">
              <a:lnSpc>
                <a:spcPct val="100000"/>
              </a:lnSpc>
              <a:spcBef>
                <a:spcPts val="0"/>
              </a:spcBef>
              <a:spcAft>
                <a:spcPts val="0"/>
              </a:spcAft>
              <a:buSzPts val="1100"/>
              <a:buChar char="●"/>
            </a:pPr>
            <a:r>
              <a:rPr lang="en-US" dirty="0"/>
              <a:t>Decision Making: Provides a solid foundation for making informed business decisions based on accurate and reliable information.</a:t>
            </a:r>
            <a:endParaRPr dirty="0"/>
          </a:p>
          <a:p>
            <a:pPr marL="159512" lvl="0" indent="0" algn="l" rtl="0">
              <a:lnSpc>
                <a:spcPct val="100000"/>
              </a:lnSpc>
              <a:spcBef>
                <a:spcPts val="0"/>
              </a:spcBef>
              <a:spcAft>
                <a:spcPts val="0"/>
              </a:spcAft>
              <a:buSzPts val="1100"/>
              <a:buNone/>
            </a:pPr>
            <a:endParaRPr dirty="0"/>
          </a:p>
          <a:p>
            <a:pPr marL="159512" lvl="0" indent="0" algn="l" rtl="0">
              <a:lnSpc>
                <a:spcPct val="100000"/>
              </a:lnSpc>
              <a:spcBef>
                <a:spcPts val="0"/>
              </a:spcBef>
              <a:spcAft>
                <a:spcPts val="0"/>
              </a:spcAft>
              <a:buSzPts val="1100"/>
              <a:buNone/>
            </a:pPr>
            <a:r>
              <a:rPr lang="en-US" dirty="0"/>
              <a:t>Inaccuracies can lead to costly mistakes, misunderstandings, and damage to relationships and the organization's reputation.</a:t>
            </a:r>
            <a:endParaRPr dirty="0"/>
          </a:p>
        </p:txBody>
      </p:sp>
    </p:spTree>
    <p:extLst>
      <p:ext uri="{BB962C8B-B14F-4D97-AF65-F5344CB8AC3E}">
        <p14:creationId xmlns:p14="http://schemas.microsoft.com/office/powerpoint/2010/main" val="35469051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23:notes"/>
          <p:cNvSpPr>
            <a:spLocks noGrp="1" noRot="1" noChangeAspect="1"/>
          </p:cNvSpPr>
          <p:nvPr>
            <p:ph type="sldImg" idx="2"/>
          </p:nvPr>
        </p:nvSpPr>
        <p:spPr>
          <a:xfrm>
            <a:off x="2687638"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8" name="Google Shape;218;p23:notes"/>
          <p:cNvSpPr txBox="1">
            <a:spLocks noGrp="1"/>
          </p:cNvSpPr>
          <p:nvPr>
            <p:ph type="body" idx="1"/>
          </p:nvPr>
        </p:nvSpPr>
        <p:spPr>
          <a:xfrm>
            <a:off x="992650" y="3228875"/>
            <a:ext cx="7941300" cy="305895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a:t>Proofreading: Carefully review the text for spelling, grammar, punctuation, and formatting errors. Use tools like spell checkers and grammar checkers, but also manually proofread to catch mistakes these tools might miss.</a:t>
            </a:r>
            <a:endParaRPr/>
          </a:p>
          <a:p>
            <a:pPr marL="457200" lvl="0" indent="-228600" algn="l" rtl="0">
              <a:lnSpc>
                <a:spcPct val="100000"/>
              </a:lnSpc>
              <a:spcBef>
                <a:spcPts val="0"/>
              </a:spcBef>
              <a:spcAft>
                <a:spcPts val="0"/>
              </a:spcAft>
              <a:buSzPts val="1100"/>
              <a:buNone/>
            </a:pPr>
            <a:endParaRPr/>
          </a:p>
          <a:p>
            <a:pPr marL="457200" lvl="0" indent="-298450" algn="l" rtl="0">
              <a:lnSpc>
                <a:spcPct val="100000"/>
              </a:lnSpc>
              <a:spcBef>
                <a:spcPts val="0"/>
              </a:spcBef>
              <a:spcAft>
                <a:spcPts val="0"/>
              </a:spcAft>
              <a:buSzPts val="1100"/>
              <a:buChar char="●"/>
            </a:pPr>
            <a:r>
              <a:rPr lang="en-US"/>
              <a:t>Use Reference Materials: Keep a dictionary, thesaurus, and grammar guide handy to check for correct word usage and grammatical structures. Reliable online resources can also be helpful.</a:t>
            </a:r>
            <a:endParaRPr/>
          </a:p>
          <a:p>
            <a:pPr marL="457200" lvl="0" indent="-228600" algn="l" rtl="0">
              <a:lnSpc>
                <a:spcPct val="100000"/>
              </a:lnSpc>
              <a:spcBef>
                <a:spcPts val="0"/>
              </a:spcBef>
              <a:spcAft>
                <a:spcPts val="0"/>
              </a:spcAft>
              <a:buSzPts val="1100"/>
              <a:buNone/>
            </a:pPr>
            <a:endParaRPr/>
          </a:p>
          <a:p>
            <a:pPr marL="457200" lvl="0" indent="-298450" algn="l" rtl="0">
              <a:lnSpc>
                <a:spcPct val="100000"/>
              </a:lnSpc>
              <a:spcBef>
                <a:spcPts val="0"/>
              </a:spcBef>
              <a:spcAft>
                <a:spcPts val="0"/>
              </a:spcAft>
              <a:buSzPts val="1100"/>
              <a:buChar char="●"/>
            </a:pPr>
            <a:r>
              <a:rPr lang="en-US"/>
              <a:t>Practice Formal Writing: Regularly practice writing formal emails, reports, and letters. Pay attention to structure, tone, and vocabulary. Seeking feedback from teachers or native speakers can be beneficial.</a:t>
            </a:r>
            <a:endParaRPr/>
          </a:p>
          <a:p>
            <a:pPr marL="457200" lvl="0" indent="-228600" algn="l" rtl="0">
              <a:lnSpc>
                <a:spcPct val="100000"/>
              </a:lnSpc>
              <a:spcBef>
                <a:spcPts val="0"/>
              </a:spcBef>
              <a:spcAft>
                <a:spcPts val="0"/>
              </a:spcAft>
              <a:buSzPts val="1100"/>
              <a:buNone/>
            </a:pPr>
            <a:endParaRPr/>
          </a:p>
          <a:p>
            <a:pPr marL="457200" lvl="0" indent="-298450" algn="l" rtl="0">
              <a:lnSpc>
                <a:spcPct val="100000"/>
              </a:lnSpc>
              <a:spcBef>
                <a:spcPts val="0"/>
              </a:spcBef>
              <a:spcAft>
                <a:spcPts val="0"/>
              </a:spcAft>
              <a:buSzPts val="1100"/>
              <a:buChar char="●"/>
            </a:pPr>
            <a:r>
              <a:rPr lang="en-US"/>
              <a:t>Plan and Outline: Before writing, plan and outline your content. Organize your ideas logically, and ensure each point is clear and supported. This helps in creating a coherent and accurate piece of writing.</a:t>
            </a:r>
            <a:endParaRPr/>
          </a:p>
        </p:txBody>
      </p:sp>
    </p:spTree>
    <p:extLst>
      <p:ext uri="{BB962C8B-B14F-4D97-AF65-F5344CB8AC3E}">
        <p14:creationId xmlns:p14="http://schemas.microsoft.com/office/powerpoint/2010/main" val="17981823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24:notes"/>
          <p:cNvSpPr>
            <a:spLocks noGrp="1" noRot="1" noChangeAspect="1"/>
          </p:cNvSpPr>
          <p:nvPr>
            <p:ph type="sldImg" idx="2"/>
          </p:nvPr>
        </p:nvSpPr>
        <p:spPr>
          <a:xfrm>
            <a:off x="2687638"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4" name="Google Shape;224;p24:notes"/>
          <p:cNvSpPr txBox="1">
            <a:spLocks noGrp="1"/>
          </p:cNvSpPr>
          <p:nvPr>
            <p:ph type="body" idx="1"/>
          </p:nvPr>
        </p:nvSpPr>
        <p:spPr>
          <a:xfrm>
            <a:off x="992650" y="3228875"/>
            <a:ext cx="7941300" cy="3058950"/>
          </a:xfrm>
          <a:prstGeom prst="rect">
            <a:avLst/>
          </a:prstGeom>
          <a:noFill/>
          <a:ln>
            <a:noFill/>
          </a:ln>
        </p:spPr>
        <p:txBody>
          <a:bodyPr spcFirstLastPara="1" wrap="square" lIns="91425" tIns="91425" rIns="91425" bIns="91425" anchor="t" anchorCtr="0">
            <a:noAutofit/>
          </a:bodyPr>
          <a:lstStyle/>
          <a:p>
            <a:pPr marL="159512" lvl="0" indent="0" algn="l" rtl="0">
              <a:lnSpc>
                <a:spcPct val="100000"/>
              </a:lnSpc>
              <a:spcBef>
                <a:spcPts val="0"/>
              </a:spcBef>
              <a:spcAft>
                <a:spcPts val="0"/>
              </a:spcAft>
              <a:buSzPts val="1100"/>
              <a:buNone/>
            </a:pPr>
            <a:r>
              <a:rPr lang="en-US" b="1" dirty="0"/>
              <a:t>Select activities as necessary:</a:t>
            </a:r>
            <a:endParaRPr dirty="0"/>
          </a:p>
          <a:p>
            <a:pPr marL="159512" lvl="0" indent="0" algn="l" rtl="0">
              <a:lnSpc>
                <a:spcPct val="100000"/>
              </a:lnSpc>
              <a:spcBef>
                <a:spcPts val="0"/>
              </a:spcBef>
              <a:spcAft>
                <a:spcPts val="0"/>
              </a:spcAft>
              <a:buSzPts val="1100"/>
              <a:buNone/>
            </a:pPr>
            <a:endParaRPr dirty="0"/>
          </a:p>
          <a:p>
            <a:pPr marL="159512" lvl="0" indent="0" algn="l" rtl="0">
              <a:lnSpc>
                <a:spcPct val="100000"/>
              </a:lnSpc>
              <a:spcBef>
                <a:spcPts val="0"/>
              </a:spcBef>
              <a:spcAft>
                <a:spcPts val="0"/>
              </a:spcAft>
              <a:buSzPts val="1100"/>
              <a:buNone/>
            </a:pPr>
            <a:r>
              <a:rPr lang="en-US" dirty="0"/>
              <a:t>Email English: The Basics</a:t>
            </a:r>
            <a:endParaRPr dirty="0"/>
          </a:p>
          <a:p>
            <a:pPr marL="457200" lvl="0" indent="-298450" algn="l" rtl="0">
              <a:lnSpc>
                <a:spcPct val="100000"/>
              </a:lnSpc>
              <a:spcBef>
                <a:spcPts val="0"/>
              </a:spcBef>
              <a:spcAft>
                <a:spcPts val="0"/>
              </a:spcAft>
              <a:buSzPts val="1100"/>
              <a:buChar char="●"/>
            </a:pPr>
            <a:r>
              <a:rPr lang="en-US" dirty="0"/>
              <a:t>P18-19: Word Order</a:t>
            </a:r>
            <a:endParaRPr dirty="0"/>
          </a:p>
          <a:p>
            <a:pPr marL="457200" lvl="0" indent="-298450" algn="l" rtl="0">
              <a:lnSpc>
                <a:spcPct val="100000"/>
              </a:lnSpc>
              <a:spcBef>
                <a:spcPts val="0"/>
              </a:spcBef>
              <a:spcAft>
                <a:spcPts val="0"/>
              </a:spcAft>
              <a:buSzPts val="1100"/>
              <a:buChar char="●"/>
            </a:pPr>
            <a:r>
              <a:rPr lang="en-US" dirty="0"/>
              <a:t>P20-21: Verb Form</a:t>
            </a:r>
            <a:endParaRPr dirty="0"/>
          </a:p>
          <a:p>
            <a:pPr marL="457200" lvl="0" indent="-298450" algn="l" rtl="0">
              <a:lnSpc>
                <a:spcPct val="100000"/>
              </a:lnSpc>
              <a:spcBef>
                <a:spcPts val="0"/>
              </a:spcBef>
              <a:spcAft>
                <a:spcPts val="0"/>
              </a:spcAft>
              <a:buSzPts val="1100"/>
              <a:buChar char="●"/>
            </a:pPr>
            <a:r>
              <a:rPr lang="en-US" dirty="0"/>
              <a:t>P22-23: Sentence Building</a:t>
            </a:r>
            <a:endParaRPr dirty="0"/>
          </a:p>
          <a:p>
            <a:pPr marL="457200" lvl="0" indent="-298450" algn="l" rtl="0">
              <a:lnSpc>
                <a:spcPct val="100000"/>
              </a:lnSpc>
              <a:spcBef>
                <a:spcPts val="0"/>
              </a:spcBef>
              <a:spcAft>
                <a:spcPts val="0"/>
              </a:spcAft>
              <a:buSzPts val="1100"/>
              <a:buChar char="●"/>
            </a:pPr>
            <a:r>
              <a:rPr lang="en-US" dirty="0"/>
              <a:t>P24-25: Missing Words</a:t>
            </a:r>
            <a:endParaRPr dirty="0"/>
          </a:p>
          <a:p>
            <a:pPr marL="457200" lvl="0" indent="-228600" algn="l" rtl="0">
              <a:lnSpc>
                <a:spcPct val="100000"/>
              </a:lnSpc>
              <a:spcBef>
                <a:spcPts val="0"/>
              </a:spcBef>
              <a:spcAft>
                <a:spcPts val="0"/>
              </a:spcAft>
              <a:buSzPts val="1100"/>
              <a:buNone/>
            </a:pPr>
            <a:endParaRPr dirty="0"/>
          </a:p>
          <a:p>
            <a:pPr marL="159512" lvl="0" indent="0" algn="l" rtl="0">
              <a:lnSpc>
                <a:spcPct val="100000"/>
              </a:lnSpc>
              <a:spcBef>
                <a:spcPts val="0"/>
              </a:spcBef>
              <a:spcAft>
                <a:spcPts val="0"/>
              </a:spcAft>
              <a:buSzPts val="1100"/>
              <a:buNone/>
            </a:pPr>
            <a:r>
              <a:rPr lang="en-US" dirty="0"/>
              <a:t>Email English: </a:t>
            </a:r>
            <a:endParaRPr dirty="0"/>
          </a:p>
          <a:p>
            <a:pPr marL="457200" lvl="0" indent="-298450" algn="l" rtl="0">
              <a:lnSpc>
                <a:spcPct val="100000"/>
              </a:lnSpc>
              <a:spcBef>
                <a:spcPts val="0"/>
              </a:spcBef>
              <a:spcAft>
                <a:spcPts val="0"/>
              </a:spcAft>
              <a:buSzPts val="1100"/>
              <a:buChar char="●"/>
            </a:pPr>
            <a:r>
              <a:rPr lang="en-US" dirty="0"/>
              <a:t>P18-19: Checking Understanding</a:t>
            </a:r>
            <a:endParaRPr dirty="0"/>
          </a:p>
          <a:p>
            <a:pPr marL="457200" lvl="0" indent="-298450" algn="l" rtl="0">
              <a:lnSpc>
                <a:spcPct val="100000"/>
              </a:lnSpc>
              <a:spcBef>
                <a:spcPts val="0"/>
              </a:spcBef>
              <a:spcAft>
                <a:spcPts val="0"/>
              </a:spcAft>
              <a:buSzPts val="1100"/>
              <a:buChar char="●"/>
            </a:pPr>
            <a:r>
              <a:rPr lang="en-US" dirty="0"/>
              <a:t>P26-27: Common Mistakes 1</a:t>
            </a:r>
            <a:endParaRPr dirty="0"/>
          </a:p>
          <a:p>
            <a:pPr marL="457200" lvl="0" indent="-298450" algn="l" rtl="0">
              <a:lnSpc>
                <a:spcPct val="100000"/>
              </a:lnSpc>
              <a:spcBef>
                <a:spcPts val="0"/>
              </a:spcBef>
              <a:spcAft>
                <a:spcPts val="0"/>
              </a:spcAft>
              <a:buSzPts val="1100"/>
              <a:buChar char="●"/>
            </a:pPr>
            <a:r>
              <a:rPr lang="en-US" dirty="0"/>
              <a:t>P28-29: Common Mistakes 2</a:t>
            </a:r>
            <a:endParaRPr dirty="0"/>
          </a:p>
        </p:txBody>
      </p:sp>
    </p:spTree>
    <p:extLst>
      <p:ext uri="{BB962C8B-B14F-4D97-AF65-F5344CB8AC3E}">
        <p14:creationId xmlns:p14="http://schemas.microsoft.com/office/powerpoint/2010/main" val="25336581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56:notes"/>
          <p:cNvSpPr txBox="1">
            <a:spLocks noGrp="1"/>
          </p:cNvSpPr>
          <p:nvPr>
            <p:ph type="body" idx="1"/>
          </p:nvPr>
        </p:nvSpPr>
        <p:spPr>
          <a:xfrm>
            <a:off x="992650" y="3228875"/>
            <a:ext cx="7941300" cy="30589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9" name="Google Shape;319;p56: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4:notes"/>
          <p:cNvSpPr txBox="1">
            <a:spLocks noGrp="1"/>
          </p:cNvSpPr>
          <p:nvPr>
            <p:ph type="body" idx="1"/>
          </p:nvPr>
        </p:nvSpPr>
        <p:spPr>
          <a:xfrm>
            <a:off x="992650" y="3228875"/>
            <a:ext cx="7941300" cy="3058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7" name="Google Shape;307;p14: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60:notes"/>
          <p:cNvSpPr txBox="1">
            <a:spLocks noGrp="1"/>
          </p:cNvSpPr>
          <p:nvPr>
            <p:ph type="body" idx="1"/>
          </p:nvPr>
        </p:nvSpPr>
        <p:spPr>
          <a:xfrm>
            <a:off x="992650" y="3228875"/>
            <a:ext cx="7941300" cy="30589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5" name="Google Shape;325;p60: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16:notes"/>
          <p:cNvSpPr txBox="1">
            <a:spLocks noGrp="1"/>
          </p:cNvSpPr>
          <p:nvPr>
            <p:ph type="body" idx="1"/>
          </p:nvPr>
        </p:nvSpPr>
        <p:spPr>
          <a:xfrm>
            <a:off x="992650" y="3228875"/>
            <a:ext cx="7941300" cy="30589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2" name="Google Shape;332;p16: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24:notes"/>
          <p:cNvSpPr txBox="1">
            <a:spLocks noGrp="1"/>
          </p:cNvSpPr>
          <p:nvPr>
            <p:ph type="body" idx="1"/>
          </p:nvPr>
        </p:nvSpPr>
        <p:spPr>
          <a:xfrm>
            <a:off x="992650" y="3228875"/>
            <a:ext cx="7941300" cy="30589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8" name="Google Shape;338;p24:notes"/>
          <p:cNvSpPr>
            <a:spLocks noGrp="1" noRot="1" noChangeAspect="1"/>
          </p:cNvSpPr>
          <p:nvPr>
            <p:ph type="sldImg" idx="2"/>
          </p:nvPr>
        </p:nvSpPr>
        <p:spPr>
          <a:xfrm>
            <a:off x="2697163" y="509588"/>
            <a:ext cx="4532312" cy="25495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6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6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3"/>
        <p:cNvGrpSpPr/>
        <p:nvPr/>
      </p:nvGrpSpPr>
      <p:grpSpPr>
        <a:xfrm>
          <a:off x="0" y="0"/>
          <a:ext cx="0" cy="0"/>
          <a:chOff x="0" y="0"/>
          <a:chExt cx="0" cy="0"/>
        </a:xfrm>
      </p:grpSpPr>
      <p:sp>
        <p:nvSpPr>
          <p:cNvPr id="24" name="Google Shape;24;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2"/>
        <p:cNvGrpSpPr/>
        <p:nvPr/>
      </p:nvGrpSpPr>
      <p:grpSpPr>
        <a:xfrm>
          <a:off x="0" y="0"/>
          <a:ext cx="0" cy="0"/>
          <a:chOff x="0" y="0"/>
          <a:chExt cx="0" cy="0"/>
        </a:xfrm>
      </p:grpSpPr>
      <p:sp>
        <p:nvSpPr>
          <p:cNvPr id="33" name="Google Shape;33;p3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35" name="Google Shape;35;p3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6" name="Google Shape;36;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9"/>
        <p:cNvGrpSpPr/>
        <p:nvPr/>
      </p:nvGrpSpPr>
      <p:grpSpPr>
        <a:xfrm>
          <a:off x="0" y="0"/>
          <a:ext cx="0" cy="0"/>
          <a:chOff x="0" y="0"/>
          <a:chExt cx="0" cy="0"/>
        </a:xfrm>
      </p:grpSpPr>
      <p:sp>
        <p:nvSpPr>
          <p:cNvPr id="40" name="Google Shape;40;p3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4"/>
          <p:cNvSpPr>
            <a:spLocks noGrp="1"/>
          </p:cNvSpPr>
          <p:nvPr>
            <p:ph type="pic" idx="2"/>
          </p:nvPr>
        </p:nvSpPr>
        <p:spPr>
          <a:xfrm>
            <a:off x="5183188" y="987425"/>
            <a:ext cx="6172200" cy="4873625"/>
          </a:xfrm>
          <a:prstGeom prst="rect">
            <a:avLst/>
          </a:prstGeom>
          <a:noFill/>
          <a:ln>
            <a:noFill/>
          </a:ln>
        </p:spPr>
      </p:sp>
      <p:sp>
        <p:nvSpPr>
          <p:cNvPr id="42" name="Google Shape;42;p3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3" name="Google Shape;43;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6"/>
        <p:cNvGrpSpPr/>
        <p:nvPr/>
      </p:nvGrpSpPr>
      <p:grpSpPr>
        <a:xfrm>
          <a:off x="0" y="0"/>
          <a:ext cx="0" cy="0"/>
          <a:chOff x="0" y="0"/>
          <a:chExt cx="0" cy="0"/>
        </a:xfrm>
      </p:grpSpPr>
      <p:sp>
        <p:nvSpPr>
          <p:cNvPr id="47" name="Google Shape;47;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2"/>
        <p:cNvGrpSpPr/>
        <p:nvPr/>
      </p:nvGrpSpPr>
      <p:grpSpPr>
        <a:xfrm>
          <a:off x="0" y="0"/>
          <a:ext cx="0" cy="0"/>
          <a:chOff x="0" y="0"/>
          <a:chExt cx="0" cy="0"/>
        </a:xfrm>
      </p:grpSpPr>
      <p:sp>
        <p:nvSpPr>
          <p:cNvPr id="53" name="Google Shape;53;p3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3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37"/>
          <p:cNvSpPr txBox="1">
            <a:spLocks noGrp="1"/>
          </p:cNvSpPr>
          <p:nvPr>
            <p:ph type="ctrTitle"/>
          </p:nvPr>
        </p:nvSpPr>
        <p:spPr>
          <a:xfrm>
            <a:off x="0" y="1122364"/>
            <a:ext cx="12192000" cy="13160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5"/>
              </a:buClr>
              <a:buSzPts val="6000"/>
              <a:buFont typeface="Calibri"/>
              <a:buNone/>
            </a:pPr>
            <a:r>
              <a:rPr lang="en-US" sz="6000" b="1">
                <a:solidFill>
                  <a:schemeClr val="accent5"/>
                </a:solidFill>
                <a:latin typeface="Calibri"/>
                <a:ea typeface="Calibri"/>
                <a:cs typeface="Calibri"/>
                <a:sym typeface="Calibri"/>
              </a:rPr>
              <a:t>ITLG311 - Business Communication</a:t>
            </a:r>
            <a:endParaRPr/>
          </a:p>
        </p:txBody>
      </p:sp>
      <p:sp>
        <p:nvSpPr>
          <p:cNvPr id="63" name="Google Shape;63;p37"/>
          <p:cNvSpPr txBox="1">
            <a:spLocks noGrp="1"/>
          </p:cNvSpPr>
          <p:nvPr>
            <p:ph type="subTitle" idx="1"/>
          </p:nvPr>
        </p:nvSpPr>
        <p:spPr>
          <a:xfrm>
            <a:off x="0" y="3353677"/>
            <a:ext cx="12192000" cy="10239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1"/>
              </a:buClr>
              <a:buSzPts val="2800"/>
              <a:buNone/>
            </a:pPr>
            <a:r>
              <a:rPr lang="en-US" sz="2800" b="1" dirty="0"/>
              <a:t>Faculty of ICT, Mahidol University</a:t>
            </a:r>
            <a:endParaRPr dirty="0"/>
          </a:p>
          <a:p>
            <a:pPr marL="0" lvl="0" indent="0" algn="ctr" rtl="0">
              <a:lnSpc>
                <a:spcPct val="90000"/>
              </a:lnSpc>
              <a:spcBef>
                <a:spcPts val="1000"/>
              </a:spcBef>
              <a:spcAft>
                <a:spcPts val="0"/>
              </a:spcAft>
              <a:buClr>
                <a:schemeClr val="dk1"/>
              </a:buClr>
              <a:buSzPts val="2800"/>
              <a:buNone/>
            </a:pPr>
            <a:r>
              <a:rPr lang="en-US" sz="2800" b="1" dirty="0"/>
              <a:t>Semester 1, 2026-27</a:t>
            </a:r>
            <a:endParaRPr dirty="0"/>
          </a:p>
          <a:p>
            <a:pPr marL="0" lvl="0" indent="0" algn="ctr" rtl="0">
              <a:lnSpc>
                <a:spcPct val="90000"/>
              </a:lnSpc>
              <a:spcBef>
                <a:spcPts val="1000"/>
              </a:spcBef>
              <a:spcAft>
                <a:spcPts val="0"/>
              </a:spcAft>
              <a:buClr>
                <a:schemeClr val="dk1"/>
              </a:buClr>
              <a:buSzPts val="2800"/>
              <a:buNone/>
            </a:pPr>
            <a:endParaRPr dirty="0"/>
          </a:p>
          <a:p>
            <a:pPr marL="0" lvl="0" indent="0" algn="ctr" rtl="0">
              <a:lnSpc>
                <a:spcPct val="90000"/>
              </a:lnSpc>
              <a:spcBef>
                <a:spcPts val="1000"/>
              </a:spcBef>
              <a:spcAft>
                <a:spcPts val="0"/>
              </a:spcAft>
              <a:buClr>
                <a:schemeClr val="dk1"/>
              </a:buClr>
              <a:buSzPts val="2800"/>
              <a:buNone/>
            </a:pPr>
            <a:r>
              <a:rPr lang="en-US" sz="2800" b="1" dirty="0">
                <a:solidFill>
                  <a:schemeClr val="dk1"/>
                </a:solidFill>
              </a:rPr>
              <a:t>Session 0</a:t>
            </a:r>
            <a:r>
              <a:rPr lang="en-US" sz="2800" b="1" dirty="0"/>
              <a:t>4</a:t>
            </a:r>
            <a:r>
              <a:rPr lang="en-US" sz="2800" b="1" dirty="0">
                <a:solidFill>
                  <a:schemeClr val="dk1"/>
                </a:solidFill>
              </a:rPr>
              <a:t>: Digital Communications</a:t>
            </a:r>
            <a:endParaRPr sz="2800" b="1" dirty="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a:solidFill>
                  <a:schemeClr val="accent5"/>
                </a:solidFill>
              </a:rPr>
              <a:t>Previously:</a:t>
            </a:r>
            <a:endParaRPr b="1">
              <a:solidFill>
                <a:schemeClr val="accent5"/>
              </a:solidFill>
            </a:endParaRPr>
          </a:p>
        </p:txBody>
      </p:sp>
      <p:sp>
        <p:nvSpPr>
          <p:cNvPr id="69" name="Google Shape;69;p38"/>
          <p:cNvSpPr txBox="1">
            <a:spLocks noGrp="1"/>
          </p:cNvSpPr>
          <p:nvPr>
            <p:ph type="body" idx="1"/>
          </p:nvPr>
        </p:nvSpPr>
        <p:spPr>
          <a:xfrm>
            <a:off x="838200" y="1825624"/>
            <a:ext cx="11197856" cy="4872887"/>
          </a:xfrm>
          <a:prstGeom prst="rect">
            <a:avLst/>
          </a:prstGeom>
          <a:noFill/>
          <a:ln>
            <a:noFill/>
          </a:ln>
        </p:spPr>
        <p:txBody>
          <a:bodyPr spcFirstLastPara="1" wrap="square" lIns="91425" tIns="45700" rIns="91425" bIns="45700" anchor="t" anchorCtr="0">
            <a:normAutofit fontScale="70000" lnSpcReduction="20000"/>
          </a:bodyPr>
          <a:lstStyle/>
          <a:p>
            <a:pPr marL="114300" lvl="0" indent="0" algn="l" rtl="0">
              <a:lnSpc>
                <a:spcPct val="120000"/>
              </a:lnSpc>
              <a:spcBef>
                <a:spcPts val="0"/>
              </a:spcBef>
              <a:spcAft>
                <a:spcPts val="0"/>
              </a:spcAft>
              <a:buSzPct val="75630"/>
              <a:buNone/>
            </a:pPr>
            <a:r>
              <a:rPr lang="en-US" b="1" dirty="0"/>
              <a:t>Fundamentals of Writing for Business Purposes:</a:t>
            </a:r>
            <a:endParaRPr b="1" dirty="0"/>
          </a:p>
          <a:p>
            <a:pPr marL="457200" lvl="0" indent="-342900" algn="l" rtl="0">
              <a:lnSpc>
                <a:spcPct val="120000"/>
              </a:lnSpc>
              <a:spcBef>
                <a:spcPts val="0"/>
              </a:spcBef>
              <a:spcAft>
                <a:spcPts val="0"/>
              </a:spcAft>
              <a:buSzPct val="75630"/>
              <a:buChar char="•"/>
            </a:pPr>
            <a:r>
              <a:rPr lang="en-US" dirty="0"/>
              <a:t>Understand the purpose and goals of the course, lesson/unit structures, and evaluation formats.</a:t>
            </a:r>
            <a:endParaRPr dirty="0"/>
          </a:p>
          <a:p>
            <a:pPr marL="457200" lvl="0" indent="-342900" algn="l" rtl="0">
              <a:lnSpc>
                <a:spcPct val="120000"/>
              </a:lnSpc>
              <a:spcBef>
                <a:spcPts val="0"/>
              </a:spcBef>
              <a:spcAft>
                <a:spcPts val="0"/>
              </a:spcAft>
              <a:buSzPct val="75630"/>
              <a:buChar char="•"/>
            </a:pPr>
            <a:r>
              <a:rPr lang="en-US" dirty="0"/>
              <a:t>Recognize basics of writing for business purposes, and how it differs from other purposes of communication.</a:t>
            </a:r>
            <a:endParaRPr dirty="0"/>
          </a:p>
          <a:p>
            <a:pPr marL="457200" lvl="0" indent="-228600" algn="l" rtl="0">
              <a:lnSpc>
                <a:spcPct val="120000"/>
              </a:lnSpc>
              <a:spcBef>
                <a:spcPts val="0"/>
              </a:spcBef>
              <a:spcAft>
                <a:spcPts val="0"/>
              </a:spcAft>
              <a:buSzPct val="75630"/>
              <a:buNone/>
            </a:pPr>
            <a:endParaRPr dirty="0"/>
          </a:p>
          <a:p>
            <a:pPr marL="114300" lvl="0" indent="0" algn="l" rtl="0">
              <a:lnSpc>
                <a:spcPct val="120000"/>
              </a:lnSpc>
              <a:spcBef>
                <a:spcPts val="0"/>
              </a:spcBef>
              <a:spcAft>
                <a:spcPts val="0"/>
              </a:spcAft>
              <a:buSzPct val="75630"/>
              <a:buNone/>
            </a:pPr>
            <a:r>
              <a:rPr lang="en-US" b="1" dirty="0"/>
              <a:t>Focus On Audience, Tone and Function:</a:t>
            </a:r>
            <a:endParaRPr dirty="0"/>
          </a:p>
          <a:p>
            <a:pPr lvl="0"/>
            <a:r>
              <a:rPr lang="en-US" dirty="0"/>
              <a:t>Identify the audience and purpose </a:t>
            </a:r>
          </a:p>
          <a:p>
            <a:pPr lvl="0"/>
            <a:r>
              <a:rPr lang="en-US" dirty="0"/>
              <a:t>Internal and external messages</a:t>
            </a:r>
          </a:p>
          <a:p>
            <a:pPr lvl="0"/>
            <a:r>
              <a:rPr lang="en-US" dirty="0"/>
              <a:t>Choose the right information </a:t>
            </a:r>
          </a:p>
          <a:p>
            <a:pPr lvl="0"/>
            <a:r>
              <a:rPr lang="en-US" dirty="0"/>
              <a:t>Adapt tone and level of formality </a:t>
            </a:r>
          </a:p>
          <a:p>
            <a:pPr lvl="0"/>
            <a:r>
              <a:rPr lang="en-US" dirty="0"/>
              <a:t>Structure a clear business email </a:t>
            </a:r>
          </a:p>
          <a:p>
            <a:pPr lvl="0"/>
            <a:r>
              <a:rPr lang="en-US" dirty="0"/>
              <a:t>Write short and longer messages </a:t>
            </a:r>
          </a:p>
          <a:p>
            <a:pPr lvl="0"/>
            <a:r>
              <a:rPr lang="en-US" dirty="0"/>
              <a:t>Check readability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a:solidFill>
                  <a:schemeClr val="accent5"/>
                </a:solidFill>
              </a:rPr>
              <a:t>Homework/Feedback:</a:t>
            </a:r>
            <a:endParaRPr b="1">
              <a:solidFill>
                <a:schemeClr val="accent5"/>
              </a:solidFill>
            </a:endParaRPr>
          </a:p>
        </p:txBody>
      </p:sp>
      <p:sp>
        <p:nvSpPr>
          <p:cNvPr id="75" name="Google Shape;75;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chemeClr val="dk1"/>
              </a:buClr>
              <a:buSzPts val="1800"/>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dirty="0">
                <a:solidFill>
                  <a:schemeClr val="accent5"/>
                </a:solidFill>
              </a:rPr>
              <a:t>This Week:</a:t>
            </a:r>
            <a:endParaRPr b="1" dirty="0">
              <a:solidFill>
                <a:schemeClr val="accent5"/>
              </a:solidFill>
            </a:endParaRPr>
          </a:p>
        </p:txBody>
      </p:sp>
      <p:sp>
        <p:nvSpPr>
          <p:cNvPr id="81" name="Google Shape;81;p39"/>
          <p:cNvSpPr txBox="1">
            <a:spLocks noGrp="1"/>
          </p:cNvSpPr>
          <p:nvPr>
            <p:ph type="body" idx="1"/>
          </p:nvPr>
        </p:nvSpPr>
        <p:spPr>
          <a:xfrm>
            <a:off x="838200" y="1825624"/>
            <a:ext cx="10800806" cy="5032376"/>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800"/>
              <a:buNone/>
            </a:pPr>
            <a:r>
              <a:rPr lang="en-US" sz="2400" b="1" dirty="0"/>
              <a:t>Objectives:</a:t>
            </a:r>
            <a:endParaRPr dirty="0"/>
          </a:p>
          <a:p>
            <a:pPr marL="342900" lvl="0" indent="-342900" algn="l" rtl="0">
              <a:lnSpc>
                <a:spcPct val="100000"/>
              </a:lnSpc>
              <a:spcBef>
                <a:spcPts val="0"/>
              </a:spcBef>
              <a:spcAft>
                <a:spcPts val="0"/>
              </a:spcAft>
              <a:buSzPts val="1800"/>
              <a:buChar char="•"/>
            </a:pPr>
            <a:r>
              <a:rPr lang="en-US" sz="2400" dirty="0"/>
              <a:t>Identify the main digital tools used for internal/external business communication.</a:t>
            </a:r>
            <a:endParaRPr dirty="0"/>
          </a:p>
          <a:p>
            <a:pPr marL="342900" lvl="0" indent="-342900" algn="l" rtl="0">
              <a:lnSpc>
                <a:spcPct val="100000"/>
              </a:lnSpc>
              <a:spcBef>
                <a:spcPts val="0"/>
              </a:spcBef>
              <a:spcAft>
                <a:spcPts val="0"/>
              </a:spcAft>
              <a:buSzPts val="1800"/>
              <a:buChar char="•"/>
            </a:pPr>
            <a:r>
              <a:rPr lang="en-US" sz="2400" dirty="0"/>
              <a:t>Discuss the characteristics of engaging content (including social media)</a:t>
            </a:r>
            <a:endParaRPr dirty="0"/>
          </a:p>
          <a:p>
            <a:pPr marL="342900" lvl="0" indent="-342900" algn="l" rtl="0">
              <a:lnSpc>
                <a:spcPct val="100000"/>
              </a:lnSpc>
              <a:spcBef>
                <a:spcPts val="0"/>
              </a:spcBef>
              <a:spcAft>
                <a:spcPts val="0"/>
              </a:spcAft>
              <a:buSzPts val="1800"/>
              <a:buChar char="•"/>
            </a:pPr>
            <a:r>
              <a:rPr lang="en-US" sz="2400" dirty="0"/>
              <a:t>Put it together</a:t>
            </a:r>
            <a:endParaRPr dirty="0"/>
          </a:p>
          <a:p>
            <a:pPr marL="0" lvl="0" indent="0" algn="l" rtl="0">
              <a:lnSpc>
                <a:spcPct val="100000"/>
              </a:lnSpc>
              <a:spcBef>
                <a:spcPts val="0"/>
              </a:spcBef>
              <a:spcAft>
                <a:spcPts val="0"/>
              </a:spcAft>
              <a:buSzPts val="1800"/>
              <a:buNone/>
            </a:pPr>
            <a:endParaRPr sz="1200" dirty="0"/>
          </a:p>
          <a:p>
            <a:pPr marL="0" lvl="0" indent="0" algn="l" rtl="0">
              <a:lnSpc>
                <a:spcPct val="100000"/>
              </a:lnSpc>
              <a:spcBef>
                <a:spcPts val="0"/>
              </a:spcBef>
              <a:spcAft>
                <a:spcPts val="0"/>
              </a:spcAft>
              <a:buSzPts val="1800"/>
              <a:buNone/>
            </a:pPr>
            <a:r>
              <a:rPr lang="en-US" sz="2400" b="1" dirty="0"/>
              <a:t>1. Types of Digital Messaging Platforms</a:t>
            </a:r>
            <a:endParaRPr sz="2400" b="1" dirty="0"/>
          </a:p>
          <a:p>
            <a:pPr marL="0" lvl="0" indent="0" algn="l" rtl="0">
              <a:lnSpc>
                <a:spcPct val="100000"/>
              </a:lnSpc>
              <a:spcBef>
                <a:spcPts val="0"/>
              </a:spcBef>
              <a:spcAft>
                <a:spcPts val="0"/>
              </a:spcAft>
              <a:buSzPts val="1800"/>
              <a:buNone/>
            </a:pPr>
            <a:endParaRPr sz="1600" b="1" dirty="0"/>
          </a:p>
          <a:p>
            <a:pPr marL="0" lvl="0" indent="0" algn="l" rtl="0">
              <a:lnSpc>
                <a:spcPct val="100000"/>
              </a:lnSpc>
              <a:spcBef>
                <a:spcPts val="0"/>
              </a:spcBef>
              <a:spcAft>
                <a:spcPts val="0"/>
              </a:spcAft>
              <a:buSzPts val="1800"/>
              <a:buNone/>
            </a:pPr>
            <a:r>
              <a:rPr lang="en-US" sz="2400" b="1" dirty="0"/>
              <a:t>2. Using Digital Platforms</a:t>
            </a:r>
            <a:endParaRPr sz="2400" b="1" dirty="0"/>
          </a:p>
          <a:p>
            <a:pPr marL="0" lvl="0" indent="0" algn="l" rtl="0">
              <a:lnSpc>
                <a:spcPct val="100000"/>
              </a:lnSpc>
              <a:spcBef>
                <a:spcPts val="0"/>
              </a:spcBef>
              <a:spcAft>
                <a:spcPts val="0"/>
              </a:spcAft>
              <a:buSzPts val="1800"/>
              <a:buNone/>
            </a:pPr>
            <a:endParaRPr sz="1400" b="1" dirty="0"/>
          </a:p>
          <a:p>
            <a:pPr marL="0" lvl="0" indent="0" algn="l" rtl="0">
              <a:lnSpc>
                <a:spcPct val="100000"/>
              </a:lnSpc>
              <a:spcBef>
                <a:spcPts val="0"/>
              </a:spcBef>
              <a:spcAft>
                <a:spcPts val="0"/>
              </a:spcAft>
              <a:buSzPts val="1800"/>
              <a:buNone/>
            </a:pPr>
            <a:r>
              <a:rPr lang="en-US" sz="2400" b="1" dirty="0"/>
              <a:t>3. Adapting the message for different platforms</a:t>
            </a:r>
            <a:endParaRPr dirty="0"/>
          </a:p>
          <a:p>
            <a:pPr marL="0" lvl="0" indent="0" algn="l" rtl="0">
              <a:lnSpc>
                <a:spcPct val="100000"/>
              </a:lnSpc>
              <a:spcBef>
                <a:spcPts val="0"/>
              </a:spcBef>
              <a:spcAft>
                <a:spcPts val="0"/>
              </a:spcAft>
              <a:buSzPts val="1800"/>
              <a:buNone/>
            </a:pPr>
            <a:endParaRPr sz="1400" b="1" dirty="0"/>
          </a:p>
          <a:p>
            <a:pPr marL="0" lvl="0" indent="0" algn="l" rtl="0">
              <a:lnSpc>
                <a:spcPct val="100000"/>
              </a:lnSpc>
              <a:spcBef>
                <a:spcPts val="0"/>
              </a:spcBef>
              <a:spcAft>
                <a:spcPts val="0"/>
              </a:spcAft>
              <a:buSzPts val="1800"/>
              <a:buNone/>
            </a:pPr>
            <a:r>
              <a:rPr lang="en-US" sz="2400" b="1" dirty="0"/>
              <a:t>4. Responding to Digital Messages</a:t>
            </a:r>
            <a:endParaRPr sz="2400" b="1" dirty="0"/>
          </a:p>
          <a:p>
            <a:pPr marL="0" lvl="0" indent="0" algn="l" rtl="0">
              <a:lnSpc>
                <a:spcPct val="100000"/>
              </a:lnSpc>
              <a:spcBef>
                <a:spcPts val="0"/>
              </a:spcBef>
              <a:spcAft>
                <a:spcPts val="0"/>
              </a:spcAft>
              <a:buSzPts val="1800"/>
              <a:buNone/>
            </a:pPr>
            <a:endParaRPr sz="1400" dirty="0"/>
          </a:p>
          <a:p>
            <a:pPr marL="0" lvl="0" indent="0" algn="l" rtl="0">
              <a:lnSpc>
                <a:spcPct val="100000"/>
              </a:lnSpc>
              <a:spcBef>
                <a:spcPts val="0"/>
              </a:spcBef>
              <a:spcAft>
                <a:spcPts val="0"/>
              </a:spcAft>
              <a:buSzPts val="1800"/>
              <a:buNone/>
            </a:pPr>
            <a:r>
              <a:rPr lang="en-US" sz="2400" b="1" dirty="0"/>
              <a:t>5. Practice</a:t>
            </a:r>
            <a:endParaRPr dirty="0"/>
          </a:p>
          <a:p>
            <a:pPr marL="0" lvl="0" indent="0" algn="l" rtl="0">
              <a:lnSpc>
                <a:spcPct val="100000"/>
              </a:lnSpc>
              <a:spcBef>
                <a:spcPts val="0"/>
              </a:spcBef>
              <a:spcAft>
                <a:spcPts val="0"/>
              </a:spcAft>
              <a:buSzPts val="1800"/>
              <a:buNone/>
            </a:pPr>
            <a:endParaRPr sz="1200" dirty="0"/>
          </a:p>
          <a:p>
            <a:pPr marL="0" lvl="0" indent="0" algn="l" rtl="0">
              <a:lnSpc>
                <a:spcPct val="100000"/>
              </a:lnSpc>
              <a:spcBef>
                <a:spcPts val="0"/>
              </a:spcBef>
              <a:spcAft>
                <a:spcPts val="0"/>
              </a:spcAft>
              <a:buSzPts val="1800"/>
              <a:buNone/>
            </a:pPr>
            <a:endParaRPr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a:solidFill>
                  <a:schemeClr val="accent5"/>
                </a:solidFill>
              </a:rPr>
              <a:t>Today’s Reference Materials/Resources</a:t>
            </a:r>
            <a:endParaRPr b="1">
              <a:solidFill>
                <a:schemeClr val="accent5"/>
              </a:solidFill>
            </a:endParaRPr>
          </a:p>
        </p:txBody>
      </p:sp>
      <p:pic>
        <p:nvPicPr>
          <p:cNvPr id="3" name="Picture 2">
            <a:extLst>
              <a:ext uri="{FF2B5EF4-FFF2-40B4-BE49-F238E27FC236}">
                <a16:creationId xmlns:a16="http://schemas.microsoft.com/office/drawing/2014/main" id="{01DE9FF3-C63B-3B92-001F-7BE10BE9FCAE}"/>
              </a:ext>
            </a:extLst>
          </p:cNvPr>
          <p:cNvPicPr>
            <a:picLocks noChangeAspect="1"/>
          </p:cNvPicPr>
          <p:nvPr/>
        </p:nvPicPr>
        <p:blipFill>
          <a:blip r:embed="rId3"/>
          <a:stretch>
            <a:fillRect/>
          </a:stretch>
        </p:blipFill>
        <p:spPr>
          <a:xfrm>
            <a:off x="3401829" y="1334277"/>
            <a:ext cx="4828506" cy="523447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dirty="0">
                <a:solidFill>
                  <a:schemeClr val="accent5"/>
                </a:solidFill>
              </a:rPr>
              <a:t>Messaging Types</a:t>
            </a:r>
            <a:endParaRPr b="1" dirty="0">
              <a:solidFill>
                <a:schemeClr val="accent5"/>
              </a:solidFill>
            </a:endParaRPr>
          </a:p>
        </p:txBody>
      </p:sp>
      <p:sp>
        <p:nvSpPr>
          <p:cNvPr id="94" name="Google Shape;94;p41"/>
          <p:cNvSpPr txBox="1">
            <a:spLocks noGrp="1"/>
          </p:cNvSpPr>
          <p:nvPr>
            <p:ph type="body" idx="1"/>
          </p:nvPr>
        </p:nvSpPr>
        <p:spPr>
          <a:xfrm>
            <a:off x="838200" y="1825624"/>
            <a:ext cx="11134060" cy="4872887"/>
          </a:xfrm>
          <a:prstGeom prst="rect">
            <a:avLst/>
          </a:prstGeom>
          <a:noFill/>
          <a:ln>
            <a:noFill/>
          </a:ln>
        </p:spPr>
        <p:txBody>
          <a:bodyPr spcFirstLastPara="1" wrap="square" lIns="91425" tIns="45700" rIns="91425" bIns="45700" anchor="t" anchorCtr="0">
            <a:noAutofit/>
          </a:bodyPr>
          <a:lstStyle/>
          <a:p>
            <a:pPr marL="0" lvl="0" indent="0" algn="l" rtl="0">
              <a:lnSpc>
                <a:spcPct val="110000"/>
              </a:lnSpc>
              <a:spcBef>
                <a:spcPts val="0"/>
              </a:spcBef>
              <a:spcAft>
                <a:spcPts val="0"/>
              </a:spcAft>
              <a:buSzPts val="1800"/>
              <a:buNone/>
            </a:pPr>
            <a:r>
              <a:rPr lang="en-US" sz="2400" b="1" dirty="0"/>
              <a:t>What are the most common ways we transmit messages?</a:t>
            </a:r>
            <a:endParaRPr dirty="0"/>
          </a:p>
          <a:p>
            <a:pPr marL="0" lvl="0" indent="0" algn="l" rtl="0">
              <a:lnSpc>
                <a:spcPct val="110000"/>
              </a:lnSpc>
              <a:spcBef>
                <a:spcPts val="0"/>
              </a:spcBef>
              <a:spcAft>
                <a:spcPts val="0"/>
              </a:spcAft>
              <a:buSzPts val="1800"/>
              <a:buNone/>
            </a:pPr>
            <a:r>
              <a:rPr lang="en-US" sz="2400" b="1" dirty="0"/>
              <a:t>List as many communication methods/platforms as possible and categorize them:</a:t>
            </a:r>
            <a:endParaRPr dirty="0"/>
          </a:p>
          <a:p>
            <a:pPr marL="0" lvl="0" indent="0" algn="l" rtl="0">
              <a:lnSpc>
                <a:spcPct val="110000"/>
              </a:lnSpc>
              <a:spcBef>
                <a:spcPts val="0"/>
              </a:spcBef>
              <a:spcAft>
                <a:spcPts val="0"/>
              </a:spcAft>
              <a:buSzPts val="1800"/>
              <a:buNone/>
            </a:pPr>
            <a:endParaRPr sz="2400" dirty="0"/>
          </a:p>
          <a:p>
            <a:pPr marL="0" lvl="0" indent="0" algn="l" rtl="0">
              <a:lnSpc>
                <a:spcPct val="110000"/>
              </a:lnSpc>
              <a:spcBef>
                <a:spcPts val="0"/>
              </a:spcBef>
              <a:spcAft>
                <a:spcPts val="0"/>
              </a:spcAft>
              <a:buSzPts val="1800"/>
              <a:buNone/>
            </a:pPr>
            <a:endParaRPr lang="en-TH" sz="2400" dirty="0"/>
          </a:p>
          <a:p>
            <a:pPr marL="0" lvl="0" indent="0" algn="l" rtl="0">
              <a:lnSpc>
                <a:spcPct val="110000"/>
              </a:lnSpc>
              <a:spcBef>
                <a:spcPts val="0"/>
              </a:spcBef>
              <a:spcAft>
                <a:spcPts val="0"/>
              </a:spcAft>
              <a:buSzPts val="1800"/>
              <a:buNone/>
            </a:pPr>
            <a:endParaRPr sz="2400" dirty="0"/>
          </a:p>
          <a:p>
            <a:pPr marL="0" lvl="0" indent="0" algn="l" rtl="0">
              <a:lnSpc>
                <a:spcPct val="110000"/>
              </a:lnSpc>
              <a:spcBef>
                <a:spcPts val="0"/>
              </a:spcBef>
              <a:spcAft>
                <a:spcPts val="0"/>
              </a:spcAft>
              <a:buSzPts val="1800"/>
              <a:buNone/>
            </a:pPr>
            <a:endParaRPr sz="2400" dirty="0"/>
          </a:p>
          <a:p>
            <a:pPr marL="0" lvl="0" indent="0" algn="l" rtl="0">
              <a:lnSpc>
                <a:spcPct val="110000"/>
              </a:lnSpc>
              <a:spcBef>
                <a:spcPts val="0"/>
              </a:spcBef>
              <a:spcAft>
                <a:spcPts val="0"/>
              </a:spcAft>
              <a:buSzPts val="1800"/>
              <a:buNone/>
            </a:pPr>
            <a:endParaRPr sz="2400" dirty="0"/>
          </a:p>
          <a:p>
            <a:pPr marL="0" lvl="0" indent="0" algn="l" rtl="0">
              <a:lnSpc>
                <a:spcPct val="110000"/>
              </a:lnSpc>
              <a:spcBef>
                <a:spcPts val="0"/>
              </a:spcBef>
              <a:spcAft>
                <a:spcPts val="0"/>
              </a:spcAft>
              <a:buSzPts val="1800"/>
              <a:buNone/>
            </a:pPr>
            <a:endParaRPr sz="2400" dirty="0"/>
          </a:p>
          <a:p>
            <a:pPr marL="0" lvl="0" indent="0" algn="l" rtl="0">
              <a:lnSpc>
                <a:spcPct val="110000"/>
              </a:lnSpc>
              <a:spcBef>
                <a:spcPts val="0"/>
              </a:spcBef>
              <a:spcAft>
                <a:spcPts val="0"/>
              </a:spcAft>
              <a:buSzPts val="1800"/>
              <a:buNone/>
            </a:pPr>
            <a:endParaRPr sz="2400" dirty="0"/>
          </a:p>
          <a:p>
            <a:pPr marL="0" lvl="0" indent="0" algn="l" rtl="0">
              <a:lnSpc>
                <a:spcPct val="110000"/>
              </a:lnSpc>
              <a:spcBef>
                <a:spcPts val="0"/>
              </a:spcBef>
              <a:spcAft>
                <a:spcPts val="0"/>
              </a:spcAft>
              <a:buSzPts val="1800"/>
              <a:buNone/>
            </a:pPr>
            <a:endParaRPr sz="2400" dirty="0"/>
          </a:p>
          <a:p>
            <a:pPr marL="0" lvl="0" indent="0" algn="l" rtl="0">
              <a:lnSpc>
                <a:spcPct val="110000"/>
              </a:lnSpc>
              <a:spcBef>
                <a:spcPts val="0"/>
              </a:spcBef>
              <a:spcAft>
                <a:spcPts val="0"/>
              </a:spcAft>
              <a:buSzPts val="1800"/>
              <a:buNone/>
            </a:pPr>
            <a:r>
              <a:rPr lang="en-US" sz="2400" b="1" dirty="0"/>
              <a:t>Today we are interested specifically in Digital Forms of message types</a:t>
            </a:r>
            <a:endParaRPr sz="2400" b="1" dirty="0"/>
          </a:p>
        </p:txBody>
      </p:sp>
      <p:sp>
        <p:nvSpPr>
          <p:cNvPr id="95" name="Google Shape;95;p41"/>
          <p:cNvSpPr/>
          <p:nvPr/>
        </p:nvSpPr>
        <p:spPr>
          <a:xfrm>
            <a:off x="873642" y="3085399"/>
            <a:ext cx="5158563"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Calibri"/>
                <a:ea typeface="Calibri"/>
                <a:cs typeface="Calibri"/>
                <a:sym typeface="Calibri"/>
              </a:rPr>
              <a:t>Low-tech/No-tech</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Calibri"/>
              <a:ea typeface="Calibri"/>
              <a:cs typeface="Calibri"/>
              <a:sym typeface="Calibri"/>
            </a:endParaRPr>
          </a:p>
        </p:txBody>
      </p:sp>
      <p:sp>
        <p:nvSpPr>
          <p:cNvPr id="96" name="Google Shape;96;p41"/>
          <p:cNvSpPr/>
          <p:nvPr/>
        </p:nvSpPr>
        <p:spPr>
          <a:xfrm>
            <a:off x="6813697" y="3085399"/>
            <a:ext cx="515856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Calibri"/>
                <a:ea typeface="Calibri"/>
                <a:cs typeface="Calibri"/>
                <a:sym typeface="Calibri"/>
              </a:rPr>
              <a:t>Digital</a:t>
            </a:r>
            <a:endParaRPr sz="1400" b="0" i="0" u="none" strike="noStrike" cap="none">
              <a:solidFill>
                <a:srgbClr val="000000"/>
              </a:solidFill>
              <a:latin typeface="Arial"/>
              <a:ea typeface="Arial"/>
              <a:cs typeface="Arial"/>
              <a:sym typeface="Arial"/>
            </a:endParaRPr>
          </a:p>
        </p:txBody>
      </p:sp>
      <p:pic>
        <p:nvPicPr>
          <p:cNvPr id="97" name="Google Shape;97;p41"/>
          <p:cNvPicPr preferRelativeResize="0"/>
          <p:nvPr/>
        </p:nvPicPr>
        <p:blipFill rotWithShape="1">
          <a:blip r:embed="rId3">
            <a:alphaModFix/>
          </a:blip>
          <a:srcRect/>
          <a:stretch/>
        </p:blipFill>
        <p:spPr>
          <a:xfrm>
            <a:off x="919075" y="6398950"/>
            <a:ext cx="4582566" cy="468188"/>
          </a:xfrm>
          <a:prstGeom prst="rect">
            <a:avLst/>
          </a:prstGeom>
          <a:noFill/>
          <a:ln>
            <a:noFill/>
          </a:ln>
        </p:spPr>
      </p:pic>
      <p:pic>
        <p:nvPicPr>
          <p:cNvPr id="3" name="Picture 2">
            <a:extLst>
              <a:ext uri="{FF2B5EF4-FFF2-40B4-BE49-F238E27FC236}">
                <a16:creationId xmlns:a16="http://schemas.microsoft.com/office/drawing/2014/main" id="{C0FE0FCC-06A4-F006-29F7-C624F95B8DB4}"/>
              </a:ext>
            </a:extLst>
          </p:cNvPr>
          <p:cNvPicPr>
            <a:picLocks noChangeAspect="1"/>
          </p:cNvPicPr>
          <p:nvPr/>
        </p:nvPicPr>
        <p:blipFill>
          <a:blip r:embed="rId4"/>
          <a:stretch>
            <a:fillRect/>
          </a:stretch>
        </p:blipFill>
        <p:spPr>
          <a:xfrm>
            <a:off x="9910916" y="4730502"/>
            <a:ext cx="1973826" cy="1902542"/>
          </a:xfrm>
          <a:prstGeom prst="rect">
            <a:avLst/>
          </a:prstGeom>
        </p:spPr>
      </p:pic>
      <p:sp>
        <p:nvSpPr>
          <p:cNvPr id="4" name="TextBox 3">
            <a:extLst>
              <a:ext uri="{FF2B5EF4-FFF2-40B4-BE49-F238E27FC236}">
                <a16:creationId xmlns:a16="http://schemas.microsoft.com/office/drawing/2014/main" id="{1BEC8638-B627-930C-F3CA-71E7F07EA7A9}"/>
              </a:ext>
            </a:extLst>
          </p:cNvPr>
          <p:cNvSpPr txBox="1"/>
          <p:nvPr/>
        </p:nvSpPr>
        <p:spPr>
          <a:xfrm>
            <a:off x="6317673" y="3429000"/>
            <a:ext cx="4360403" cy="307777"/>
          </a:xfrm>
          <a:prstGeom prst="rect">
            <a:avLst/>
          </a:prstGeom>
          <a:noFill/>
        </p:spPr>
        <p:txBody>
          <a:bodyPr wrap="square" rtlCol="0">
            <a:spAutoFit/>
          </a:bodyPr>
          <a:lstStyle/>
          <a:p>
            <a:r>
              <a:rPr lang="en-TH" dirty="0"/>
              <a:t>Line, Facebook, Instagram, whatsapp, X, wechat</a:t>
            </a:r>
          </a:p>
        </p:txBody>
      </p:sp>
      <p:sp>
        <p:nvSpPr>
          <p:cNvPr id="5" name="TextBox 4">
            <a:extLst>
              <a:ext uri="{FF2B5EF4-FFF2-40B4-BE49-F238E27FC236}">
                <a16:creationId xmlns:a16="http://schemas.microsoft.com/office/drawing/2014/main" id="{60A78F87-BAD4-9553-5DC9-255819380D6E}"/>
              </a:ext>
            </a:extLst>
          </p:cNvPr>
          <p:cNvSpPr txBox="1"/>
          <p:nvPr/>
        </p:nvSpPr>
        <p:spPr>
          <a:xfrm>
            <a:off x="873642" y="3547064"/>
            <a:ext cx="4884811" cy="307777"/>
          </a:xfrm>
          <a:prstGeom prst="rect">
            <a:avLst/>
          </a:prstGeom>
          <a:noFill/>
        </p:spPr>
        <p:txBody>
          <a:bodyPr wrap="square" rtlCol="0">
            <a:spAutoFit/>
          </a:bodyPr>
          <a:lstStyle/>
          <a:p>
            <a:r>
              <a:rPr lang="en-US" dirty="0"/>
              <a:t>L</a:t>
            </a:r>
            <a:r>
              <a:rPr lang="en-TH" dirty="0"/>
              <a:t>etter, conversation, email, phone call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a:solidFill>
                  <a:schemeClr val="accent5"/>
                </a:solidFill>
              </a:rPr>
              <a:t>1. Types of Digital Messaging Platforms</a:t>
            </a:r>
            <a:endParaRPr>
              <a:solidFill>
                <a:schemeClr val="accent5"/>
              </a:solidFill>
            </a:endParaRPr>
          </a:p>
        </p:txBody>
      </p:sp>
      <p:sp>
        <p:nvSpPr>
          <p:cNvPr id="103" name="Google Shape;103;p42"/>
          <p:cNvSpPr/>
          <p:nvPr/>
        </p:nvSpPr>
        <p:spPr>
          <a:xfrm>
            <a:off x="838200" y="1850278"/>
            <a:ext cx="4133525" cy="30469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Noto Sans Symbols"/>
              <a:buChar char="⮚"/>
            </a:pPr>
            <a:r>
              <a:rPr lang="en-US" sz="2400" b="0" i="0" u="none" strike="noStrike" cap="none" dirty="0">
                <a:solidFill>
                  <a:srgbClr val="000000"/>
                </a:solidFill>
                <a:latin typeface="Calibri"/>
                <a:ea typeface="Calibri"/>
                <a:cs typeface="Calibri"/>
                <a:sym typeface="Calibri"/>
              </a:rPr>
              <a:t> SMS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Noto Sans Symbols"/>
              <a:buChar char="⮚"/>
            </a:pPr>
            <a:r>
              <a:rPr lang="en-US" sz="2400" b="0" i="0" u="none" strike="noStrike" cap="none" dirty="0">
                <a:solidFill>
                  <a:srgbClr val="000000"/>
                </a:solidFill>
                <a:latin typeface="Calibri"/>
                <a:ea typeface="Calibri"/>
                <a:cs typeface="Calibri"/>
                <a:sym typeface="Calibri"/>
              </a:rPr>
              <a:t> Instant Messages/Chat</a:t>
            </a:r>
            <a:endParaRPr sz="24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Noto Sans Symbols"/>
              <a:buChar char="⮚"/>
            </a:pPr>
            <a:r>
              <a:rPr lang="en-US" sz="2400" b="0" i="0" u="none" strike="noStrike" cap="none" dirty="0">
                <a:solidFill>
                  <a:srgbClr val="000000"/>
                </a:solidFill>
                <a:latin typeface="Calibri"/>
                <a:ea typeface="Calibri"/>
                <a:cs typeface="Calibri"/>
                <a:sym typeface="Calibri"/>
              </a:rPr>
              <a:t> Social Media:</a:t>
            </a:r>
            <a:endParaRPr sz="1400" b="0" i="0" u="none" strike="noStrike" cap="none" dirty="0">
              <a:solidFill>
                <a:srgbClr val="000000"/>
              </a:solidFill>
              <a:latin typeface="Arial"/>
              <a:ea typeface="Arial"/>
              <a:cs typeface="Arial"/>
              <a:sym typeface="Arial"/>
            </a:endParaRPr>
          </a:p>
          <a:p>
            <a:pPr marL="800100" marR="0" lvl="0" indent="-342900" algn="l" rtl="0">
              <a:lnSpc>
                <a:spcPct val="100000"/>
              </a:lnSpc>
              <a:spcBef>
                <a:spcPts val="0"/>
              </a:spcBef>
              <a:spcAft>
                <a:spcPts val="0"/>
              </a:spcAft>
              <a:buClr>
                <a:srgbClr val="000000"/>
              </a:buClr>
              <a:buSzPts val="2400"/>
              <a:buFont typeface="Arial"/>
              <a:buChar char="•"/>
            </a:pPr>
            <a:r>
              <a:rPr lang="en-US" sz="2400" b="0" i="0" u="none" strike="noStrike" cap="none" dirty="0">
                <a:solidFill>
                  <a:srgbClr val="000000"/>
                </a:solidFill>
                <a:latin typeface="Calibri"/>
                <a:ea typeface="Calibri"/>
                <a:cs typeface="Calibri"/>
                <a:sym typeface="Calibri"/>
              </a:rPr>
              <a:t> Facebook</a:t>
            </a:r>
            <a:endParaRPr sz="1400" b="0" i="0" u="none" strike="noStrike" cap="none" dirty="0">
              <a:solidFill>
                <a:srgbClr val="000000"/>
              </a:solidFill>
              <a:latin typeface="Arial"/>
              <a:ea typeface="Arial"/>
              <a:cs typeface="Arial"/>
              <a:sym typeface="Arial"/>
            </a:endParaRPr>
          </a:p>
          <a:p>
            <a:pPr marL="800100" marR="0" lvl="0" indent="-342900" algn="l" rtl="0">
              <a:lnSpc>
                <a:spcPct val="100000"/>
              </a:lnSpc>
              <a:spcBef>
                <a:spcPts val="0"/>
              </a:spcBef>
              <a:spcAft>
                <a:spcPts val="0"/>
              </a:spcAft>
              <a:buClr>
                <a:srgbClr val="000000"/>
              </a:buClr>
              <a:buSzPts val="2400"/>
              <a:buFont typeface="Arial"/>
              <a:buChar char="•"/>
            </a:pPr>
            <a:r>
              <a:rPr lang="en-US" sz="2400" b="0" i="0" u="none" strike="noStrike" cap="none" dirty="0">
                <a:solidFill>
                  <a:srgbClr val="000000"/>
                </a:solidFill>
                <a:latin typeface="Calibri"/>
                <a:ea typeface="Calibri"/>
                <a:cs typeface="Calibri"/>
                <a:sym typeface="Calibri"/>
              </a:rPr>
              <a:t> Twitter/X</a:t>
            </a:r>
            <a:endParaRPr sz="1400" b="0" i="0" u="none" strike="noStrike" cap="none" dirty="0">
              <a:solidFill>
                <a:srgbClr val="000000"/>
              </a:solidFill>
              <a:latin typeface="Arial"/>
              <a:ea typeface="Arial"/>
              <a:cs typeface="Arial"/>
              <a:sym typeface="Arial"/>
            </a:endParaRPr>
          </a:p>
          <a:p>
            <a:pPr marL="800100" marR="0" lvl="0" indent="-342900" algn="l" rtl="0">
              <a:lnSpc>
                <a:spcPct val="100000"/>
              </a:lnSpc>
              <a:spcBef>
                <a:spcPts val="0"/>
              </a:spcBef>
              <a:spcAft>
                <a:spcPts val="0"/>
              </a:spcAft>
              <a:buClr>
                <a:srgbClr val="000000"/>
              </a:buClr>
              <a:buSzPts val="2400"/>
              <a:buFont typeface="Arial"/>
              <a:buChar char="•"/>
            </a:pPr>
            <a:r>
              <a:rPr lang="en-US" sz="2400" b="0" i="0" u="none" strike="noStrike" cap="none" dirty="0">
                <a:solidFill>
                  <a:srgbClr val="000000"/>
                </a:solidFill>
                <a:latin typeface="Calibri"/>
                <a:ea typeface="Calibri"/>
                <a:cs typeface="Calibri"/>
                <a:sym typeface="Calibri"/>
              </a:rPr>
              <a:t> Instagram</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Noto Sans Symbols"/>
              <a:buChar char="⮚"/>
            </a:pPr>
            <a:r>
              <a:rPr lang="en-US" sz="2400" b="0" i="0" u="none" strike="noStrike" cap="none" dirty="0">
                <a:solidFill>
                  <a:srgbClr val="000000"/>
                </a:solidFill>
                <a:latin typeface="Calibri"/>
                <a:ea typeface="Calibri"/>
                <a:cs typeface="Calibri"/>
                <a:sym typeface="Calibri"/>
              </a:rPr>
              <a:t> LinkedIn</a:t>
            </a:r>
            <a:endParaRPr sz="24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Noto Sans Symbols"/>
              <a:buChar char="⮚"/>
            </a:pPr>
            <a:r>
              <a:rPr lang="en-US" sz="2400" b="0" i="0" u="none" strike="noStrike" cap="none" dirty="0">
                <a:solidFill>
                  <a:srgbClr val="000000"/>
                </a:solidFill>
                <a:latin typeface="Calibri"/>
                <a:ea typeface="Calibri"/>
                <a:cs typeface="Calibri"/>
                <a:sym typeface="Calibri"/>
              </a:rPr>
              <a:t> Emails</a:t>
            </a:r>
            <a:endParaRPr sz="2400" b="0" i="0" u="none" strike="noStrike" cap="none" dirty="0">
              <a:solidFill>
                <a:srgbClr val="000000"/>
              </a:solidFill>
              <a:latin typeface="Calibri"/>
              <a:ea typeface="Calibri"/>
              <a:cs typeface="Calibri"/>
              <a:sym typeface="Calibri"/>
            </a:endParaRPr>
          </a:p>
        </p:txBody>
      </p:sp>
      <p:sp>
        <p:nvSpPr>
          <p:cNvPr id="104" name="Google Shape;104;p42"/>
          <p:cNvSpPr/>
          <p:nvPr/>
        </p:nvSpPr>
        <p:spPr>
          <a:xfrm>
            <a:off x="4988678" y="1850277"/>
            <a:ext cx="880494" cy="2891843"/>
          </a:xfrm>
          <a:prstGeom prst="downArrow">
            <a:avLst>
              <a:gd name="adj1" fmla="val 50000"/>
              <a:gd name="adj2" fmla="val 50000"/>
            </a:avLst>
          </a:prstGeom>
          <a:solidFill>
            <a:schemeClr val="accent1"/>
          </a:solidFill>
          <a:ln w="25400" cap="flat" cmpd="sng">
            <a:solidFill>
              <a:srgbClr val="42719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5" name="Google Shape;105;p42"/>
          <p:cNvSpPr/>
          <p:nvPr/>
        </p:nvSpPr>
        <p:spPr>
          <a:xfrm rot="-5400000">
            <a:off x="3868505" y="2687244"/>
            <a:ext cx="3083442" cy="430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a:solidFill>
                  <a:schemeClr val="lt1"/>
                </a:solidFill>
                <a:latin typeface="Calibri"/>
                <a:ea typeface="Calibri"/>
                <a:cs typeface="Calibri"/>
                <a:sym typeface="Calibri"/>
              </a:rPr>
              <a:t>Message  Complexity</a:t>
            </a:r>
            <a:endParaRPr sz="2200" b="0" i="0" u="none" strike="noStrike" cap="none">
              <a:solidFill>
                <a:schemeClr val="lt1"/>
              </a:solidFill>
              <a:latin typeface="Arial"/>
              <a:ea typeface="Arial"/>
              <a:cs typeface="Arial"/>
              <a:sym typeface="Arial"/>
            </a:endParaRPr>
          </a:p>
        </p:txBody>
      </p:sp>
      <p:sp>
        <p:nvSpPr>
          <p:cNvPr id="106" name="Google Shape;106;p42"/>
          <p:cNvSpPr/>
          <p:nvPr/>
        </p:nvSpPr>
        <p:spPr>
          <a:xfrm>
            <a:off x="838200" y="5309284"/>
            <a:ext cx="6341364" cy="136960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accent5"/>
                </a:solidFill>
                <a:latin typeface="Calibri"/>
                <a:ea typeface="Calibri"/>
                <a:cs typeface="Calibri"/>
                <a:sym typeface="Calibri"/>
              </a:rPr>
              <a:t>The complexity/function of the message influences the method of communication, which also  usually relates to the level of formality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endParaRPr sz="1100" b="1" i="0" u="none" strike="noStrike" cap="none">
              <a:solidFill>
                <a:schemeClr val="accent5"/>
              </a:solidFill>
              <a:latin typeface="Calibri"/>
              <a:ea typeface="Calibri"/>
              <a:cs typeface="Calibri"/>
              <a:sym typeface="Calibri"/>
            </a:endParaRPr>
          </a:p>
        </p:txBody>
      </p:sp>
      <p:pic>
        <p:nvPicPr>
          <p:cNvPr id="107" name="Google Shape;107;p42"/>
          <p:cNvPicPr preferRelativeResize="0"/>
          <p:nvPr/>
        </p:nvPicPr>
        <p:blipFill rotWithShape="1">
          <a:blip r:embed="rId3">
            <a:alphaModFix/>
          </a:blip>
          <a:srcRect/>
          <a:stretch/>
        </p:blipFill>
        <p:spPr>
          <a:xfrm>
            <a:off x="7406058" y="1690688"/>
            <a:ext cx="3648075" cy="48101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6">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dirty="0">
                <a:solidFill>
                  <a:schemeClr val="accent5"/>
                </a:solidFill>
              </a:rPr>
              <a:t>1.1: Instant Messaging</a:t>
            </a:r>
            <a:endParaRPr b="1" dirty="0">
              <a:solidFill>
                <a:schemeClr val="accent5"/>
              </a:solidFill>
            </a:endParaRPr>
          </a:p>
        </p:txBody>
      </p:sp>
      <p:sp>
        <p:nvSpPr>
          <p:cNvPr id="119" name="Google Shape;119;p44"/>
          <p:cNvSpPr txBox="1">
            <a:spLocks noGrp="1"/>
          </p:cNvSpPr>
          <p:nvPr>
            <p:ph type="body" idx="1"/>
          </p:nvPr>
        </p:nvSpPr>
        <p:spPr>
          <a:xfrm>
            <a:off x="838200" y="1825625"/>
            <a:ext cx="11211232" cy="4351338"/>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0"/>
              </a:spcBef>
              <a:spcAft>
                <a:spcPts val="0"/>
              </a:spcAft>
              <a:buSzPts val="1800"/>
              <a:buChar char="•"/>
            </a:pPr>
            <a:r>
              <a:rPr lang="en-US" sz="2400"/>
              <a:t>Often used to Internal teams, customer support, client communication.</a:t>
            </a:r>
            <a:endParaRPr/>
          </a:p>
          <a:p>
            <a:pPr marL="457200" lvl="0" indent="-342900" algn="l" rtl="0">
              <a:lnSpc>
                <a:spcPct val="100000"/>
              </a:lnSpc>
              <a:spcBef>
                <a:spcPts val="600"/>
              </a:spcBef>
              <a:spcAft>
                <a:spcPts val="0"/>
              </a:spcAft>
              <a:buSzPts val="1800"/>
              <a:buChar char="•"/>
            </a:pPr>
            <a:r>
              <a:rPr lang="en-US" sz="2400"/>
              <a:t>Quick, informal conversations. </a:t>
            </a:r>
            <a:endParaRPr/>
          </a:p>
          <a:p>
            <a:pPr marL="457200" lvl="0" indent="-342900" algn="l" rtl="0">
              <a:lnSpc>
                <a:spcPct val="100000"/>
              </a:lnSpc>
              <a:spcBef>
                <a:spcPts val="600"/>
              </a:spcBef>
              <a:spcAft>
                <a:spcPts val="0"/>
              </a:spcAft>
              <a:buSzPts val="1800"/>
              <a:buChar char="•"/>
            </a:pPr>
            <a:r>
              <a:rPr lang="en-US" sz="2400"/>
              <a:t>Perfect for customer service, and real-time collaboration.</a:t>
            </a:r>
            <a:endParaRPr/>
          </a:p>
          <a:p>
            <a:pPr marL="457200" lvl="0" indent="-342900" algn="l" rtl="0">
              <a:lnSpc>
                <a:spcPct val="100000"/>
              </a:lnSpc>
              <a:spcBef>
                <a:spcPts val="600"/>
              </a:spcBef>
              <a:spcAft>
                <a:spcPts val="0"/>
              </a:spcAft>
              <a:buSzPts val="1800"/>
              <a:buChar char="•"/>
            </a:pPr>
            <a:r>
              <a:rPr lang="en-US" sz="2400"/>
              <a:t>Allows for Instant Communication, which is essential for speeding up decision-making.</a:t>
            </a:r>
            <a:endParaRPr sz="2400"/>
          </a:p>
          <a:p>
            <a:pPr marL="457200" lvl="0" indent="-342900" algn="l" rtl="0">
              <a:lnSpc>
                <a:spcPct val="100000"/>
              </a:lnSpc>
              <a:spcBef>
                <a:spcPts val="600"/>
              </a:spcBef>
              <a:spcAft>
                <a:spcPts val="0"/>
              </a:spcAft>
              <a:buSzPts val="1800"/>
              <a:buChar char="•"/>
            </a:pPr>
            <a:r>
              <a:rPr lang="en-US" sz="2400"/>
              <a:t>Excellent if used appropriately within small teams</a:t>
            </a:r>
            <a:endParaRPr/>
          </a:p>
          <a:p>
            <a:pPr marL="457200" lvl="0" indent="-342900" algn="l" rtl="0">
              <a:lnSpc>
                <a:spcPct val="100000"/>
              </a:lnSpc>
              <a:spcBef>
                <a:spcPts val="600"/>
              </a:spcBef>
              <a:spcAft>
                <a:spcPts val="0"/>
              </a:spcAft>
              <a:buSzPts val="1800"/>
              <a:buChar char="•"/>
            </a:pPr>
            <a:r>
              <a:rPr lang="en-US" sz="2400"/>
              <a:t>Problematic if overused, or difficult to track large teams/large projects</a:t>
            </a:r>
            <a:endParaRPr/>
          </a:p>
          <a:p>
            <a:pPr marL="457200" lvl="0" indent="-342900" algn="l" rtl="0">
              <a:lnSpc>
                <a:spcPct val="100000"/>
              </a:lnSpc>
              <a:spcBef>
                <a:spcPts val="600"/>
              </a:spcBef>
              <a:spcAft>
                <a:spcPts val="600"/>
              </a:spcAft>
              <a:buSzPts val="1800"/>
              <a:buChar char="•"/>
            </a:pPr>
            <a:r>
              <a:rPr lang="en-US" sz="2400"/>
              <a:t>Lack of formality can be distracting and may lead to misunderstandings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dirty="0">
                <a:solidFill>
                  <a:schemeClr val="accent5"/>
                </a:solidFill>
              </a:rPr>
              <a:t>1.1: Instant Messaging (Extended)</a:t>
            </a:r>
            <a:endParaRPr b="1" dirty="0">
              <a:solidFill>
                <a:schemeClr val="accent5"/>
              </a:solidFill>
            </a:endParaRPr>
          </a:p>
        </p:txBody>
      </p:sp>
      <p:sp>
        <p:nvSpPr>
          <p:cNvPr id="125" name="Google Shape;125;p45"/>
          <p:cNvSpPr txBox="1">
            <a:spLocks noGrp="1"/>
          </p:cNvSpPr>
          <p:nvPr>
            <p:ph type="body" idx="1"/>
          </p:nvPr>
        </p:nvSpPr>
        <p:spPr>
          <a:xfrm>
            <a:off x="838200" y="1825625"/>
            <a:ext cx="11134060" cy="4351338"/>
          </a:xfrm>
          <a:prstGeom prst="rect">
            <a:avLst/>
          </a:prstGeom>
          <a:noFill/>
          <a:ln>
            <a:noFill/>
          </a:ln>
        </p:spPr>
        <p:txBody>
          <a:bodyPr spcFirstLastPara="1" wrap="square" lIns="91425" tIns="45700" rIns="91425" bIns="45700" anchor="t" anchorCtr="0">
            <a:normAutofit/>
          </a:bodyPr>
          <a:lstStyle/>
          <a:p>
            <a:pPr marL="114300" lvl="0" indent="0" algn="l" rtl="0">
              <a:lnSpc>
                <a:spcPct val="100000"/>
              </a:lnSpc>
              <a:spcBef>
                <a:spcPts val="0"/>
              </a:spcBef>
              <a:spcAft>
                <a:spcPts val="0"/>
              </a:spcAft>
              <a:buSzPts val="1800"/>
              <a:buNone/>
            </a:pPr>
            <a:r>
              <a:rPr lang="en-US"/>
              <a:t>A range of Professional Business Communications Applications are available that mainly focus on use of Instant Messaging/Chat functions:</a:t>
            </a:r>
            <a:endParaRPr/>
          </a:p>
          <a:p>
            <a:pPr marL="114300" lvl="0" indent="0" algn="l" rtl="0">
              <a:lnSpc>
                <a:spcPct val="100000"/>
              </a:lnSpc>
              <a:spcBef>
                <a:spcPts val="0"/>
              </a:spcBef>
              <a:spcAft>
                <a:spcPts val="0"/>
              </a:spcAft>
              <a:buSzPts val="1800"/>
              <a:buNone/>
            </a:pPr>
            <a:endParaRPr/>
          </a:p>
          <a:p>
            <a:pPr marL="457200" lvl="0" indent="-342900" algn="l" rtl="0">
              <a:lnSpc>
                <a:spcPct val="100000"/>
              </a:lnSpc>
              <a:spcBef>
                <a:spcPts val="0"/>
              </a:spcBef>
              <a:spcAft>
                <a:spcPts val="0"/>
              </a:spcAft>
              <a:buSzPts val="1800"/>
              <a:buChar char="•"/>
            </a:pPr>
            <a:r>
              <a:rPr lang="en-US"/>
              <a:t>MS Teams</a:t>
            </a:r>
            <a:endParaRPr/>
          </a:p>
          <a:p>
            <a:pPr marL="457200" lvl="0" indent="-342900" algn="l" rtl="0">
              <a:lnSpc>
                <a:spcPct val="100000"/>
              </a:lnSpc>
              <a:spcBef>
                <a:spcPts val="0"/>
              </a:spcBef>
              <a:spcAft>
                <a:spcPts val="0"/>
              </a:spcAft>
              <a:buSzPts val="1800"/>
              <a:buChar char="•"/>
            </a:pPr>
            <a:r>
              <a:rPr lang="en-US"/>
              <a:t>Slack</a:t>
            </a:r>
            <a:endParaRPr/>
          </a:p>
          <a:p>
            <a:pPr marL="457200" lvl="0" indent="-342900" algn="l" rtl="0">
              <a:lnSpc>
                <a:spcPct val="100000"/>
              </a:lnSpc>
              <a:spcBef>
                <a:spcPts val="0"/>
              </a:spcBef>
              <a:spcAft>
                <a:spcPts val="0"/>
              </a:spcAft>
              <a:buSzPts val="1800"/>
              <a:buChar char="•"/>
            </a:pPr>
            <a:r>
              <a:rPr lang="en-US"/>
              <a:t>WebEx</a:t>
            </a:r>
            <a:endParaRPr/>
          </a:p>
          <a:p>
            <a:pPr marL="114300" lvl="0" indent="0" algn="l" rtl="0">
              <a:lnSpc>
                <a:spcPct val="100000"/>
              </a:lnSpc>
              <a:spcBef>
                <a:spcPts val="0"/>
              </a:spcBef>
              <a:spcAft>
                <a:spcPts val="0"/>
              </a:spcAft>
              <a:buSzPts val="1800"/>
              <a:buNone/>
            </a:pPr>
            <a:endParaRPr/>
          </a:p>
          <a:p>
            <a:pPr marL="114300" lvl="0" indent="0" algn="l" rtl="0">
              <a:lnSpc>
                <a:spcPct val="100000"/>
              </a:lnSpc>
              <a:spcBef>
                <a:spcPts val="0"/>
              </a:spcBef>
              <a:spcAft>
                <a:spcPts val="0"/>
              </a:spcAft>
              <a:buSzPts val="1800"/>
              <a:buNone/>
            </a:pPr>
            <a:r>
              <a:rPr lang="en-US"/>
              <a:t>While each app has additional functions, such as video-communications and file/screen sharing, </a:t>
            </a:r>
            <a:r>
              <a:rPr lang="en-US">
                <a:solidFill>
                  <a:schemeClr val="accent5"/>
                </a:solidFill>
              </a:rPr>
              <a:t>we need to focus on the Chat Functions</a:t>
            </a:r>
            <a:endParaRPr>
              <a:solidFill>
                <a:schemeClr val="accent5"/>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dirty="0">
                <a:solidFill>
                  <a:schemeClr val="accent5"/>
                </a:solidFill>
              </a:rPr>
              <a:t>1.1: Professional Messaging Platforms</a:t>
            </a:r>
            <a:endParaRPr b="1" dirty="0">
              <a:solidFill>
                <a:schemeClr val="accent5"/>
              </a:solidFill>
            </a:endParaRPr>
          </a:p>
        </p:txBody>
      </p:sp>
      <p:sp>
        <p:nvSpPr>
          <p:cNvPr id="131" name="Google Shape;131;p46"/>
          <p:cNvSpPr txBox="1">
            <a:spLocks noGrp="1"/>
          </p:cNvSpPr>
          <p:nvPr>
            <p:ph type="body" idx="1"/>
          </p:nvPr>
        </p:nvSpPr>
        <p:spPr>
          <a:xfrm>
            <a:off x="747252" y="1825625"/>
            <a:ext cx="10606548" cy="4667250"/>
          </a:xfrm>
          <a:prstGeom prst="rect">
            <a:avLst/>
          </a:prstGeom>
          <a:noFill/>
          <a:ln>
            <a:noFill/>
          </a:ln>
        </p:spPr>
        <p:txBody>
          <a:bodyPr spcFirstLastPara="1" wrap="square" lIns="91425" tIns="45700" rIns="91425" bIns="45700" anchor="t" anchorCtr="0">
            <a:noAutofit/>
          </a:bodyPr>
          <a:lstStyle/>
          <a:p>
            <a:pPr marL="114300" lvl="0" indent="0" algn="l" rtl="0">
              <a:lnSpc>
                <a:spcPct val="110000"/>
              </a:lnSpc>
              <a:spcBef>
                <a:spcPts val="0"/>
              </a:spcBef>
              <a:spcAft>
                <a:spcPts val="0"/>
              </a:spcAft>
              <a:buSzPts val="1800"/>
              <a:buNone/>
            </a:pPr>
            <a:r>
              <a:rPr lang="en-US" sz="2400" dirty="0"/>
              <a:t>Professional Messaging platforms are not just Chat applications – they extend functionality through expanded connectivity</a:t>
            </a:r>
            <a:endParaRPr dirty="0"/>
          </a:p>
          <a:p>
            <a:pPr marL="114300" lvl="0" indent="0" algn="l" rtl="0">
              <a:lnSpc>
                <a:spcPct val="110000"/>
              </a:lnSpc>
              <a:spcBef>
                <a:spcPts val="600"/>
              </a:spcBef>
              <a:spcAft>
                <a:spcPts val="0"/>
              </a:spcAft>
              <a:buSzPts val="1800"/>
              <a:buNone/>
            </a:pPr>
            <a:endParaRPr sz="2400" dirty="0"/>
          </a:p>
          <a:p>
            <a:pPr marL="114300" lvl="0" indent="0" algn="l" rtl="0">
              <a:lnSpc>
                <a:spcPct val="110000"/>
              </a:lnSpc>
              <a:spcBef>
                <a:spcPts val="600"/>
              </a:spcBef>
              <a:spcAft>
                <a:spcPts val="0"/>
              </a:spcAft>
              <a:buSzPts val="1800"/>
              <a:buNone/>
            </a:pPr>
            <a:r>
              <a:rPr lang="en-US" sz="2400" dirty="0"/>
              <a:t>It is important to set clear ground-rules for the use of platforms such as Slack:</a:t>
            </a:r>
            <a:endParaRPr dirty="0"/>
          </a:p>
          <a:p>
            <a:pPr marL="457200" lvl="0" indent="-342900" algn="l" rtl="0">
              <a:lnSpc>
                <a:spcPct val="110000"/>
              </a:lnSpc>
              <a:spcBef>
                <a:spcPts val="600"/>
              </a:spcBef>
              <a:spcAft>
                <a:spcPts val="0"/>
              </a:spcAft>
              <a:buSzPts val="1800"/>
              <a:buChar char="•"/>
            </a:pPr>
            <a:r>
              <a:rPr lang="en-US" sz="2400" dirty="0"/>
              <a:t>Create job-function related channels for each team or situation</a:t>
            </a:r>
            <a:endParaRPr dirty="0"/>
          </a:p>
          <a:p>
            <a:pPr marL="457200" lvl="0" indent="-342900" algn="l" rtl="0">
              <a:lnSpc>
                <a:spcPct val="110000"/>
              </a:lnSpc>
              <a:spcBef>
                <a:spcPts val="600"/>
              </a:spcBef>
              <a:spcAft>
                <a:spcPts val="0"/>
              </a:spcAft>
              <a:buSzPts val="1800"/>
              <a:buChar char="•"/>
            </a:pPr>
            <a:r>
              <a:rPr lang="en-US" sz="2400" dirty="0"/>
              <a:t>Be very selective how to define Private and Public channels</a:t>
            </a:r>
            <a:endParaRPr dirty="0"/>
          </a:p>
          <a:p>
            <a:pPr marL="457200" lvl="0" indent="-342900" algn="l" rtl="0">
              <a:lnSpc>
                <a:spcPct val="110000"/>
              </a:lnSpc>
              <a:spcBef>
                <a:spcPts val="600"/>
              </a:spcBef>
              <a:spcAft>
                <a:spcPts val="0"/>
              </a:spcAft>
              <a:buSzPts val="1800"/>
              <a:buChar char="•"/>
            </a:pPr>
            <a:r>
              <a:rPr lang="en-US" sz="2400" dirty="0"/>
              <a:t>Platforms such as Slack can cross-integrate, so make use of its functionality</a:t>
            </a:r>
            <a:endParaRPr sz="2400" dirty="0"/>
          </a:p>
          <a:p>
            <a:pPr marL="457200" lvl="0" indent="-342900" algn="l" rtl="0">
              <a:lnSpc>
                <a:spcPct val="110000"/>
              </a:lnSpc>
              <a:spcBef>
                <a:spcPts val="600"/>
              </a:spcBef>
              <a:spcAft>
                <a:spcPts val="0"/>
              </a:spcAft>
              <a:buSzPts val="1800"/>
              <a:buChar char="•"/>
            </a:pPr>
            <a:r>
              <a:rPr lang="en-US" sz="2400" dirty="0"/>
              <a:t>Encourage participation: On-site or Off-site through Shared Media</a:t>
            </a:r>
            <a:endParaRPr sz="2400" dirty="0"/>
          </a:p>
          <a:p>
            <a:pPr marL="457200" lvl="0" indent="-228600" algn="l" rtl="0">
              <a:lnSpc>
                <a:spcPct val="110000"/>
              </a:lnSpc>
              <a:spcBef>
                <a:spcPts val="600"/>
              </a:spcBef>
              <a:spcAft>
                <a:spcPts val="0"/>
              </a:spcAft>
              <a:buSzPts val="1800"/>
              <a:buNone/>
            </a:pPr>
            <a:endParaRPr sz="2400" dirty="0"/>
          </a:p>
          <a:p>
            <a:pPr marL="457200" lvl="0" indent="-342900" algn="l" rtl="0">
              <a:lnSpc>
                <a:spcPct val="110000"/>
              </a:lnSpc>
              <a:spcBef>
                <a:spcPts val="600"/>
              </a:spcBef>
              <a:spcAft>
                <a:spcPts val="600"/>
              </a:spcAft>
              <a:buSzPts val="1800"/>
              <a:buChar char="•"/>
            </a:pPr>
            <a:r>
              <a:rPr lang="en-US" sz="2400" dirty="0"/>
              <a:t>Much more:  </a:t>
            </a:r>
            <a:endParaRPr dirty="0"/>
          </a:p>
        </p:txBody>
      </p:sp>
      <p:pic>
        <p:nvPicPr>
          <p:cNvPr id="3" name="Picture 2">
            <a:extLst>
              <a:ext uri="{FF2B5EF4-FFF2-40B4-BE49-F238E27FC236}">
                <a16:creationId xmlns:a16="http://schemas.microsoft.com/office/drawing/2014/main" id="{E802D806-B691-4638-5576-1EA15D076379}"/>
              </a:ext>
            </a:extLst>
          </p:cNvPr>
          <p:cNvPicPr>
            <a:picLocks noChangeAspect="1"/>
          </p:cNvPicPr>
          <p:nvPr/>
        </p:nvPicPr>
        <p:blipFill>
          <a:blip r:embed="rId3"/>
          <a:stretch>
            <a:fillRect/>
          </a:stretch>
        </p:blipFill>
        <p:spPr>
          <a:xfrm>
            <a:off x="3631872" y="6026085"/>
            <a:ext cx="5439534" cy="466790"/>
          </a:xfrm>
          <a:prstGeom prst="rect">
            <a:avLst/>
          </a:prstGeom>
        </p:spPr>
      </p:pic>
      <p:pic>
        <p:nvPicPr>
          <p:cNvPr id="6" name="Picture 5">
            <a:extLst>
              <a:ext uri="{FF2B5EF4-FFF2-40B4-BE49-F238E27FC236}">
                <a16:creationId xmlns:a16="http://schemas.microsoft.com/office/drawing/2014/main" id="{3F2988F5-292B-53C4-8282-EA1304B139BB}"/>
              </a:ext>
            </a:extLst>
          </p:cNvPr>
          <p:cNvPicPr>
            <a:picLocks noChangeAspect="1"/>
          </p:cNvPicPr>
          <p:nvPr/>
        </p:nvPicPr>
        <p:blipFill>
          <a:blip r:embed="rId4"/>
          <a:stretch>
            <a:fillRect/>
          </a:stretch>
        </p:blipFill>
        <p:spPr>
          <a:xfrm>
            <a:off x="9682315" y="5029047"/>
            <a:ext cx="1671485" cy="146382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4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dirty="0">
                <a:solidFill>
                  <a:schemeClr val="accent5"/>
                </a:solidFill>
              </a:rPr>
              <a:t>1.2: Social Media</a:t>
            </a:r>
            <a:endParaRPr b="1" dirty="0">
              <a:solidFill>
                <a:schemeClr val="accent5"/>
              </a:solidFill>
            </a:endParaRPr>
          </a:p>
        </p:txBody>
      </p:sp>
      <p:sp>
        <p:nvSpPr>
          <p:cNvPr id="138" name="Google Shape;138;p47"/>
          <p:cNvSpPr txBox="1">
            <a:spLocks noGrp="1"/>
          </p:cNvSpPr>
          <p:nvPr>
            <p:ph type="body" idx="1"/>
          </p:nvPr>
        </p:nvSpPr>
        <p:spPr>
          <a:xfrm>
            <a:off x="838200" y="1825625"/>
            <a:ext cx="11353800" cy="4825898"/>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0"/>
              </a:spcBef>
              <a:spcAft>
                <a:spcPts val="0"/>
              </a:spcAft>
              <a:buSzPts val="1800"/>
              <a:buChar char="•"/>
            </a:pPr>
            <a:r>
              <a:rPr lang="en-US" sz="2400" dirty="0"/>
              <a:t>In business contexts, the audience of Social Media is </a:t>
            </a:r>
            <a:r>
              <a:rPr lang="en-US" sz="2400" b="1" dirty="0"/>
              <a:t>General public, potential customers, community members</a:t>
            </a:r>
            <a:endParaRPr dirty="0"/>
          </a:p>
          <a:p>
            <a:pPr marL="457200" lvl="0" indent="-342900" algn="l" rtl="0">
              <a:lnSpc>
                <a:spcPct val="100000"/>
              </a:lnSpc>
              <a:spcBef>
                <a:spcPts val="600"/>
              </a:spcBef>
              <a:spcAft>
                <a:spcPts val="0"/>
              </a:spcAft>
              <a:buSzPts val="1800"/>
              <a:buChar char="•"/>
            </a:pPr>
            <a:r>
              <a:rPr lang="en-US" sz="2400" dirty="0"/>
              <a:t>Useful for brand awareness, customer engagement, event promotion, customer service.</a:t>
            </a:r>
            <a:endParaRPr dirty="0"/>
          </a:p>
          <a:p>
            <a:pPr marL="457200" lvl="0" indent="-342900" algn="l" rtl="0">
              <a:lnSpc>
                <a:spcPct val="100000"/>
              </a:lnSpc>
              <a:spcBef>
                <a:spcPts val="600"/>
              </a:spcBef>
              <a:spcAft>
                <a:spcPts val="0"/>
              </a:spcAft>
              <a:buSzPts val="1800"/>
              <a:buChar char="•"/>
            </a:pPr>
            <a:r>
              <a:rPr lang="en-US" sz="2400" dirty="0"/>
              <a:t>Quick engagement through posts, comments, and reposts, and use of icons</a:t>
            </a:r>
            <a:endParaRPr dirty="0"/>
          </a:p>
          <a:p>
            <a:pPr marL="457200" lvl="0" indent="-342900" algn="l" rtl="0">
              <a:lnSpc>
                <a:spcPct val="100000"/>
              </a:lnSpc>
              <a:spcBef>
                <a:spcPts val="600"/>
              </a:spcBef>
              <a:spcAft>
                <a:spcPts val="0"/>
              </a:spcAft>
              <a:buSzPts val="1800"/>
              <a:buChar char="•"/>
            </a:pPr>
            <a:r>
              <a:rPr lang="en-US" sz="2400" dirty="0"/>
              <a:t>Broad audience reach, community engagement, and useful analytics</a:t>
            </a:r>
            <a:endParaRPr dirty="0"/>
          </a:p>
          <a:p>
            <a:pPr marL="457200" lvl="0" indent="-342900" algn="l" rtl="0">
              <a:lnSpc>
                <a:spcPct val="100000"/>
              </a:lnSpc>
              <a:spcBef>
                <a:spcPts val="600"/>
              </a:spcBef>
              <a:spcAft>
                <a:spcPts val="0"/>
              </a:spcAft>
              <a:buSzPts val="1800"/>
              <a:buChar char="•"/>
            </a:pPr>
            <a:r>
              <a:rPr lang="en-US" sz="2400" dirty="0"/>
              <a:t>Hashtags are powerful for targeting trends.</a:t>
            </a:r>
            <a:endParaRPr dirty="0"/>
          </a:p>
          <a:p>
            <a:pPr marL="457200" lvl="0" indent="-342900" algn="l" rtl="0">
              <a:lnSpc>
                <a:spcPct val="100000"/>
              </a:lnSpc>
              <a:spcBef>
                <a:spcPts val="600"/>
              </a:spcBef>
              <a:spcAft>
                <a:spcPts val="0"/>
              </a:spcAft>
              <a:buSzPts val="1800"/>
              <a:buChar char="•"/>
            </a:pPr>
            <a:r>
              <a:rPr lang="en-US" sz="2400" dirty="0"/>
              <a:t>Trends can change very quickly</a:t>
            </a:r>
            <a:endParaRPr dirty="0"/>
          </a:p>
          <a:p>
            <a:pPr marL="457200" lvl="0" indent="-342900" algn="l" rtl="0">
              <a:lnSpc>
                <a:spcPct val="100000"/>
              </a:lnSpc>
              <a:spcBef>
                <a:spcPts val="600"/>
              </a:spcBef>
              <a:spcAft>
                <a:spcPts val="0"/>
              </a:spcAft>
              <a:buSzPts val="1800"/>
              <a:buChar char="•"/>
            </a:pPr>
            <a:r>
              <a:rPr lang="en-US" sz="2400" dirty="0"/>
              <a:t>High-risk of instantaneous negative feedback with immediate impact</a:t>
            </a:r>
            <a:endParaRPr dirty="0"/>
          </a:p>
          <a:p>
            <a:pPr marL="457200" lvl="0" indent="-342900" algn="l" rtl="0">
              <a:lnSpc>
                <a:spcPct val="100000"/>
              </a:lnSpc>
              <a:spcBef>
                <a:spcPts val="600"/>
              </a:spcBef>
              <a:spcAft>
                <a:spcPts val="0"/>
              </a:spcAft>
              <a:buSzPts val="1800"/>
              <a:buChar char="•"/>
            </a:pPr>
            <a:r>
              <a:rPr lang="en-US" sz="2400" dirty="0"/>
              <a:t>Time-consuming to maintain creative engagement strategies</a:t>
            </a:r>
            <a:endParaRPr dirty="0"/>
          </a:p>
          <a:p>
            <a:pPr marL="457200" lvl="0" indent="-228600" algn="l" rtl="0">
              <a:lnSpc>
                <a:spcPct val="100000"/>
              </a:lnSpc>
              <a:spcBef>
                <a:spcPts val="600"/>
              </a:spcBef>
              <a:spcAft>
                <a:spcPts val="600"/>
              </a:spcAft>
              <a:buSzPts val="1800"/>
              <a:buNone/>
            </a:pPr>
            <a:endParaRPr sz="2400" dirty="0"/>
          </a:p>
        </p:txBody>
      </p:sp>
      <p:pic>
        <p:nvPicPr>
          <p:cNvPr id="3" name="Picture 2">
            <a:extLst>
              <a:ext uri="{FF2B5EF4-FFF2-40B4-BE49-F238E27FC236}">
                <a16:creationId xmlns:a16="http://schemas.microsoft.com/office/drawing/2014/main" id="{BDE9B6C4-520B-9438-19EB-EDB78CB658D4}"/>
              </a:ext>
            </a:extLst>
          </p:cNvPr>
          <p:cNvPicPr>
            <a:picLocks noChangeAspect="1"/>
          </p:cNvPicPr>
          <p:nvPr/>
        </p:nvPicPr>
        <p:blipFill>
          <a:blip r:embed="rId3"/>
          <a:stretch>
            <a:fillRect/>
          </a:stretch>
        </p:blipFill>
        <p:spPr>
          <a:xfrm>
            <a:off x="1437625" y="6127575"/>
            <a:ext cx="4658375" cy="523948"/>
          </a:xfrm>
          <a:prstGeom prst="rect">
            <a:avLst/>
          </a:prstGeom>
        </p:spPr>
      </p:pic>
      <p:pic>
        <p:nvPicPr>
          <p:cNvPr id="5" name="Picture 4">
            <a:extLst>
              <a:ext uri="{FF2B5EF4-FFF2-40B4-BE49-F238E27FC236}">
                <a16:creationId xmlns:a16="http://schemas.microsoft.com/office/drawing/2014/main" id="{3102BF0D-9729-C863-1E68-58C20ED3E5E7}"/>
              </a:ext>
            </a:extLst>
          </p:cNvPr>
          <p:cNvPicPr>
            <a:picLocks noChangeAspect="1"/>
          </p:cNvPicPr>
          <p:nvPr/>
        </p:nvPicPr>
        <p:blipFill>
          <a:blip r:embed="rId4"/>
          <a:stretch>
            <a:fillRect/>
          </a:stretch>
        </p:blipFill>
        <p:spPr>
          <a:xfrm>
            <a:off x="10139680" y="4880712"/>
            <a:ext cx="1681480" cy="161216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dirty="0">
                <a:solidFill>
                  <a:schemeClr val="accent5"/>
                </a:solidFill>
              </a:rPr>
              <a:t>1.3: Emails</a:t>
            </a:r>
            <a:endParaRPr b="1" dirty="0">
              <a:solidFill>
                <a:schemeClr val="accent5"/>
              </a:solidFill>
            </a:endParaRPr>
          </a:p>
        </p:txBody>
      </p:sp>
      <p:sp>
        <p:nvSpPr>
          <p:cNvPr id="151" name="Google Shape;151;p49"/>
          <p:cNvSpPr txBox="1">
            <a:spLocks noGrp="1"/>
          </p:cNvSpPr>
          <p:nvPr>
            <p:ph type="body" idx="1"/>
          </p:nvPr>
        </p:nvSpPr>
        <p:spPr>
          <a:xfrm>
            <a:off x="838199" y="1825625"/>
            <a:ext cx="11225981" cy="4351338"/>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0"/>
              </a:spcBef>
              <a:spcAft>
                <a:spcPts val="0"/>
              </a:spcAft>
              <a:buSzPts val="1800"/>
              <a:buChar char="•"/>
            </a:pPr>
            <a:r>
              <a:rPr lang="en-US" sz="2400"/>
              <a:t>Used in business to communicate with Clients, colleagues, stakeholders, customers</a:t>
            </a:r>
            <a:endParaRPr/>
          </a:p>
          <a:p>
            <a:pPr marL="457200" lvl="0" indent="-342900" algn="l" rtl="0">
              <a:lnSpc>
                <a:spcPct val="100000"/>
              </a:lnSpc>
              <a:spcBef>
                <a:spcPts val="600"/>
              </a:spcBef>
              <a:spcAft>
                <a:spcPts val="0"/>
              </a:spcAft>
              <a:buSzPts val="1800"/>
              <a:buChar char="•"/>
            </a:pPr>
            <a:r>
              <a:rPr lang="en-US" sz="2400"/>
              <a:t>Used for Formal communication, marketing, newsletters, documentation</a:t>
            </a:r>
            <a:endParaRPr/>
          </a:p>
          <a:p>
            <a:pPr marL="457200" lvl="0" indent="-342900" algn="l" rtl="0">
              <a:lnSpc>
                <a:spcPct val="100000"/>
              </a:lnSpc>
              <a:spcBef>
                <a:spcPts val="600"/>
              </a:spcBef>
              <a:spcAft>
                <a:spcPts val="0"/>
              </a:spcAft>
              <a:buSzPts val="1800"/>
              <a:buChar char="•"/>
            </a:pPr>
            <a:r>
              <a:rPr lang="en-US" sz="2400"/>
              <a:t>Follows a clearly identifiable format: </a:t>
            </a:r>
            <a:endParaRPr/>
          </a:p>
          <a:p>
            <a:pPr marL="571500" lvl="1" indent="0" algn="l" rtl="0">
              <a:lnSpc>
                <a:spcPct val="100000"/>
              </a:lnSpc>
              <a:spcBef>
                <a:spcPts val="600"/>
              </a:spcBef>
              <a:spcAft>
                <a:spcPts val="0"/>
              </a:spcAft>
              <a:buSzPts val="1800"/>
              <a:buNone/>
            </a:pPr>
            <a:r>
              <a:rPr lang="en-US"/>
              <a:t>Subject Line, Message Body (Opening, Main Message, Action, Closing)</a:t>
            </a:r>
            <a:endParaRPr/>
          </a:p>
          <a:p>
            <a:pPr marL="457200" lvl="0" indent="-342900" algn="l" rtl="0">
              <a:lnSpc>
                <a:spcPct val="100000"/>
              </a:lnSpc>
              <a:spcBef>
                <a:spcPts val="600"/>
              </a:spcBef>
              <a:spcAft>
                <a:spcPts val="0"/>
              </a:spcAft>
              <a:buSzPts val="1800"/>
              <a:buChar char="•"/>
            </a:pPr>
            <a:r>
              <a:rPr lang="en-US" sz="2400"/>
              <a:t>Effective for providing detailed information and highly versatile for different situations. Easily scalable for mass marketing</a:t>
            </a:r>
            <a:endParaRPr sz="2400"/>
          </a:p>
          <a:p>
            <a:pPr marL="457200" lvl="0" indent="-342900" algn="l" rtl="0">
              <a:lnSpc>
                <a:spcPct val="100000"/>
              </a:lnSpc>
              <a:spcBef>
                <a:spcPts val="600"/>
              </a:spcBef>
              <a:spcAft>
                <a:spcPts val="0"/>
              </a:spcAft>
              <a:buSzPts val="1800"/>
              <a:buChar char="•"/>
            </a:pPr>
            <a:r>
              <a:rPr lang="en-US" sz="2400"/>
              <a:t>Can be easily overlooked (inbox clutter)</a:t>
            </a:r>
            <a:endParaRPr/>
          </a:p>
          <a:p>
            <a:pPr marL="457200" lvl="0" indent="-342900" algn="l" rtl="0">
              <a:lnSpc>
                <a:spcPct val="100000"/>
              </a:lnSpc>
              <a:spcBef>
                <a:spcPts val="600"/>
              </a:spcBef>
              <a:spcAft>
                <a:spcPts val="0"/>
              </a:spcAft>
              <a:buSzPts val="1800"/>
              <a:buChar char="•"/>
            </a:pPr>
            <a:r>
              <a:rPr lang="en-US" sz="2400"/>
              <a:t>Potential for being marked as spam</a:t>
            </a:r>
            <a:endParaRPr/>
          </a:p>
          <a:p>
            <a:pPr marL="457200" lvl="0" indent="-342900" algn="l" rtl="0">
              <a:lnSpc>
                <a:spcPct val="100000"/>
              </a:lnSpc>
              <a:spcBef>
                <a:spcPts val="600"/>
              </a:spcBef>
              <a:spcAft>
                <a:spcPts val="0"/>
              </a:spcAft>
              <a:buSzPts val="1800"/>
              <a:buChar char="•"/>
            </a:pPr>
            <a:r>
              <a:rPr lang="en-US" sz="2400"/>
              <a:t>Requires careful crafting to avoid miscommunication</a:t>
            </a:r>
            <a:endParaRPr sz="2400"/>
          </a:p>
          <a:p>
            <a:pPr marL="114300" lvl="0" indent="0" algn="l" rtl="0">
              <a:lnSpc>
                <a:spcPct val="100000"/>
              </a:lnSpc>
              <a:spcBef>
                <a:spcPts val="600"/>
              </a:spcBef>
              <a:spcAft>
                <a:spcPts val="600"/>
              </a:spcAft>
              <a:buSzPts val="1800"/>
              <a:buNone/>
            </a:pPr>
            <a:endParaRPr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dirty="0">
                <a:solidFill>
                  <a:schemeClr val="accent5"/>
                </a:solidFill>
              </a:rPr>
              <a:t>1.4: Website Press Releases</a:t>
            </a:r>
            <a:endParaRPr b="1" dirty="0">
              <a:solidFill>
                <a:schemeClr val="accent5"/>
              </a:solidFill>
            </a:endParaRPr>
          </a:p>
        </p:txBody>
      </p:sp>
      <p:sp>
        <p:nvSpPr>
          <p:cNvPr id="157" name="Google Shape;15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0"/>
              </a:spcBef>
              <a:spcAft>
                <a:spcPts val="0"/>
              </a:spcAft>
              <a:buSzPts val="1800"/>
              <a:buChar char="•"/>
            </a:pPr>
            <a:r>
              <a:rPr lang="en-US" sz="2400">
                <a:latin typeface="Calibri"/>
                <a:ea typeface="Calibri"/>
                <a:cs typeface="Calibri"/>
                <a:sym typeface="Calibri"/>
              </a:rPr>
              <a:t>Used in business to communicate with Clients, colleagues, stakeholders, customers</a:t>
            </a:r>
            <a:endParaRPr/>
          </a:p>
          <a:p>
            <a:pPr marL="457200" lvl="0" indent="-342900" algn="l" rtl="0">
              <a:lnSpc>
                <a:spcPct val="100000"/>
              </a:lnSpc>
              <a:spcBef>
                <a:spcPts val="600"/>
              </a:spcBef>
              <a:spcAft>
                <a:spcPts val="0"/>
              </a:spcAft>
              <a:buSzPts val="1800"/>
              <a:buChar char="•"/>
            </a:pPr>
            <a:r>
              <a:rPr lang="en-US" sz="2400">
                <a:latin typeface="Calibri"/>
                <a:ea typeface="Calibri"/>
                <a:cs typeface="Calibri"/>
                <a:sym typeface="Calibri"/>
              </a:rPr>
              <a:t>Used for Formal communication, marketing, newsletters, documentation</a:t>
            </a:r>
            <a:endParaRPr/>
          </a:p>
          <a:p>
            <a:pPr marL="457200" lvl="0" indent="-342900" algn="l" rtl="0">
              <a:lnSpc>
                <a:spcPct val="100000"/>
              </a:lnSpc>
              <a:spcBef>
                <a:spcPts val="600"/>
              </a:spcBef>
              <a:spcAft>
                <a:spcPts val="0"/>
              </a:spcAft>
              <a:buSzPts val="1800"/>
              <a:buChar char="•"/>
            </a:pPr>
            <a:r>
              <a:rPr lang="en-US" sz="2400">
                <a:solidFill>
                  <a:schemeClr val="dk1"/>
                </a:solidFill>
                <a:latin typeface="Calibri"/>
                <a:ea typeface="Calibri"/>
                <a:cs typeface="Calibri"/>
                <a:sym typeface="Calibri"/>
              </a:rPr>
              <a:t>Keeps clients informed about updates, products, or services</a:t>
            </a:r>
            <a:endParaRPr/>
          </a:p>
          <a:p>
            <a:pPr marL="457200" lvl="0" indent="-342900" algn="l" rtl="0">
              <a:lnSpc>
                <a:spcPct val="100000"/>
              </a:lnSpc>
              <a:spcBef>
                <a:spcPts val="600"/>
              </a:spcBef>
              <a:spcAft>
                <a:spcPts val="0"/>
              </a:spcAft>
              <a:buSzPts val="1800"/>
              <a:buChar char="•"/>
            </a:pPr>
            <a:r>
              <a:rPr lang="en-US" sz="2400">
                <a:solidFill>
                  <a:schemeClr val="dk1"/>
                </a:solidFill>
                <a:latin typeface="Calibri"/>
                <a:ea typeface="Calibri"/>
                <a:cs typeface="Calibri"/>
                <a:sym typeface="Calibri"/>
              </a:rPr>
              <a:t>Strengthens brand loyalty through regular, reliable communication</a:t>
            </a:r>
            <a:endParaRPr/>
          </a:p>
          <a:p>
            <a:pPr marL="457200" lvl="0" indent="-342900" algn="l" rtl="0">
              <a:lnSpc>
                <a:spcPct val="100000"/>
              </a:lnSpc>
              <a:spcBef>
                <a:spcPts val="600"/>
              </a:spcBef>
              <a:spcAft>
                <a:spcPts val="0"/>
              </a:spcAft>
              <a:buSzPts val="1800"/>
              <a:buChar char="•"/>
            </a:pPr>
            <a:r>
              <a:rPr lang="en-US" sz="2400">
                <a:solidFill>
                  <a:schemeClr val="dk1"/>
                </a:solidFill>
                <a:latin typeface="Calibri"/>
                <a:ea typeface="Calibri"/>
                <a:cs typeface="Calibri"/>
                <a:sym typeface="Calibri"/>
              </a:rPr>
              <a:t>Builds trust by sharing useful, relevant information consistently</a:t>
            </a:r>
            <a:endParaRPr/>
          </a:p>
          <a:p>
            <a:pPr marL="457200" lvl="0" indent="-342900" algn="l" rtl="0">
              <a:lnSpc>
                <a:spcPct val="100000"/>
              </a:lnSpc>
              <a:spcBef>
                <a:spcPts val="600"/>
              </a:spcBef>
              <a:spcAft>
                <a:spcPts val="0"/>
              </a:spcAft>
              <a:buSzPts val="1800"/>
              <a:buChar char="•"/>
            </a:pPr>
            <a:r>
              <a:rPr lang="en-US" sz="2400">
                <a:solidFill>
                  <a:schemeClr val="dk1"/>
                </a:solidFill>
                <a:latin typeface="Calibri"/>
                <a:ea typeface="Calibri"/>
                <a:cs typeface="Calibri"/>
                <a:sym typeface="Calibri"/>
              </a:rPr>
              <a:t>Supports long-term relationships through personalized and targeted content</a:t>
            </a:r>
            <a:endParaRPr sz="2400">
              <a:solidFill>
                <a:schemeClr val="dk1"/>
              </a:solidFill>
              <a:latin typeface="Calibri"/>
              <a:ea typeface="Calibri"/>
              <a:cs typeface="Calibri"/>
              <a:sym typeface="Calibri"/>
            </a:endParaRPr>
          </a:p>
          <a:p>
            <a:pPr marL="457200" lvl="0" indent="-228600" algn="l" rtl="0">
              <a:lnSpc>
                <a:spcPct val="100000"/>
              </a:lnSpc>
              <a:spcBef>
                <a:spcPts val="600"/>
              </a:spcBef>
              <a:spcAft>
                <a:spcPts val="0"/>
              </a:spcAft>
              <a:buSzPts val="1800"/>
              <a:buNone/>
            </a:pPr>
            <a:endParaRPr sz="2400">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50"/>
          <p:cNvSpPr txBox="1">
            <a:spLocks noGrp="1"/>
          </p:cNvSpPr>
          <p:nvPr>
            <p:ph type="title"/>
          </p:nvPr>
        </p:nvSpPr>
        <p:spPr>
          <a:xfrm>
            <a:off x="694617" y="-118524"/>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dirty="0">
                <a:solidFill>
                  <a:schemeClr val="accent5"/>
                </a:solidFill>
              </a:rPr>
              <a:t>2: Using Digital Platforms</a:t>
            </a:r>
            <a:endParaRPr b="1" dirty="0">
              <a:solidFill>
                <a:schemeClr val="accent5"/>
              </a:solidFill>
            </a:endParaRPr>
          </a:p>
        </p:txBody>
      </p:sp>
      <p:sp>
        <p:nvSpPr>
          <p:cNvPr id="163" name="Google Shape;163;p50"/>
          <p:cNvSpPr txBox="1">
            <a:spLocks noGrp="1"/>
          </p:cNvSpPr>
          <p:nvPr>
            <p:ph type="body" idx="1"/>
          </p:nvPr>
        </p:nvSpPr>
        <p:spPr>
          <a:xfrm>
            <a:off x="573705" y="797870"/>
            <a:ext cx="10515600" cy="477182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0"/>
              </a:spcBef>
              <a:spcAft>
                <a:spcPts val="0"/>
              </a:spcAft>
              <a:buSzPts val="1800"/>
              <a:buNone/>
            </a:pPr>
            <a:r>
              <a:rPr lang="en-US" sz="2000" b="1" dirty="0"/>
              <a:t>Not only the message/idea is important, but also the manner in presenting it via the appropriate format:</a:t>
            </a:r>
            <a:endParaRPr sz="2000" dirty="0"/>
          </a:p>
          <a:p>
            <a:r>
              <a:rPr lang="en-US" sz="2000" b="1" dirty="0"/>
              <a:t>The format of a message affects how we present information.</a:t>
            </a:r>
            <a:endParaRPr lang="en-US" sz="2000" dirty="0"/>
          </a:p>
          <a:p>
            <a:pPr lvl="1"/>
            <a:r>
              <a:rPr lang="en-US" sz="1600" b="1" dirty="0"/>
              <a:t>Short messages</a:t>
            </a:r>
          </a:p>
          <a:p>
            <a:pPr lvl="1"/>
            <a:r>
              <a:rPr lang="en-US" sz="1600" b="1" dirty="0"/>
              <a:t>Longer messages</a:t>
            </a:r>
            <a:endParaRPr lang="en-US" sz="1600" dirty="0"/>
          </a:p>
          <a:p>
            <a:pPr lvl="0"/>
            <a:r>
              <a:rPr lang="en-US" sz="2000" dirty="0"/>
              <a:t>When would a businessperson choose a short message? </a:t>
            </a:r>
          </a:p>
          <a:p>
            <a:pPr lvl="1"/>
            <a:r>
              <a:rPr lang="en-US" sz="1600" dirty="0">
                <a:solidFill>
                  <a:srgbClr val="FF0000"/>
                </a:solidFill>
              </a:rPr>
              <a:t>When the density of information is less.</a:t>
            </a:r>
          </a:p>
          <a:p>
            <a:pPr lvl="0"/>
            <a:r>
              <a:rPr lang="en-US" sz="2000" dirty="0"/>
              <a:t>When would a longer message be more appropriate? </a:t>
            </a:r>
          </a:p>
          <a:p>
            <a:pPr lvl="1"/>
            <a:r>
              <a:rPr lang="en-US" sz="1600" dirty="0">
                <a:solidFill>
                  <a:srgbClr val="FF0000"/>
                </a:solidFill>
              </a:rPr>
              <a:t>When the details of the idea can help receiver to better understand.</a:t>
            </a:r>
          </a:p>
          <a:p>
            <a:pPr lvl="0"/>
            <a:r>
              <a:rPr lang="en-US" sz="2000" dirty="0"/>
              <a:t>Is a longer message always better? </a:t>
            </a:r>
          </a:p>
          <a:p>
            <a:pPr lvl="1"/>
            <a:r>
              <a:rPr lang="en-US" sz="1600" dirty="0">
                <a:solidFill>
                  <a:srgbClr val="FF0000"/>
                </a:solidFill>
              </a:rPr>
              <a:t>No one type of message can be used in every situation.</a:t>
            </a:r>
          </a:p>
          <a:p>
            <a:pPr lvl="0"/>
            <a:r>
              <a:rPr lang="en-US" sz="2000" dirty="0"/>
              <a:t>If you are sending a quick message to a colleague, do you need a full explanation? </a:t>
            </a:r>
          </a:p>
          <a:p>
            <a:pPr lvl="1"/>
            <a:r>
              <a:rPr lang="en-US" sz="1600" dirty="0">
                <a:solidFill>
                  <a:srgbClr val="FF0000"/>
                </a:solidFill>
              </a:rPr>
              <a:t>Mostly don’t, but if the colleague unknow about the context, it will be necessary to add details.</a:t>
            </a:r>
          </a:p>
          <a:p>
            <a:pPr lvl="0"/>
            <a:r>
              <a:rPr lang="en-US" sz="2000" dirty="0"/>
              <a:t>What happens to language when we need to communicate quickly? </a:t>
            </a:r>
          </a:p>
          <a:p>
            <a:pPr lvl="1"/>
            <a:r>
              <a:rPr lang="en-US" sz="1600" dirty="0">
                <a:solidFill>
                  <a:srgbClr val="FF0000"/>
                </a:solidFill>
              </a:rPr>
              <a:t>Use short phase, concise vocabulary, and straight to the point.</a:t>
            </a:r>
          </a:p>
          <a:p>
            <a:pPr lvl="0"/>
            <a:r>
              <a:rPr lang="en-US" sz="2000" dirty="0"/>
              <a:t>If the reader needs several pieces of information, how could you make the message easier to read? </a:t>
            </a:r>
          </a:p>
          <a:p>
            <a:pPr lvl="1"/>
            <a:r>
              <a:rPr lang="en-US" sz="1600" dirty="0">
                <a:solidFill>
                  <a:srgbClr val="FF0000"/>
                </a:solidFill>
              </a:rPr>
              <a:t>Use long message format, use formal tone, clear and precise vocabulary.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53"/>
          <p:cNvSpPr txBox="1">
            <a:spLocks noGrp="1"/>
          </p:cNvSpPr>
          <p:nvPr>
            <p:ph type="title"/>
          </p:nvPr>
        </p:nvSpPr>
        <p:spPr>
          <a:xfrm>
            <a:off x="838199" y="365125"/>
            <a:ext cx="11176591"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a:solidFill>
                  <a:schemeClr val="accent5"/>
                </a:solidFill>
              </a:rPr>
              <a:t>3: Adapting the message for Various Platforms</a:t>
            </a:r>
            <a:endParaRPr b="1">
              <a:solidFill>
                <a:schemeClr val="accent5"/>
              </a:solidFill>
            </a:endParaRPr>
          </a:p>
        </p:txBody>
      </p:sp>
      <p:sp>
        <p:nvSpPr>
          <p:cNvPr id="181" name="Google Shape;181;p5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91440" lvl="0" indent="0" algn="l" rtl="0">
              <a:lnSpc>
                <a:spcPct val="100000"/>
              </a:lnSpc>
              <a:spcBef>
                <a:spcPts val="0"/>
              </a:spcBef>
              <a:spcAft>
                <a:spcPts val="0"/>
              </a:spcAft>
              <a:buSzPts val="1800"/>
              <a:buNone/>
            </a:pPr>
            <a:r>
              <a:rPr lang="en-US" sz="2400" dirty="0"/>
              <a:t>The  key considerations of message length highlight the different priorities and strategies required for effective communication depending on the platform used and the purpose of the digital message.</a:t>
            </a:r>
            <a:endParaRPr dirty="0"/>
          </a:p>
          <a:p>
            <a:pPr marL="91440" lvl="0" indent="0" algn="l" rtl="0">
              <a:lnSpc>
                <a:spcPct val="100000"/>
              </a:lnSpc>
              <a:spcBef>
                <a:spcPts val="0"/>
              </a:spcBef>
              <a:spcAft>
                <a:spcPts val="0"/>
              </a:spcAft>
              <a:buSzPts val="1800"/>
              <a:buNone/>
            </a:pPr>
            <a:endParaRPr sz="2400" dirty="0"/>
          </a:p>
          <a:p>
            <a:pPr marL="114300" indent="0">
              <a:buNone/>
            </a:pPr>
            <a:r>
              <a:rPr lang="en-US" sz="2400" b="1" dirty="0"/>
              <a:t>The Same Principles, Different Platforms</a:t>
            </a:r>
            <a:endParaRPr lang="en-US" sz="2400" dirty="0"/>
          </a:p>
          <a:p>
            <a:pPr lvl="0"/>
            <a:r>
              <a:rPr lang="en-US" sz="2400" dirty="0"/>
              <a:t>Email → more detail and structure </a:t>
            </a:r>
          </a:p>
          <a:p>
            <a:pPr lvl="0"/>
            <a:r>
              <a:rPr lang="en-US" sz="2400" dirty="0"/>
              <a:t>Chat/Instant Messages → short, direct, immediate </a:t>
            </a:r>
          </a:p>
          <a:p>
            <a:pPr lvl="0"/>
            <a:r>
              <a:rPr lang="en-US" sz="2400" dirty="0"/>
              <a:t>Social media → public, engaging, audience-focused </a:t>
            </a:r>
          </a:p>
          <a:p>
            <a:pPr lvl="0"/>
            <a:r>
              <a:rPr lang="en-US" sz="2400" dirty="0"/>
              <a:t>Website/press release → formal, informative, wider audience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5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a:solidFill>
                  <a:schemeClr val="accent5"/>
                </a:solidFill>
              </a:rPr>
              <a:t>4: Responding to Digital Messaging</a:t>
            </a:r>
            <a:endParaRPr b="1">
              <a:solidFill>
                <a:schemeClr val="accent5"/>
              </a:solidFill>
            </a:endParaRPr>
          </a:p>
        </p:txBody>
      </p:sp>
      <p:sp>
        <p:nvSpPr>
          <p:cNvPr id="195" name="Google Shape;195;p55"/>
          <p:cNvSpPr txBox="1">
            <a:spLocks noGrp="1"/>
          </p:cNvSpPr>
          <p:nvPr>
            <p:ph type="body" idx="1"/>
          </p:nvPr>
        </p:nvSpPr>
        <p:spPr>
          <a:xfrm>
            <a:off x="838200" y="1825625"/>
            <a:ext cx="11155680" cy="4351338"/>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US" b="1">
                <a:latin typeface="Calibri"/>
                <a:ea typeface="Calibri"/>
                <a:cs typeface="Calibri"/>
                <a:sym typeface="Calibri"/>
              </a:rPr>
              <a:t>Q: Why do you think responses to Digital Communication are important?</a:t>
            </a:r>
            <a:endParaRPr/>
          </a:p>
          <a:p>
            <a:pPr marL="114300" lvl="0" indent="0" algn="l" rtl="0">
              <a:lnSpc>
                <a:spcPct val="90000"/>
              </a:lnSpc>
              <a:spcBef>
                <a:spcPts val="1000"/>
              </a:spcBef>
              <a:spcAft>
                <a:spcPts val="0"/>
              </a:spcAft>
              <a:buSzPts val="1800"/>
              <a:buNone/>
            </a:pPr>
            <a:r>
              <a:rPr lang="en-US" b="1">
                <a:latin typeface="Calibri"/>
                <a:ea typeface="Calibri"/>
                <a:cs typeface="Calibri"/>
                <a:sym typeface="Calibri"/>
              </a:rPr>
              <a:t>Q: How can/should you respond appropriately?</a:t>
            </a:r>
            <a:endParaRPr/>
          </a:p>
          <a:p>
            <a:pPr marL="114300" lvl="0" indent="0" algn="l" rtl="0">
              <a:lnSpc>
                <a:spcPct val="90000"/>
              </a:lnSpc>
              <a:spcBef>
                <a:spcPts val="1000"/>
              </a:spcBef>
              <a:spcAft>
                <a:spcPts val="0"/>
              </a:spcAft>
              <a:buSzPts val="1800"/>
              <a:buNone/>
            </a:pPr>
            <a:endParaRPr>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
          <p:cNvSpPr txBox="1">
            <a:spLocks noGrp="1"/>
          </p:cNvSpPr>
          <p:nvPr>
            <p:ph type="title"/>
          </p:nvPr>
        </p:nvSpPr>
        <p:spPr>
          <a:xfrm>
            <a:off x="838200" y="365125"/>
            <a:ext cx="113538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a:solidFill>
                  <a:schemeClr val="accent5"/>
                </a:solidFill>
              </a:rPr>
              <a:t>5. Activity: Examples of Digital Communications </a:t>
            </a:r>
            <a:endParaRPr b="1">
              <a:solidFill>
                <a:schemeClr val="accent5"/>
              </a:solidFill>
            </a:endParaRPr>
          </a:p>
        </p:txBody>
      </p:sp>
      <p:sp>
        <p:nvSpPr>
          <p:cNvPr id="201" name="Google Shape;201;p3"/>
          <p:cNvSpPr txBox="1">
            <a:spLocks noGrp="1"/>
          </p:cNvSpPr>
          <p:nvPr>
            <p:ph type="body" idx="1"/>
          </p:nvPr>
        </p:nvSpPr>
        <p:spPr>
          <a:xfrm>
            <a:off x="838199" y="1825625"/>
            <a:ext cx="11176591" cy="435133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800"/>
              <a:buNone/>
            </a:pPr>
            <a:r>
              <a:rPr lang="en-US" sz="2400" b="1" dirty="0"/>
              <a:t>Instructions:</a:t>
            </a:r>
            <a:endParaRPr dirty="0"/>
          </a:p>
          <a:p>
            <a:pPr marL="0" lvl="0" indent="0" algn="l" rtl="0">
              <a:lnSpc>
                <a:spcPct val="100000"/>
              </a:lnSpc>
              <a:spcBef>
                <a:spcPts val="0"/>
              </a:spcBef>
              <a:spcAft>
                <a:spcPts val="0"/>
              </a:spcAft>
              <a:buSzPts val="1800"/>
              <a:buNone/>
            </a:pPr>
            <a:r>
              <a:rPr lang="en-US" sz="2400" dirty="0"/>
              <a:t>You are about to see an example situation that requires communication across a range of platforms, followed by some samples of digital communication methods.</a:t>
            </a:r>
            <a:endParaRPr dirty="0"/>
          </a:p>
          <a:p>
            <a:pPr marL="0" lvl="0" indent="0" algn="l" rtl="0">
              <a:lnSpc>
                <a:spcPct val="100000"/>
              </a:lnSpc>
              <a:spcBef>
                <a:spcPts val="0"/>
              </a:spcBef>
              <a:spcAft>
                <a:spcPts val="0"/>
              </a:spcAft>
              <a:buSzPts val="1800"/>
              <a:buNone/>
            </a:pPr>
            <a:endParaRPr sz="2400" dirty="0"/>
          </a:p>
          <a:p>
            <a:pPr marL="0" lvl="0" indent="0" algn="l" rtl="0">
              <a:lnSpc>
                <a:spcPct val="100000"/>
              </a:lnSpc>
              <a:spcBef>
                <a:spcPts val="0"/>
              </a:spcBef>
              <a:spcAft>
                <a:spcPts val="0"/>
              </a:spcAft>
              <a:buSzPts val="1800"/>
              <a:buNone/>
            </a:pPr>
            <a:r>
              <a:rPr lang="en-US" sz="2400" dirty="0"/>
              <a:t>In pairs, as you review each message, try to recognize the:</a:t>
            </a:r>
            <a:endParaRPr dirty="0"/>
          </a:p>
          <a:p>
            <a:pPr marL="0" lvl="0" indent="0" algn="l" rtl="0">
              <a:lnSpc>
                <a:spcPct val="100000"/>
              </a:lnSpc>
              <a:spcBef>
                <a:spcPts val="0"/>
              </a:spcBef>
              <a:spcAft>
                <a:spcPts val="0"/>
              </a:spcAft>
              <a:buSzPts val="1800"/>
              <a:buChar char="•"/>
            </a:pPr>
            <a:r>
              <a:rPr lang="en-US" sz="2400" dirty="0"/>
              <a:t>Primary Audience</a:t>
            </a:r>
            <a:endParaRPr dirty="0"/>
          </a:p>
          <a:p>
            <a:pPr marL="0" lvl="0" indent="0" algn="l" rtl="0">
              <a:lnSpc>
                <a:spcPct val="100000"/>
              </a:lnSpc>
              <a:spcBef>
                <a:spcPts val="0"/>
              </a:spcBef>
              <a:spcAft>
                <a:spcPts val="0"/>
              </a:spcAft>
              <a:buSzPts val="1800"/>
              <a:buChar char="•"/>
            </a:pPr>
            <a:r>
              <a:rPr lang="en-US" sz="2400" dirty="0"/>
              <a:t>Main purpose/reason for communicating</a:t>
            </a:r>
            <a:endParaRPr dirty="0"/>
          </a:p>
          <a:p>
            <a:pPr marL="0" lvl="0" indent="0" algn="l" rtl="0">
              <a:lnSpc>
                <a:spcPct val="100000"/>
              </a:lnSpc>
              <a:spcBef>
                <a:spcPts val="0"/>
              </a:spcBef>
              <a:spcAft>
                <a:spcPts val="0"/>
              </a:spcAft>
              <a:buSzPts val="1800"/>
              <a:buChar char="•"/>
            </a:pPr>
            <a:r>
              <a:rPr lang="en-US" sz="2400" dirty="0"/>
              <a:t>Tone/Level of formality</a:t>
            </a:r>
            <a:endParaRPr dirty="0"/>
          </a:p>
          <a:p>
            <a:pPr marL="0" lvl="0" indent="0" algn="l" rtl="0">
              <a:lnSpc>
                <a:spcPct val="100000"/>
              </a:lnSpc>
              <a:spcBef>
                <a:spcPts val="0"/>
              </a:spcBef>
              <a:spcAft>
                <a:spcPts val="0"/>
              </a:spcAft>
              <a:buSzPts val="1800"/>
              <a:buChar char="•"/>
            </a:pPr>
            <a:r>
              <a:rPr lang="en-US" sz="2400" dirty="0"/>
              <a:t>Level of detail</a:t>
            </a:r>
            <a:endParaRPr dirty="0"/>
          </a:p>
          <a:p>
            <a:pPr marL="0" lvl="0" indent="0" algn="l" rtl="0">
              <a:lnSpc>
                <a:spcPct val="100000"/>
              </a:lnSpc>
              <a:spcBef>
                <a:spcPts val="0"/>
              </a:spcBef>
              <a:spcAft>
                <a:spcPts val="0"/>
              </a:spcAft>
              <a:buSzPts val="1800"/>
              <a:buChar char="•"/>
            </a:pPr>
            <a:r>
              <a:rPr lang="en-US" sz="2400" dirty="0"/>
              <a:t>Intended outcome of the message</a:t>
            </a:r>
            <a:endParaRPr sz="2400" dirty="0"/>
          </a:p>
        </p:txBody>
      </p:sp>
      <p:pic>
        <p:nvPicPr>
          <p:cNvPr id="3" name="Picture 2">
            <a:extLst>
              <a:ext uri="{FF2B5EF4-FFF2-40B4-BE49-F238E27FC236}">
                <a16:creationId xmlns:a16="http://schemas.microsoft.com/office/drawing/2014/main" id="{67BC3A7F-74F4-C1E7-C708-445FAC439C13}"/>
              </a:ext>
            </a:extLst>
          </p:cNvPr>
          <p:cNvPicPr>
            <a:picLocks noChangeAspect="1"/>
          </p:cNvPicPr>
          <p:nvPr/>
        </p:nvPicPr>
        <p:blipFill>
          <a:blip r:embed="rId3"/>
          <a:stretch>
            <a:fillRect/>
          </a:stretch>
        </p:blipFill>
        <p:spPr>
          <a:xfrm>
            <a:off x="6983360" y="5873689"/>
            <a:ext cx="4563112" cy="438211"/>
          </a:xfrm>
          <a:prstGeom prst="rect">
            <a:avLst/>
          </a:prstGeom>
        </p:spPr>
      </p:pic>
      <p:pic>
        <p:nvPicPr>
          <p:cNvPr id="7" name="Picture 6">
            <a:extLst>
              <a:ext uri="{FF2B5EF4-FFF2-40B4-BE49-F238E27FC236}">
                <a16:creationId xmlns:a16="http://schemas.microsoft.com/office/drawing/2014/main" id="{FFC513B4-8481-D39D-3AF5-C141D00D9AA3}"/>
              </a:ext>
            </a:extLst>
          </p:cNvPr>
          <p:cNvPicPr>
            <a:picLocks noChangeAspect="1"/>
          </p:cNvPicPr>
          <p:nvPr/>
        </p:nvPicPr>
        <p:blipFill>
          <a:blip r:embed="rId4"/>
          <a:stretch>
            <a:fillRect/>
          </a:stretch>
        </p:blipFill>
        <p:spPr>
          <a:xfrm>
            <a:off x="1201902" y="5873689"/>
            <a:ext cx="3515216" cy="457264"/>
          </a:xfrm>
          <a:prstGeom prst="rect">
            <a:avLst/>
          </a:prstGeom>
        </p:spPr>
      </p:pic>
      <p:pic>
        <p:nvPicPr>
          <p:cNvPr id="9" name="Picture 8">
            <a:extLst>
              <a:ext uri="{FF2B5EF4-FFF2-40B4-BE49-F238E27FC236}">
                <a16:creationId xmlns:a16="http://schemas.microsoft.com/office/drawing/2014/main" id="{63E18975-8A60-8E98-4DAD-0CC94E69BB14}"/>
              </a:ext>
            </a:extLst>
          </p:cNvPr>
          <p:cNvPicPr>
            <a:picLocks noChangeAspect="1"/>
          </p:cNvPicPr>
          <p:nvPr/>
        </p:nvPicPr>
        <p:blipFill>
          <a:blip r:embed="rId5"/>
          <a:stretch>
            <a:fillRect/>
          </a:stretch>
        </p:blipFill>
        <p:spPr>
          <a:xfrm>
            <a:off x="6515100" y="3822072"/>
            <a:ext cx="2300749" cy="1897627"/>
          </a:xfrm>
          <a:prstGeom prst="rect">
            <a:avLst/>
          </a:prstGeom>
        </p:spPr>
      </p:pic>
      <p:pic>
        <p:nvPicPr>
          <p:cNvPr id="13" name="Picture 12">
            <a:extLst>
              <a:ext uri="{FF2B5EF4-FFF2-40B4-BE49-F238E27FC236}">
                <a16:creationId xmlns:a16="http://schemas.microsoft.com/office/drawing/2014/main" id="{4410E5D4-88DA-6F17-09BE-58B10AD6F61B}"/>
              </a:ext>
            </a:extLst>
          </p:cNvPr>
          <p:cNvPicPr>
            <a:picLocks noChangeAspect="1"/>
          </p:cNvPicPr>
          <p:nvPr/>
        </p:nvPicPr>
        <p:blipFill>
          <a:blip r:embed="rId6"/>
          <a:stretch>
            <a:fillRect/>
          </a:stretch>
        </p:blipFill>
        <p:spPr>
          <a:xfrm>
            <a:off x="9351630" y="3822071"/>
            <a:ext cx="2300749" cy="189762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4"/>
          <p:cNvSpPr txBox="1">
            <a:spLocks noGrp="1"/>
          </p:cNvSpPr>
          <p:nvPr>
            <p:ph type="title"/>
          </p:nvPr>
        </p:nvSpPr>
        <p:spPr>
          <a:xfrm>
            <a:off x="838199" y="365125"/>
            <a:ext cx="11644423"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a:solidFill>
                  <a:schemeClr val="accent5"/>
                </a:solidFill>
              </a:rPr>
              <a:t>5.1: Scenario: Internet Service Disruption</a:t>
            </a:r>
            <a:endParaRPr b="1">
              <a:solidFill>
                <a:schemeClr val="accent5"/>
              </a:solidFill>
            </a:endParaRPr>
          </a:p>
        </p:txBody>
      </p:sp>
      <p:sp>
        <p:nvSpPr>
          <p:cNvPr id="207" name="Google Shape;207;p4"/>
          <p:cNvSpPr txBox="1">
            <a:spLocks noGrp="1"/>
          </p:cNvSpPr>
          <p:nvPr>
            <p:ph type="body" idx="1"/>
          </p:nvPr>
        </p:nvSpPr>
        <p:spPr>
          <a:xfrm>
            <a:off x="838200" y="1804359"/>
            <a:ext cx="11353800" cy="4830357"/>
          </a:xfrm>
          <a:prstGeom prst="rect">
            <a:avLst/>
          </a:prstGeom>
          <a:noFill/>
          <a:ln>
            <a:noFill/>
          </a:ln>
        </p:spPr>
        <p:txBody>
          <a:bodyPr spcFirstLastPara="1" wrap="square" lIns="91425" tIns="45700" rIns="91425" bIns="45700" anchor="t" anchorCtr="0">
            <a:normAutofit fontScale="47500" lnSpcReduction="20000"/>
          </a:bodyPr>
          <a:lstStyle/>
          <a:p>
            <a:pPr marL="0" lvl="0" indent="0" algn="l" rtl="0">
              <a:lnSpc>
                <a:spcPct val="120000"/>
              </a:lnSpc>
              <a:spcBef>
                <a:spcPts val="0"/>
              </a:spcBef>
              <a:spcAft>
                <a:spcPts val="0"/>
              </a:spcAft>
              <a:buSzPct val="86124"/>
              <a:buNone/>
            </a:pPr>
            <a:r>
              <a:rPr lang="en-US" sz="4400" b="1"/>
              <a:t>Company Name:</a:t>
            </a:r>
            <a:r>
              <a:rPr lang="en-US" sz="4400"/>
              <a:t> SkyConnect Internet Co., Ltd.</a:t>
            </a:r>
            <a:br>
              <a:rPr lang="en-US" sz="4400"/>
            </a:br>
            <a:r>
              <a:rPr lang="en-US" sz="4400" b="1"/>
              <a:t>Location:</a:t>
            </a:r>
            <a:r>
              <a:rPr lang="en-US" sz="4400"/>
              <a:t> Chiang Mai, Thailand</a:t>
            </a:r>
            <a:br>
              <a:rPr lang="en-US" sz="4400"/>
            </a:br>
            <a:r>
              <a:rPr lang="en-US" sz="4400" b="1"/>
              <a:t>Date:</a:t>
            </a:r>
            <a:r>
              <a:rPr lang="en-US" sz="4400"/>
              <a:t> August 18, 2025</a:t>
            </a:r>
            <a:endParaRPr/>
          </a:p>
          <a:p>
            <a:pPr marL="0" lvl="0" indent="0" algn="l" rtl="0">
              <a:lnSpc>
                <a:spcPct val="120000"/>
              </a:lnSpc>
              <a:spcBef>
                <a:spcPts val="0"/>
              </a:spcBef>
              <a:spcAft>
                <a:spcPts val="0"/>
              </a:spcAft>
              <a:buSzPct val="189474"/>
              <a:buNone/>
            </a:pPr>
            <a:endParaRPr sz="2000" b="1"/>
          </a:p>
          <a:p>
            <a:pPr marL="0" lvl="0" indent="0" algn="l" rtl="0">
              <a:lnSpc>
                <a:spcPct val="120000"/>
              </a:lnSpc>
              <a:spcBef>
                <a:spcPts val="0"/>
              </a:spcBef>
              <a:spcAft>
                <a:spcPts val="0"/>
              </a:spcAft>
              <a:buSzPct val="86124"/>
              <a:buNone/>
            </a:pPr>
            <a:r>
              <a:rPr lang="en-US" sz="4400" b="1"/>
              <a:t>Background:  </a:t>
            </a:r>
            <a:r>
              <a:rPr lang="en-US" sz="4400"/>
              <a:t>SkyConnect is a leading internet service provider (ISP) in northern Thailand, serving both residential and business customers. On August 17th, a major underground fiber-optic cable was accidentally damaged during a city construction project near the main network hub.</a:t>
            </a:r>
            <a:endParaRPr/>
          </a:p>
          <a:p>
            <a:pPr marL="0" lvl="0" indent="0" algn="l" rtl="0">
              <a:lnSpc>
                <a:spcPct val="120000"/>
              </a:lnSpc>
              <a:spcBef>
                <a:spcPts val="0"/>
              </a:spcBef>
              <a:spcAft>
                <a:spcPts val="0"/>
              </a:spcAft>
              <a:buSzPct val="189474"/>
              <a:buNone/>
            </a:pPr>
            <a:endParaRPr sz="2000" b="1"/>
          </a:p>
          <a:p>
            <a:pPr marL="0" lvl="0" indent="0" algn="l" rtl="0">
              <a:lnSpc>
                <a:spcPct val="120000"/>
              </a:lnSpc>
              <a:spcBef>
                <a:spcPts val="0"/>
              </a:spcBef>
              <a:spcAft>
                <a:spcPts val="0"/>
              </a:spcAft>
              <a:buSzPct val="86124"/>
              <a:buNone/>
            </a:pPr>
            <a:r>
              <a:rPr lang="en-US" sz="4400" b="1"/>
              <a:t>The Situation:  </a:t>
            </a:r>
            <a:r>
              <a:rPr lang="en-US" sz="4400"/>
              <a:t>As a result of the damage, a significant portion of SkyConnect’s customers—especially in central Chiang Mai and surrounding districts—are experiencing total loss of internet service. Emergency repair teams have assessed the situation and estimate that full restoration will take up to 7 days due to the complexity of the underground infrastructure and the need for imported replacement parts.</a:t>
            </a:r>
            <a:endParaRPr/>
          </a:p>
          <a:p>
            <a:pPr marL="0" lvl="0" indent="0" algn="l" rtl="0">
              <a:lnSpc>
                <a:spcPct val="120000"/>
              </a:lnSpc>
              <a:spcBef>
                <a:spcPts val="0"/>
              </a:spcBef>
              <a:spcAft>
                <a:spcPts val="0"/>
              </a:spcAft>
              <a:buSzPct val="210526"/>
              <a:buNone/>
            </a:pPr>
            <a:endParaRPr sz="1800" b="1"/>
          </a:p>
          <a:p>
            <a:pPr marL="0" lvl="0" indent="0" algn="l" rtl="0">
              <a:lnSpc>
                <a:spcPct val="120000"/>
              </a:lnSpc>
              <a:spcBef>
                <a:spcPts val="0"/>
              </a:spcBef>
              <a:spcAft>
                <a:spcPts val="0"/>
              </a:spcAft>
              <a:buSzPct val="86124"/>
              <a:buNone/>
            </a:pPr>
            <a:r>
              <a:rPr lang="en-US" sz="4400" b="1"/>
              <a:t>Negative News to Communicate: </a:t>
            </a:r>
            <a:r>
              <a:rPr lang="en-US" sz="4400"/>
              <a:t>Customers must be informed that internet service will be disrupted for the next 7 days, and that the company is working around the clock to resolve the issue.</a:t>
            </a:r>
            <a:endParaRPr/>
          </a:p>
          <a:p>
            <a:pPr marL="457200" lvl="0" indent="-228600" algn="l" rtl="0">
              <a:lnSpc>
                <a:spcPct val="120000"/>
              </a:lnSpc>
              <a:spcBef>
                <a:spcPts val="0"/>
              </a:spcBef>
              <a:spcAft>
                <a:spcPts val="0"/>
              </a:spcAft>
              <a:buSzPct val="135338"/>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dirty="0">
                <a:solidFill>
                  <a:schemeClr val="accent5"/>
                </a:solidFill>
                <a:latin typeface="+mn-lt"/>
              </a:rPr>
              <a:t>6. Accuracy Matters</a:t>
            </a:r>
            <a:endParaRPr b="1" dirty="0">
              <a:solidFill>
                <a:schemeClr val="accent5"/>
              </a:solidFill>
              <a:latin typeface="+mn-lt"/>
            </a:endParaRPr>
          </a:p>
        </p:txBody>
      </p:sp>
      <p:sp>
        <p:nvSpPr>
          <p:cNvPr id="215" name="Google Shape;215;p22"/>
          <p:cNvSpPr txBox="1">
            <a:spLocks noGrp="1"/>
          </p:cNvSpPr>
          <p:nvPr>
            <p:ph type="body" idx="1"/>
          </p:nvPr>
        </p:nvSpPr>
        <p:spPr>
          <a:xfrm>
            <a:off x="838199" y="1825625"/>
            <a:ext cx="11353801" cy="4922016"/>
          </a:xfrm>
          <a:prstGeom prst="rect">
            <a:avLst/>
          </a:prstGeom>
          <a:noFill/>
          <a:ln>
            <a:noFill/>
          </a:ln>
        </p:spPr>
        <p:txBody>
          <a:bodyPr spcFirstLastPara="1" wrap="square" lIns="91425" tIns="45700" rIns="91425" bIns="45700" anchor="t" anchorCtr="0">
            <a:normAutofit/>
          </a:bodyPr>
          <a:lstStyle/>
          <a:p>
            <a:pPr marL="114300" lvl="0" indent="0" algn="l" rtl="0">
              <a:lnSpc>
                <a:spcPct val="100000"/>
              </a:lnSpc>
              <a:spcBef>
                <a:spcPts val="0"/>
              </a:spcBef>
              <a:spcAft>
                <a:spcPts val="0"/>
              </a:spcAft>
              <a:buSzPts val="1800"/>
              <a:buNone/>
            </a:pPr>
            <a:r>
              <a:rPr lang="en-US" sz="2400" b="1"/>
              <a:t>What does accuracy mean?</a:t>
            </a:r>
            <a:endParaRPr/>
          </a:p>
          <a:p>
            <a:pPr marL="114300" lvl="0" indent="0" algn="l" rtl="0">
              <a:lnSpc>
                <a:spcPct val="100000"/>
              </a:lnSpc>
              <a:spcBef>
                <a:spcPts val="0"/>
              </a:spcBef>
              <a:spcAft>
                <a:spcPts val="0"/>
              </a:spcAft>
              <a:buSzPts val="1800"/>
              <a:buNone/>
            </a:pPr>
            <a:r>
              <a:rPr lang="en-US" sz="2400" b="1"/>
              <a:t>Definition: </a:t>
            </a:r>
            <a:r>
              <a:rPr lang="en-US" sz="2400"/>
              <a:t>Ensuring that all information presented is correct, precise, and free of errors</a:t>
            </a:r>
            <a:endParaRPr/>
          </a:p>
          <a:p>
            <a:pPr marL="457200" lvl="0" indent="-228600" algn="l" rtl="0">
              <a:lnSpc>
                <a:spcPct val="100000"/>
              </a:lnSpc>
              <a:spcBef>
                <a:spcPts val="0"/>
              </a:spcBef>
              <a:spcAft>
                <a:spcPts val="0"/>
              </a:spcAft>
              <a:buSzPts val="1800"/>
              <a:buNone/>
            </a:pPr>
            <a:endParaRPr sz="2400"/>
          </a:p>
          <a:p>
            <a:pPr marL="114300" lvl="0" indent="0" algn="l" rtl="0">
              <a:lnSpc>
                <a:spcPct val="100000"/>
              </a:lnSpc>
              <a:spcBef>
                <a:spcPts val="0"/>
              </a:spcBef>
              <a:spcAft>
                <a:spcPts val="0"/>
              </a:spcAft>
              <a:buSzPts val="1800"/>
              <a:buNone/>
            </a:pPr>
            <a:r>
              <a:rPr lang="en-US" sz="2400" b="1"/>
              <a:t>Why is accuracy important?</a:t>
            </a:r>
            <a:endParaRPr/>
          </a:p>
          <a:p>
            <a:pPr marL="457200" lvl="0" indent="-342900" algn="l" rtl="0">
              <a:lnSpc>
                <a:spcPct val="100000"/>
              </a:lnSpc>
              <a:spcBef>
                <a:spcPts val="0"/>
              </a:spcBef>
              <a:spcAft>
                <a:spcPts val="0"/>
              </a:spcAft>
              <a:buSzPts val="1800"/>
              <a:buChar char="•"/>
            </a:pPr>
            <a:r>
              <a:rPr lang="en-US" sz="2400"/>
              <a:t>Professionalism:</a:t>
            </a:r>
            <a:endParaRPr/>
          </a:p>
          <a:p>
            <a:pPr marL="457200" lvl="0" indent="-342900" algn="l" rtl="0">
              <a:lnSpc>
                <a:spcPct val="100000"/>
              </a:lnSpc>
              <a:spcBef>
                <a:spcPts val="0"/>
              </a:spcBef>
              <a:spcAft>
                <a:spcPts val="0"/>
              </a:spcAft>
              <a:buSzPts val="1800"/>
              <a:buChar char="•"/>
            </a:pPr>
            <a:r>
              <a:rPr lang="en-US" sz="2400"/>
              <a:t>Clarity:</a:t>
            </a:r>
            <a:endParaRPr/>
          </a:p>
          <a:p>
            <a:pPr marL="457200" lvl="0" indent="-342900" algn="l" rtl="0">
              <a:lnSpc>
                <a:spcPct val="100000"/>
              </a:lnSpc>
              <a:spcBef>
                <a:spcPts val="0"/>
              </a:spcBef>
              <a:spcAft>
                <a:spcPts val="0"/>
              </a:spcAft>
              <a:buSzPts val="1800"/>
              <a:buChar char="•"/>
            </a:pPr>
            <a:r>
              <a:rPr lang="en-US" sz="2400"/>
              <a:t>Trust:</a:t>
            </a:r>
            <a:endParaRPr/>
          </a:p>
          <a:p>
            <a:pPr marL="457200" lvl="0" indent="-342900" algn="l" rtl="0">
              <a:lnSpc>
                <a:spcPct val="100000"/>
              </a:lnSpc>
              <a:spcBef>
                <a:spcPts val="0"/>
              </a:spcBef>
              <a:spcAft>
                <a:spcPts val="0"/>
              </a:spcAft>
              <a:buSzPts val="1800"/>
              <a:buChar char="•"/>
            </a:pPr>
            <a:r>
              <a:rPr lang="en-US" sz="2400"/>
              <a:t>Efficiency:</a:t>
            </a:r>
            <a:endParaRPr/>
          </a:p>
          <a:p>
            <a:pPr marL="457200" lvl="0" indent="-342900" algn="l" rtl="0">
              <a:lnSpc>
                <a:spcPct val="100000"/>
              </a:lnSpc>
              <a:spcBef>
                <a:spcPts val="0"/>
              </a:spcBef>
              <a:spcAft>
                <a:spcPts val="0"/>
              </a:spcAft>
              <a:buSzPts val="1800"/>
              <a:buChar char="•"/>
            </a:pPr>
            <a:r>
              <a:rPr lang="en-US" sz="2400"/>
              <a:t>Reputation:</a:t>
            </a:r>
            <a:endParaRPr/>
          </a:p>
          <a:p>
            <a:pPr marL="457200" lvl="0" indent="-342900" algn="l" rtl="0">
              <a:lnSpc>
                <a:spcPct val="100000"/>
              </a:lnSpc>
              <a:spcBef>
                <a:spcPts val="0"/>
              </a:spcBef>
              <a:spcAft>
                <a:spcPts val="0"/>
              </a:spcAft>
              <a:buSzPts val="1800"/>
              <a:buChar char="•"/>
            </a:pPr>
            <a:r>
              <a:rPr lang="en-US" sz="2400"/>
              <a:t>Decision Making:</a:t>
            </a:r>
            <a:endParaRPr sz="2400"/>
          </a:p>
          <a:p>
            <a:pPr marL="457200" lvl="0" indent="-228600" algn="l" rtl="0">
              <a:lnSpc>
                <a:spcPct val="100000"/>
              </a:lnSpc>
              <a:spcBef>
                <a:spcPts val="0"/>
              </a:spcBef>
              <a:spcAft>
                <a:spcPts val="0"/>
              </a:spcAft>
              <a:buSzPts val="1800"/>
              <a:buNone/>
            </a:pPr>
            <a:endParaRPr sz="2400"/>
          </a:p>
          <a:p>
            <a:pPr marL="114300" lvl="0" indent="0" algn="l" rtl="0">
              <a:lnSpc>
                <a:spcPct val="100000"/>
              </a:lnSpc>
              <a:spcBef>
                <a:spcPts val="0"/>
              </a:spcBef>
              <a:spcAft>
                <a:spcPts val="0"/>
              </a:spcAft>
              <a:buSzPts val="1800"/>
              <a:buNone/>
            </a:pPr>
            <a:r>
              <a:rPr lang="en-US" sz="2400">
                <a:solidFill>
                  <a:srgbClr val="FF0000"/>
                </a:solidFill>
              </a:rPr>
              <a:t>Inaccuracies can lead to </a:t>
            </a:r>
            <a:r>
              <a:rPr lang="en-US" sz="2400" b="1">
                <a:solidFill>
                  <a:srgbClr val="FF0000"/>
                </a:solidFill>
              </a:rPr>
              <a:t>costly</a:t>
            </a:r>
            <a:r>
              <a:rPr lang="en-US" sz="2400">
                <a:solidFill>
                  <a:srgbClr val="FF0000"/>
                </a:solidFill>
              </a:rPr>
              <a:t> </a:t>
            </a:r>
            <a:r>
              <a:rPr lang="en-US" sz="2400" b="1">
                <a:solidFill>
                  <a:srgbClr val="FF0000"/>
                </a:solidFill>
              </a:rPr>
              <a:t>mistakes</a:t>
            </a:r>
            <a:r>
              <a:rPr lang="en-US" sz="2400">
                <a:solidFill>
                  <a:srgbClr val="FF0000"/>
                </a:solidFill>
              </a:rPr>
              <a:t>, </a:t>
            </a:r>
            <a:r>
              <a:rPr lang="en-US" sz="2400" b="1">
                <a:solidFill>
                  <a:srgbClr val="FF0000"/>
                </a:solidFill>
              </a:rPr>
              <a:t>misunderstandings</a:t>
            </a:r>
            <a:r>
              <a:rPr lang="en-US" sz="2400">
                <a:solidFill>
                  <a:srgbClr val="FF0000"/>
                </a:solidFill>
              </a:rPr>
              <a:t>, and </a:t>
            </a:r>
            <a:r>
              <a:rPr lang="en-US" sz="2400" b="1">
                <a:solidFill>
                  <a:srgbClr val="FF0000"/>
                </a:solidFill>
              </a:rPr>
              <a:t>damage to relation</a:t>
            </a:r>
            <a:r>
              <a:rPr lang="en-US" sz="2400">
                <a:solidFill>
                  <a:srgbClr val="FF0000"/>
                </a:solidFill>
              </a:rPr>
              <a:t>ships and the organization's </a:t>
            </a:r>
            <a:r>
              <a:rPr lang="en-US" sz="2400" b="1">
                <a:solidFill>
                  <a:srgbClr val="FF0000"/>
                </a:solidFill>
              </a:rPr>
              <a:t>reputation</a:t>
            </a:r>
            <a:endParaRPr/>
          </a:p>
          <a:p>
            <a:pPr marL="457200" lvl="0" indent="-228600" algn="l" rtl="0">
              <a:lnSpc>
                <a:spcPct val="100000"/>
              </a:lnSpc>
              <a:spcBef>
                <a:spcPts val="0"/>
              </a:spcBef>
              <a:spcAft>
                <a:spcPts val="0"/>
              </a:spcAft>
              <a:buSzPts val="1800"/>
              <a:buNone/>
            </a:pPr>
            <a:endParaRPr sz="2400"/>
          </a:p>
        </p:txBody>
      </p:sp>
    </p:spTree>
    <p:extLst>
      <p:ext uri="{BB962C8B-B14F-4D97-AF65-F5344CB8AC3E}">
        <p14:creationId xmlns:p14="http://schemas.microsoft.com/office/powerpoint/2010/main" val="9191462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dirty="0">
                <a:solidFill>
                  <a:schemeClr val="accent5"/>
                </a:solidFill>
                <a:latin typeface="+mn-lt"/>
              </a:rPr>
              <a:t>6.1 How can you be more accurate?</a:t>
            </a:r>
            <a:endParaRPr b="1" dirty="0">
              <a:solidFill>
                <a:schemeClr val="accent5"/>
              </a:solidFill>
              <a:latin typeface="+mn-lt"/>
            </a:endParaRPr>
          </a:p>
        </p:txBody>
      </p:sp>
      <p:sp>
        <p:nvSpPr>
          <p:cNvPr id="221" name="Google Shape;221;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0"/>
              </a:spcBef>
              <a:spcAft>
                <a:spcPts val="0"/>
              </a:spcAft>
              <a:buSzPts val="1800"/>
              <a:buNone/>
            </a:pPr>
            <a:r>
              <a:rPr lang="en-US" sz="2400" b="1" dirty="0"/>
              <a:t>To improve accuracy in formal writing:</a:t>
            </a:r>
            <a:endParaRPr dirty="0"/>
          </a:p>
          <a:p>
            <a:pPr marL="114300" lvl="0" indent="0" algn="l" rtl="0">
              <a:lnSpc>
                <a:spcPct val="100000"/>
              </a:lnSpc>
              <a:spcBef>
                <a:spcPts val="0"/>
              </a:spcBef>
              <a:spcAft>
                <a:spcPts val="0"/>
              </a:spcAft>
              <a:buSzPts val="1800"/>
              <a:buNone/>
            </a:pPr>
            <a:endParaRPr sz="2400" b="1" dirty="0"/>
          </a:p>
          <a:p>
            <a:pPr marL="457200" lvl="0" indent="-342900" algn="l" rtl="0">
              <a:lnSpc>
                <a:spcPct val="100000"/>
              </a:lnSpc>
              <a:spcBef>
                <a:spcPts val="0"/>
              </a:spcBef>
              <a:spcAft>
                <a:spcPts val="0"/>
              </a:spcAft>
              <a:buSzPts val="1800"/>
              <a:buChar char="•"/>
            </a:pPr>
            <a:r>
              <a:rPr lang="en-US" sz="2400" b="1" dirty="0"/>
              <a:t>Proofreading:</a:t>
            </a:r>
            <a:endParaRPr dirty="0"/>
          </a:p>
          <a:p>
            <a:pPr marL="457200" lvl="0" indent="-228600" algn="l" rtl="0">
              <a:lnSpc>
                <a:spcPct val="100000"/>
              </a:lnSpc>
              <a:spcBef>
                <a:spcPts val="0"/>
              </a:spcBef>
              <a:spcAft>
                <a:spcPts val="0"/>
              </a:spcAft>
              <a:buSzPts val="1800"/>
              <a:buNone/>
            </a:pPr>
            <a:endParaRPr sz="3200" dirty="0"/>
          </a:p>
          <a:p>
            <a:pPr marL="457200" lvl="0" indent="-342900" algn="l" rtl="0">
              <a:lnSpc>
                <a:spcPct val="100000"/>
              </a:lnSpc>
              <a:spcBef>
                <a:spcPts val="0"/>
              </a:spcBef>
              <a:spcAft>
                <a:spcPts val="0"/>
              </a:spcAft>
              <a:buSzPts val="1800"/>
              <a:buChar char="•"/>
            </a:pPr>
            <a:r>
              <a:rPr lang="en-US" sz="2400" b="1" dirty="0"/>
              <a:t>Reference Materials:</a:t>
            </a:r>
            <a:endParaRPr dirty="0"/>
          </a:p>
          <a:p>
            <a:pPr marL="457200" lvl="0" indent="-228600" algn="l" rtl="0">
              <a:lnSpc>
                <a:spcPct val="100000"/>
              </a:lnSpc>
              <a:spcBef>
                <a:spcPts val="0"/>
              </a:spcBef>
              <a:spcAft>
                <a:spcPts val="0"/>
              </a:spcAft>
              <a:buSzPts val="1800"/>
              <a:buNone/>
            </a:pPr>
            <a:endParaRPr sz="3200" dirty="0"/>
          </a:p>
          <a:p>
            <a:pPr marL="457200" lvl="0" indent="-342900" algn="l" rtl="0">
              <a:lnSpc>
                <a:spcPct val="100000"/>
              </a:lnSpc>
              <a:spcBef>
                <a:spcPts val="0"/>
              </a:spcBef>
              <a:spcAft>
                <a:spcPts val="0"/>
              </a:spcAft>
              <a:buSzPts val="1800"/>
              <a:buChar char="•"/>
            </a:pPr>
            <a:r>
              <a:rPr lang="en-US" sz="2400" b="1" dirty="0"/>
              <a:t>Practice, Practice, Practice:</a:t>
            </a:r>
            <a:endParaRPr dirty="0"/>
          </a:p>
          <a:p>
            <a:pPr marL="457200" lvl="0" indent="-228600" algn="l" rtl="0">
              <a:lnSpc>
                <a:spcPct val="100000"/>
              </a:lnSpc>
              <a:spcBef>
                <a:spcPts val="0"/>
              </a:spcBef>
              <a:spcAft>
                <a:spcPts val="0"/>
              </a:spcAft>
              <a:buSzPts val="1800"/>
              <a:buNone/>
            </a:pPr>
            <a:endParaRPr sz="3200" dirty="0"/>
          </a:p>
          <a:p>
            <a:pPr marL="457200" lvl="0" indent="-342900" algn="l" rtl="0">
              <a:lnSpc>
                <a:spcPct val="100000"/>
              </a:lnSpc>
              <a:spcBef>
                <a:spcPts val="0"/>
              </a:spcBef>
              <a:spcAft>
                <a:spcPts val="0"/>
              </a:spcAft>
              <a:buSzPts val="1800"/>
              <a:buChar char="•"/>
            </a:pPr>
            <a:r>
              <a:rPr lang="en-US" sz="2400" b="1" dirty="0"/>
              <a:t>Planning and Outlining:</a:t>
            </a:r>
            <a:endParaRPr dirty="0"/>
          </a:p>
          <a:p>
            <a:pPr marL="457200" lvl="0" indent="-228600" algn="l" rtl="0">
              <a:lnSpc>
                <a:spcPct val="100000"/>
              </a:lnSpc>
              <a:spcBef>
                <a:spcPts val="0"/>
              </a:spcBef>
              <a:spcAft>
                <a:spcPts val="0"/>
              </a:spcAft>
              <a:buSzPts val="1800"/>
              <a:buNone/>
            </a:pPr>
            <a:endParaRPr sz="3200" dirty="0"/>
          </a:p>
          <a:p>
            <a:pPr marL="457200" lvl="0" indent="-228600" algn="l" rtl="0">
              <a:lnSpc>
                <a:spcPct val="100000"/>
              </a:lnSpc>
              <a:spcBef>
                <a:spcPts val="0"/>
              </a:spcBef>
              <a:spcAft>
                <a:spcPts val="0"/>
              </a:spcAft>
              <a:buSzPts val="1800"/>
              <a:buNone/>
            </a:pPr>
            <a:endParaRPr sz="2400" dirty="0"/>
          </a:p>
        </p:txBody>
      </p:sp>
    </p:spTree>
    <p:extLst>
      <p:ext uri="{BB962C8B-B14F-4D97-AF65-F5344CB8AC3E}">
        <p14:creationId xmlns:p14="http://schemas.microsoft.com/office/powerpoint/2010/main" val="42523293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dirty="0">
                <a:solidFill>
                  <a:schemeClr val="accent5"/>
                </a:solidFill>
                <a:latin typeface="+mn-lt"/>
              </a:rPr>
              <a:t>6.2 Test your accuracy:</a:t>
            </a:r>
            <a:endParaRPr b="1" dirty="0">
              <a:solidFill>
                <a:schemeClr val="accent5"/>
              </a:solidFill>
              <a:latin typeface="+mn-lt"/>
            </a:endParaRPr>
          </a:p>
        </p:txBody>
      </p:sp>
      <p:sp>
        <p:nvSpPr>
          <p:cNvPr id="227" name="Google Shape;227;p24"/>
          <p:cNvSpPr txBox="1">
            <a:spLocks noGrp="1"/>
          </p:cNvSpPr>
          <p:nvPr>
            <p:ph type="body" idx="1"/>
          </p:nvPr>
        </p:nvSpPr>
        <p:spPr>
          <a:xfrm>
            <a:off x="838200" y="1825625"/>
            <a:ext cx="10515600" cy="2797175"/>
          </a:xfrm>
          <a:prstGeom prst="rect">
            <a:avLst/>
          </a:prstGeom>
          <a:noFill/>
          <a:ln>
            <a:noFill/>
          </a:ln>
        </p:spPr>
        <p:txBody>
          <a:bodyPr spcFirstLastPara="1" wrap="square" lIns="91425" tIns="45700" rIns="91425" bIns="45700" anchor="t" anchorCtr="0">
            <a:normAutofit/>
          </a:bodyPr>
          <a:lstStyle/>
          <a:p>
            <a:pPr marL="114300" lvl="0" indent="0" algn="l" rtl="0">
              <a:lnSpc>
                <a:spcPct val="100000"/>
              </a:lnSpc>
              <a:spcBef>
                <a:spcPts val="0"/>
              </a:spcBef>
              <a:spcAft>
                <a:spcPts val="0"/>
              </a:spcAft>
              <a:buSzPct val="75630"/>
              <a:buNone/>
            </a:pPr>
            <a:r>
              <a:rPr lang="en-US" sz="2400" b="1" dirty="0"/>
              <a:t>Consider aspects of language such as:</a:t>
            </a:r>
            <a:endParaRPr sz="2400" dirty="0"/>
          </a:p>
          <a:p>
            <a:pPr marL="457200" lvl="0" indent="-342900" algn="l" rtl="0">
              <a:lnSpc>
                <a:spcPct val="100000"/>
              </a:lnSpc>
              <a:spcBef>
                <a:spcPts val="0"/>
              </a:spcBef>
              <a:spcAft>
                <a:spcPts val="0"/>
              </a:spcAft>
              <a:buSzPct val="75630"/>
              <a:buChar char="•"/>
            </a:pPr>
            <a:r>
              <a:rPr lang="en-US" sz="2400" dirty="0"/>
              <a:t>Word Order</a:t>
            </a:r>
            <a:endParaRPr sz="2400" dirty="0"/>
          </a:p>
          <a:p>
            <a:pPr marL="457200" lvl="0" indent="-342900" algn="l" rtl="0">
              <a:lnSpc>
                <a:spcPct val="100000"/>
              </a:lnSpc>
              <a:spcBef>
                <a:spcPts val="0"/>
              </a:spcBef>
              <a:spcAft>
                <a:spcPts val="0"/>
              </a:spcAft>
              <a:buSzPct val="75630"/>
              <a:buChar char="•"/>
            </a:pPr>
            <a:r>
              <a:rPr lang="en-US" sz="2400" dirty="0"/>
              <a:t>Verb Form</a:t>
            </a:r>
            <a:endParaRPr sz="2400" dirty="0"/>
          </a:p>
          <a:p>
            <a:pPr marL="457200" lvl="0" indent="-342900" algn="l" rtl="0">
              <a:lnSpc>
                <a:spcPct val="100000"/>
              </a:lnSpc>
              <a:spcBef>
                <a:spcPts val="0"/>
              </a:spcBef>
              <a:spcAft>
                <a:spcPts val="0"/>
              </a:spcAft>
              <a:buSzPct val="75630"/>
              <a:buChar char="•"/>
            </a:pPr>
            <a:r>
              <a:rPr lang="en-US" sz="2400" dirty="0"/>
              <a:t>Sentence Building</a:t>
            </a:r>
            <a:endParaRPr sz="2400" dirty="0"/>
          </a:p>
          <a:p>
            <a:pPr marL="457200" lvl="0" indent="-342900" algn="l" rtl="0">
              <a:lnSpc>
                <a:spcPct val="100000"/>
              </a:lnSpc>
              <a:spcBef>
                <a:spcPts val="0"/>
              </a:spcBef>
              <a:spcAft>
                <a:spcPts val="0"/>
              </a:spcAft>
              <a:buSzPct val="75630"/>
              <a:buChar char="•"/>
            </a:pPr>
            <a:r>
              <a:rPr lang="en-US" sz="2400" dirty="0"/>
              <a:t>Missing Words/Details</a:t>
            </a:r>
            <a:endParaRPr sz="2400" dirty="0"/>
          </a:p>
          <a:p>
            <a:pPr marL="457200" lvl="0" indent="-342900" algn="l" rtl="0">
              <a:lnSpc>
                <a:spcPct val="100000"/>
              </a:lnSpc>
              <a:spcBef>
                <a:spcPts val="0"/>
              </a:spcBef>
              <a:spcAft>
                <a:spcPts val="0"/>
              </a:spcAft>
              <a:buSzPct val="75630"/>
              <a:buChar char="•"/>
            </a:pPr>
            <a:r>
              <a:rPr lang="en-US" sz="2400" dirty="0"/>
              <a:t>Checking Understanding</a:t>
            </a:r>
            <a:endParaRPr sz="2400" dirty="0"/>
          </a:p>
          <a:p>
            <a:pPr marL="457200" lvl="0" indent="-342900" algn="l" rtl="0">
              <a:lnSpc>
                <a:spcPct val="100000"/>
              </a:lnSpc>
              <a:spcBef>
                <a:spcPts val="0"/>
              </a:spcBef>
              <a:spcAft>
                <a:spcPts val="0"/>
              </a:spcAft>
              <a:buSzPct val="75630"/>
              <a:buChar char="•"/>
            </a:pPr>
            <a:r>
              <a:rPr lang="en-US" sz="2400" dirty="0"/>
              <a:t>Common Mistakes</a:t>
            </a:r>
            <a:endParaRPr sz="2400" dirty="0"/>
          </a:p>
        </p:txBody>
      </p:sp>
      <p:pic>
        <p:nvPicPr>
          <p:cNvPr id="4" name="Picture 3">
            <a:extLst>
              <a:ext uri="{FF2B5EF4-FFF2-40B4-BE49-F238E27FC236}">
                <a16:creationId xmlns:a16="http://schemas.microsoft.com/office/drawing/2014/main" id="{ACD7FFDB-B09B-5DB1-4251-EAE53BDAF5BA}"/>
              </a:ext>
            </a:extLst>
          </p:cNvPr>
          <p:cNvPicPr>
            <a:picLocks noChangeAspect="1"/>
          </p:cNvPicPr>
          <p:nvPr/>
        </p:nvPicPr>
        <p:blipFill>
          <a:blip r:embed="rId3"/>
          <a:stretch>
            <a:fillRect/>
          </a:stretch>
        </p:blipFill>
        <p:spPr>
          <a:xfrm>
            <a:off x="5264606" y="2792301"/>
            <a:ext cx="5544324" cy="1124107"/>
          </a:xfrm>
          <a:prstGeom prst="rect">
            <a:avLst/>
          </a:prstGeom>
        </p:spPr>
      </p:pic>
    </p:spTree>
    <p:extLst>
      <p:ext uri="{BB962C8B-B14F-4D97-AF65-F5344CB8AC3E}">
        <p14:creationId xmlns:p14="http://schemas.microsoft.com/office/powerpoint/2010/main" val="25790341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069DA-C0EE-B493-6AAA-B83BE58D60E3}"/>
              </a:ext>
            </a:extLst>
          </p:cNvPr>
          <p:cNvSpPr>
            <a:spLocks noGrp="1"/>
          </p:cNvSpPr>
          <p:nvPr>
            <p:ph type="title"/>
          </p:nvPr>
        </p:nvSpPr>
        <p:spPr>
          <a:xfrm>
            <a:off x="838200" y="384789"/>
            <a:ext cx="10515600" cy="1325563"/>
          </a:xfrm>
        </p:spPr>
        <p:txBody>
          <a:bodyPr/>
          <a:lstStyle/>
          <a:p>
            <a:r>
              <a:rPr lang="en-US" b="1" dirty="0">
                <a:solidFill>
                  <a:schemeClr val="accent5"/>
                </a:solidFill>
              </a:rPr>
              <a:t>7. Technical Language and Audience</a:t>
            </a:r>
            <a:endParaRPr lang="en-US" dirty="0"/>
          </a:p>
        </p:txBody>
      </p:sp>
      <p:sp>
        <p:nvSpPr>
          <p:cNvPr id="3" name="Text Placeholder 2">
            <a:extLst>
              <a:ext uri="{FF2B5EF4-FFF2-40B4-BE49-F238E27FC236}">
                <a16:creationId xmlns:a16="http://schemas.microsoft.com/office/drawing/2014/main" id="{FDC6D080-C67F-4D4B-C754-7EF582CA2752}"/>
              </a:ext>
            </a:extLst>
          </p:cNvPr>
          <p:cNvSpPr>
            <a:spLocks noGrp="1"/>
          </p:cNvSpPr>
          <p:nvPr>
            <p:ph type="body" idx="1"/>
          </p:nvPr>
        </p:nvSpPr>
        <p:spPr/>
        <p:txBody>
          <a:bodyPr>
            <a:normAutofit fontScale="70000" lnSpcReduction="20000"/>
          </a:bodyPr>
          <a:lstStyle/>
          <a:p>
            <a:pPr marL="114300" indent="0">
              <a:buNone/>
            </a:pPr>
            <a:r>
              <a:rPr lang="en-US" dirty="0"/>
              <a:t>Many IT professionals use highly technical terms that general users don’t understand.</a:t>
            </a:r>
          </a:p>
          <a:p>
            <a:pPr marL="114300" indent="0">
              <a:buNone/>
            </a:pPr>
            <a:endParaRPr lang="en-US" dirty="0"/>
          </a:p>
          <a:p>
            <a:pPr marL="114300" indent="0">
              <a:buNone/>
            </a:pPr>
            <a:r>
              <a:rPr lang="en-US" dirty="0"/>
              <a:t>However, when you send messages, non- technical people like new employees or customers should be able to follow them. </a:t>
            </a:r>
          </a:p>
          <a:p>
            <a:pPr marL="114300" indent="0">
              <a:buNone/>
            </a:pPr>
            <a:endParaRPr lang="en-US" dirty="0"/>
          </a:p>
          <a:p>
            <a:r>
              <a:rPr lang="en-US" b="1" dirty="0"/>
              <a:t>Technical audience:</a:t>
            </a:r>
            <a:r>
              <a:rPr lang="en-US" dirty="0"/>
              <a:t> knows the tools and terms.</a:t>
            </a:r>
          </a:p>
          <a:p>
            <a:r>
              <a:rPr lang="en-US" b="1" dirty="0"/>
              <a:t>Non-technical audience:</a:t>
            </a:r>
            <a:r>
              <a:rPr lang="en-US" dirty="0"/>
              <a:t> needs to understand the </a:t>
            </a:r>
            <a:r>
              <a:rPr lang="en-US" i="1" dirty="0"/>
              <a:t>action or purpose</a:t>
            </a:r>
            <a:r>
              <a:rPr lang="en-US" dirty="0"/>
              <a:t> without background knowledge.</a:t>
            </a:r>
          </a:p>
          <a:p>
            <a:pPr marL="114300" indent="0">
              <a:buNone/>
            </a:pPr>
            <a:endParaRPr lang="en-US" dirty="0"/>
          </a:p>
          <a:p>
            <a:pPr marL="114300" indent="0">
              <a:buNone/>
            </a:pPr>
            <a:r>
              <a:rPr lang="en-US" dirty="0"/>
              <a:t>How to make terms less technical:</a:t>
            </a:r>
          </a:p>
          <a:p>
            <a:pPr lvl="1"/>
            <a:r>
              <a:rPr lang="en-US" dirty="0"/>
              <a:t>Avoid acronyms</a:t>
            </a:r>
          </a:p>
          <a:p>
            <a:pPr lvl="1"/>
            <a:r>
              <a:rPr lang="en-US" dirty="0"/>
              <a:t>Use simple familiar verbs </a:t>
            </a:r>
          </a:p>
          <a:p>
            <a:pPr lvl="2"/>
            <a:r>
              <a:rPr lang="en-US" dirty="0"/>
              <a:t>Turn off- turn on- reboot- install- restart- reboot- send- release, </a:t>
            </a:r>
            <a:r>
              <a:rPr lang="en-US" dirty="0" err="1"/>
              <a:t>etc</a:t>
            </a:r>
            <a:r>
              <a:rPr lang="en-US" dirty="0"/>
              <a:t>)</a:t>
            </a:r>
          </a:p>
          <a:p>
            <a:pPr lvl="1"/>
            <a:r>
              <a:rPr lang="en-US" dirty="0"/>
              <a:t>Explain the purpose/ function or effect</a:t>
            </a:r>
          </a:p>
        </p:txBody>
      </p:sp>
    </p:spTree>
    <p:extLst>
      <p:ext uri="{BB962C8B-B14F-4D97-AF65-F5344CB8AC3E}">
        <p14:creationId xmlns:p14="http://schemas.microsoft.com/office/powerpoint/2010/main" val="6570095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1E2FB-B47F-7A48-7802-9C83E6DC17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54DE50-EE9A-A471-8EA9-0EC4A0B3CCC9}"/>
              </a:ext>
            </a:extLst>
          </p:cNvPr>
          <p:cNvSpPr>
            <a:spLocks noGrp="1"/>
          </p:cNvSpPr>
          <p:nvPr>
            <p:ph type="title"/>
          </p:nvPr>
        </p:nvSpPr>
        <p:spPr/>
        <p:txBody>
          <a:bodyPr/>
          <a:lstStyle/>
          <a:p>
            <a:r>
              <a:rPr lang="en-US" b="1" dirty="0">
                <a:solidFill>
                  <a:schemeClr val="accent5"/>
                </a:solidFill>
              </a:rPr>
              <a:t>7.1 Technical vs Non- Technical Examples</a:t>
            </a:r>
            <a:endParaRPr lang="en-US" dirty="0"/>
          </a:p>
        </p:txBody>
      </p:sp>
      <p:sp>
        <p:nvSpPr>
          <p:cNvPr id="3" name="Text Placeholder 2">
            <a:extLst>
              <a:ext uri="{FF2B5EF4-FFF2-40B4-BE49-F238E27FC236}">
                <a16:creationId xmlns:a16="http://schemas.microsoft.com/office/drawing/2014/main" id="{245E5C9B-78D8-1068-D30A-4E6C74CB3855}"/>
              </a:ext>
            </a:extLst>
          </p:cNvPr>
          <p:cNvSpPr>
            <a:spLocks noGrp="1"/>
          </p:cNvSpPr>
          <p:nvPr>
            <p:ph type="body" idx="1"/>
          </p:nvPr>
        </p:nvSpPr>
        <p:spPr/>
        <p:txBody>
          <a:bodyPr>
            <a:normAutofit fontScale="62500" lnSpcReduction="20000"/>
          </a:bodyPr>
          <a:lstStyle/>
          <a:p>
            <a:pPr marL="114300" indent="0">
              <a:buNone/>
            </a:pPr>
            <a:r>
              <a:rPr lang="en-US" b="1" dirty="0"/>
              <a:t>Technical version 1</a:t>
            </a:r>
          </a:p>
          <a:p>
            <a:pPr marL="114300" indent="0">
              <a:buNone/>
            </a:pPr>
            <a:r>
              <a:rPr lang="en-US" b="1" dirty="0"/>
              <a:t>The IT team will deploy the patch via the CI/CD pipeline.</a:t>
            </a:r>
            <a:endParaRPr lang="en-US" dirty="0"/>
          </a:p>
          <a:p>
            <a:pPr marL="114300" indent="0">
              <a:buNone/>
            </a:pPr>
            <a:r>
              <a:rPr lang="en-US" b="1" dirty="0"/>
              <a:t>Non-technical version options:</a:t>
            </a:r>
            <a:endParaRPr lang="en-US" dirty="0"/>
          </a:p>
          <a:p>
            <a:pPr lvl="0"/>
            <a:r>
              <a:rPr lang="en-US" dirty="0"/>
              <a:t>The IT team will send the software update to users automatically. </a:t>
            </a:r>
          </a:p>
          <a:p>
            <a:pPr lvl="0"/>
            <a:r>
              <a:rPr lang="en-US" dirty="0"/>
              <a:t>The IT team will install the latest fix using the update system. </a:t>
            </a:r>
          </a:p>
          <a:p>
            <a:pPr lvl="0"/>
            <a:r>
              <a:rPr lang="en-US" dirty="0"/>
              <a:t>The IT team will release the new version through the company's update tool. </a:t>
            </a:r>
            <a:br>
              <a:rPr lang="en-US" dirty="0"/>
            </a:br>
            <a:endParaRPr lang="en-US" dirty="0"/>
          </a:p>
          <a:p>
            <a:pPr marL="114300" indent="0">
              <a:buNone/>
            </a:pPr>
            <a:r>
              <a:rPr lang="en-US" b="1" dirty="0"/>
              <a:t>Technical version 2</a:t>
            </a:r>
          </a:p>
          <a:p>
            <a:pPr marL="114300" indent="0">
              <a:buNone/>
            </a:pPr>
            <a:r>
              <a:rPr lang="en-US" b="1" dirty="0"/>
              <a:t>The IT team will restart the Apache service.</a:t>
            </a:r>
            <a:endParaRPr lang="en-US" dirty="0"/>
          </a:p>
          <a:p>
            <a:pPr marL="114300" indent="0">
              <a:buNone/>
            </a:pPr>
            <a:r>
              <a:rPr lang="en-US" b="1" dirty="0"/>
              <a:t>Non-technical version options:</a:t>
            </a:r>
            <a:endParaRPr lang="en-US" dirty="0"/>
          </a:p>
          <a:p>
            <a:pPr lvl="0"/>
            <a:r>
              <a:rPr lang="en-US" dirty="0"/>
              <a:t>The IT team will turn the web server off and on again. </a:t>
            </a:r>
          </a:p>
          <a:p>
            <a:pPr lvl="0"/>
            <a:r>
              <a:rPr lang="en-US" dirty="0"/>
              <a:t>The IT team will restart the program that runs the website. </a:t>
            </a:r>
          </a:p>
          <a:p>
            <a:pPr lvl="0"/>
            <a:r>
              <a:rPr lang="en-US" dirty="0"/>
              <a:t>The IT team will reboot the system that delivers web pages.</a:t>
            </a:r>
          </a:p>
          <a:p>
            <a:endParaRPr lang="en-US" dirty="0"/>
          </a:p>
        </p:txBody>
      </p:sp>
    </p:spTree>
    <p:extLst>
      <p:ext uri="{BB962C8B-B14F-4D97-AF65-F5344CB8AC3E}">
        <p14:creationId xmlns:p14="http://schemas.microsoft.com/office/powerpoint/2010/main" val="13483677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3F03F-AD0C-7182-CB8A-0032C9759D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AAEC27-CD42-3B23-9F18-F35E5CCF8F1F}"/>
              </a:ext>
            </a:extLst>
          </p:cNvPr>
          <p:cNvSpPr>
            <a:spLocks noGrp="1"/>
          </p:cNvSpPr>
          <p:nvPr>
            <p:ph type="title"/>
          </p:nvPr>
        </p:nvSpPr>
        <p:spPr/>
        <p:txBody>
          <a:bodyPr/>
          <a:lstStyle/>
          <a:p>
            <a:r>
              <a:rPr lang="en-US" b="1" dirty="0">
                <a:solidFill>
                  <a:schemeClr val="accent5"/>
                </a:solidFill>
              </a:rPr>
              <a:t>7.2 Technical vs Non- Technical Exercise</a:t>
            </a:r>
            <a:endParaRPr lang="en-US" dirty="0"/>
          </a:p>
        </p:txBody>
      </p:sp>
      <p:sp>
        <p:nvSpPr>
          <p:cNvPr id="3" name="Text Placeholder 2">
            <a:extLst>
              <a:ext uri="{FF2B5EF4-FFF2-40B4-BE49-F238E27FC236}">
                <a16:creationId xmlns:a16="http://schemas.microsoft.com/office/drawing/2014/main" id="{1BE6BC54-B1E9-10E4-5158-DAA58BDAA8AA}"/>
              </a:ext>
            </a:extLst>
          </p:cNvPr>
          <p:cNvSpPr>
            <a:spLocks noGrp="1"/>
          </p:cNvSpPr>
          <p:nvPr>
            <p:ph type="body" idx="1"/>
          </p:nvPr>
        </p:nvSpPr>
        <p:spPr/>
        <p:txBody>
          <a:bodyPr>
            <a:normAutofit fontScale="85000" lnSpcReduction="20000"/>
          </a:bodyPr>
          <a:lstStyle/>
          <a:p>
            <a:pPr marL="114300" indent="0">
              <a:buNone/>
            </a:pPr>
            <a:r>
              <a:rPr lang="en-US" b="1" dirty="0"/>
              <a:t>Imagine you are explaining this to a new employee with no technical background. Rewrite each sentence using clear, familiar non- technical language.</a:t>
            </a:r>
          </a:p>
          <a:p>
            <a:pPr marL="628650" indent="-514350">
              <a:buFont typeface="+mj-lt"/>
              <a:buAutoNum type="arabicPeriod"/>
            </a:pPr>
            <a:r>
              <a:rPr lang="en-US" dirty="0"/>
              <a:t>The IT team will configure the DNS settings on the local network. </a:t>
            </a:r>
          </a:p>
          <a:p>
            <a:pPr marL="571500" lvl="1" indent="0">
              <a:buNone/>
            </a:pPr>
            <a:r>
              <a:rPr lang="en-US" dirty="0">
                <a:solidFill>
                  <a:srgbClr val="FF0000"/>
                </a:solidFill>
              </a:rPr>
              <a:t>	The IT team will configure the network settings.</a:t>
            </a:r>
          </a:p>
          <a:p>
            <a:pPr marL="628650" lvl="0" indent="-514350">
              <a:buFont typeface="+mj-lt"/>
              <a:buAutoNum type="arabicPeriod"/>
            </a:pPr>
            <a:r>
              <a:rPr lang="en-US" dirty="0"/>
              <a:t>The IT team will migrate user data to the cloud server. </a:t>
            </a:r>
          </a:p>
          <a:p>
            <a:pPr marL="571500" lvl="1" indent="0">
              <a:buNone/>
            </a:pPr>
            <a:r>
              <a:rPr lang="en-US" dirty="0"/>
              <a:t>	</a:t>
            </a:r>
            <a:r>
              <a:rPr lang="en-US" dirty="0">
                <a:solidFill>
                  <a:srgbClr val="FF0000"/>
                </a:solidFill>
              </a:rPr>
              <a:t>The IT team will upload the user data to the server.</a:t>
            </a:r>
            <a:endParaRPr lang="en-US" dirty="0"/>
          </a:p>
          <a:p>
            <a:pPr marL="628650" lvl="0" indent="-514350">
              <a:buFont typeface="+mj-lt"/>
              <a:buAutoNum type="arabicPeriod"/>
            </a:pPr>
            <a:r>
              <a:rPr lang="en-US" dirty="0"/>
              <a:t>The IT team will update the SSL certificate before it expires. </a:t>
            </a:r>
          </a:p>
          <a:p>
            <a:pPr marL="571500" lvl="1" indent="0">
              <a:buNone/>
            </a:pPr>
            <a:r>
              <a:rPr lang="en-US" dirty="0"/>
              <a:t>	</a:t>
            </a:r>
            <a:r>
              <a:rPr lang="en-US" dirty="0">
                <a:solidFill>
                  <a:srgbClr val="FF0000"/>
                </a:solidFill>
              </a:rPr>
              <a:t>The IT team will update the website certificate before it expires.</a:t>
            </a:r>
            <a:endParaRPr lang="en-US" dirty="0"/>
          </a:p>
          <a:p>
            <a:pPr marL="628650" lvl="0" indent="-514350">
              <a:buFont typeface="+mj-lt"/>
              <a:buAutoNum type="arabicPeriod"/>
            </a:pPr>
            <a:r>
              <a:rPr lang="en-US" dirty="0"/>
              <a:t>The IT team will grant admin privileges to the new account. </a:t>
            </a:r>
          </a:p>
          <a:p>
            <a:pPr marL="571500" lvl="1" indent="0">
              <a:buNone/>
            </a:pPr>
            <a:r>
              <a:rPr lang="en-US" dirty="0"/>
              <a:t>	</a:t>
            </a:r>
            <a:r>
              <a:rPr lang="en-US" dirty="0">
                <a:solidFill>
                  <a:srgbClr val="FF0000"/>
                </a:solidFill>
              </a:rPr>
              <a:t>The IT team will set up a new manager account.</a:t>
            </a:r>
            <a:endParaRPr lang="en-US" dirty="0"/>
          </a:p>
          <a:p>
            <a:pPr marL="628650" lvl="0" indent="-514350">
              <a:buFont typeface="+mj-lt"/>
              <a:buAutoNum type="arabicPeriod"/>
            </a:pPr>
            <a:r>
              <a:rPr lang="en-US" dirty="0"/>
              <a:t>The IT team will install dependencies using the package manager.</a:t>
            </a:r>
          </a:p>
          <a:p>
            <a:pPr marL="571500" lvl="1" indent="0">
              <a:buNone/>
            </a:pPr>
            <a:r>
              <a:rPr lang="en-US" dirty="0"/>
              <a:t>	</a:t>
            </a:r>
            <a:r>
              <a:rPr lang="en-US" dirty="0">
                <a:solidFill>
                  <a:srgbClr val="FF0000"/>
                </a:solidFill>
              </a:rPr>
              <a:t>The IT team will install the files that the system/application require.</a:t>
            </a:r>
          </a:p>
          <a:p>
            <a:pPr lvl="0"/>
            <a:endParaRPr lang="en-US" b="1" dirty="0"/>
          </a:p>
          <a:p>
            <a:pPr lvl="0"/>
            <a:endParaRPr lang="en-US" dirty="0"/>
          </a:p>
          <a:p>
            <a:pPr marL="628650" indent="-514350">
              <a:buFont typeface="+mj-lt"/>
              <a:buAutoNum type="arabicPeriod"/>
            </a:pPr>
            <a:endParaRPr lang="en-US" dirty="0"/>
          </a:p>
          <a:p>
            <a:pPr marL="628650" indent="-514350">
              <a:buFont typeface="+mj-lt"/>
              <a:buAutoNum type="arabicPeriod"/>
            </a:pPr>
            <a:endParaRPr lang="en-US" dirty="0"/>
          </a:p>
        </p:txBody>
      </p:sp>
    </p:spTree>
    <p:extLst>
      <p:ext uri="{BB962C8B-B14F-4D97-AF65-F5344CB8AC3E}">
        <p14:creationId xmlns:p14="http://schemas.microsoft.com/office/powerpoint/2010/main" val="42428596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5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dirty="0">
                <a:solidFill>
                  <a:schemeClr val="accent5"/>
                </a:solidFill>
              </a:rPr>
              <a:t>Key Takeaways:</a:t>
            </a:r>
            <a:endParaRPr b="1" dirty="0">
              <a:solidFill>
                <a:schemeClr val="accent5"/>
              </a:solidFill>
            </a:endParaRPr>
          </a:p>
        </p:txBody>
      </p:sp>
      <p:sp>
        <p:nvSpPr>
          <p:cNvPr id="322" name="Google Shape;322;p56"/>
          <p:cNvSpPr txBox="1">
            <a:spLocks noGrp="1"/>
          </p:cNvSpPr>
          <p:nvPr>
            <p:ph type="body" idx="1"/>
          </p:nvPr>
        </p:nvSpPr>
        <p:spPr>
          <a:xfrm>
            <a:off x="838200" y="1825625"/>
            <a:ext cx="11036968" cy="4900028"/>
          </a:xfrm>
          <a:prstGeom prst="rect">
            <a:avLst/>
          </a:prstGeom>
          <a:noFill/>
          <a:ln>
            <a:noFill/>
          </a:ln>
        </p:spPr>
        <p:txBody>
          <a:bodyPr spcFirstLastPara="1" wrap="square" lIns="91425" tIns="45700" rIns="91425" bIns="45700" anchor="t" anchorCtr="0">
            <a:noAutofit/>
          </a:bodyPr>
          <a:lstStyle/>
          <a:p>
            <a:pPr marL="114300" indent="0">
              <a:buNone/>
            </a:pPr>
            <a:r>
              <a:rPr lang="en-US" sz="2400" dirty="0"/>
              <a:t>Before you send a message, ask:</a:t>
            </a:r>
          </a:p>
          <a:p>
            <a:r>
              <a:rPr lang="en-US" sz="2400" b="1" dirty="0"/>
              <a:t>WHO?</a:t>
            </a:r>
            <a:br>
              <a:rPr lang="en-US" sz="2400" dirty="0"/>
            </a:br>
            <a:r>
              <a:rPr lang="en-US" sz="2400" dirty="0"/>
              <a:t>Who will read it?</a:t>
            </a:r>
          </a:p>
          <a:p>
            <a:r>
              <a:rPr lang="en-US" sz="2400" b="1" dirty="0"/>
              <a:t>WHY?</a:t>
            </a:r>
            <a:br>
              <a:rPr lang="en-US" sz="2400" dirty="0"/>
            </a:br>
            <a:r>
              <a:rPr lang="en-US" sz="2400" dirty="0"/>
              <a:t>What do I want the reader to know or do?</a:t>
            </a:r>
          </a:p>
          <a:p>
            <a:r>
              <a:rPr lang="en-US" sz="2400" b="1" dirty="0"/>
              <a:t>WHERE?</a:t>
            </a:r>
            <a:br>
              <a:rPr lang="en-US" sz="2400" dirty="0"/>
            </a:br>
            <a:r>
              <a:rPr lang="en-US" sz="2400" dirty="0"/>
              <a:t>Which platform is appropriate?</a:t>
            </a:r>
          </a:p>
          <a:p>
            <a:r>
              <a:rPr lang="en-US" sz="2400" b="1" dirty="0"/>
              <a:t>HOW?</a:t>
            </a:r>
            <a:br>
              <a:rPr lang="en-US" sz="2400" dirty="0"/>
            </a:br>
            <a:r>
              <a:rPr lang="en-US" sz="2400" dirty="0"/>
              <a:t>How much information and what tone are appropriate?</a:t>
            </a:r>
          </a:p>
          <a:p>
            <a:r>
              <a:rPr lang="en-US" sz="2400" b="1" dirty="0"/>
              <a:t>CHECK</a:t>
            </a:r>
            <a:br>
              <a:rPr lang="en-US" sz="2400" dirty="0"/>
            </a:br>
            <a:r>
              <a:rPr lang="en-US" sz="2400" dirty="0"/>
              <a:t>Is it accurate, clear and easy to read?</a:t>
            </a:r>
          </a:p>
          <a:p>
            <a:pPr marL="457200" lvl="0" indent="-228600" algn="l" rtl="0">
              <a:lnSpc>
                <a:spcPct val="100000"/>
              </a:lnSpc>
              <a:spcBef>
                <a:spcPts val="0"/>
              </a:spcBef>
              <a:spcAft>
                <a:spcPts val="0"/>
              </a:spcAft>
              <a:buSzPts val="1800"/>
              <a:buNone/>
            </a:pPr>
            <a:endParaRPr sz="2400" dirty="0"/>
          </a:p>
          <a:p>
            <a:pPr marL="457200" lvl="0" indent="-228600" algn="l" rtl="0">
              <a:lnSpc>
                <a:spcPct val="100000"/>
              </a:lnSpc>
              <a:spcBef>
                <a:spcPts val="600"/>
              </a:spcBef>
              <a:spcAft>
                <a:spcPts val="0"/>
              </a:spcAft>
              <a:buSzPts val="1800"/>
              <a:buNone/>
            </a:pPr>
            <a:endParaRPr sz="2400" dirty="0"/>
          </a:p>
          <a:p>
            <a:pPr marL="457200" lvl="0" indent="-228600" algn="l" rtl="0">
              <a:lnSpc>
                <a:spcPct val="100000"/>
              </a:lnSpc>
              <a:spcBef>
                <a:spcPts val="600"/>
              </a:spcBef>
              <a:spcAft>
                <a:spcPts val="0"/>
              </a:spcAft>
              <a:buSzPts val="1800"/>
              <a:buNone/>
            </a:pPr>
            <a:endParaRPr sz="2400" dirty="0"/>
          </a:p>
          <a:p>
            <a:pPr marL="457200" lvl="0" indent="-228600" algn="l" rtl="0">
              <a:lnSpc>
                <a:spcPct val="100000"/>
              </a:lnSpc>
              <a:spcBef>
                <a:spcPts val="600"/>
              </a:spcBef>
              <a:spcAft>
                <a:spcPts val="0"/>
              </a:spcAft>
              <a:buSzPts val="1800"/>
              <a:buNone/>
            </a:pPr>
            <a:endParaRPr sz="2400" dirty="0"/>
          </a:p>
          <a:p>
            <a:pPr marL="457200" lvl="0" indent="-228600" algn="l" rtl="0">
              <a:lnSpc>
                <a:spcPct val="100000"/>
              </a:lnSpc>
              <a:spcBef>
                <a:spcPts val="600"/>
              </a:spcBef>
              <a:spcAft>
                <a:spcPts val="600"/>
              </a:spcAft>
              <a:buSzPts val="1800"/>
              <a:buNone/>
            </a:pPr>
            <a:endParaRPr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dirty="0">
                <a:solidFill>
                  <a:schemeClr val="accent5"/>
                </a:solidFill>
              </a:rPr>
              <a:t>Activity: Now You Try It</a:t>
            </a:r>
            <a:endParaRPr b="1" dirty="0">
              <a:solidFill>
                <a:schemeClr val="accent5"/>
              </a:solidFill>
            </a:endParaRPr>
          </a:p>
        </p:txBody>
      </p:sp>
      <p:sp>
        <p:nvSpPr>
          <p:cNvPr id="310" name="Google Shape;310;p14"/>
          <p:cNvSpPr txBox="1">
            <a:spLocks noGrp="1"/>
          </p:cNvSpPr>
          <p:nvPr>
            <p:ph type="body" idx="1"/>
          </p:nvPr>
        </p:nvSpPr>
        <p:spPr>
          <a:xfrm>
            <a:off x="838199" y="1825624"/>
            <a:ext cx="11179629" cy="50323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800"/>
              <a:buNone/>
            </a:pPr>
            <a:r>
              <a:rPr lang="en-US" sz="1600" b="1" dirty="0">
                <a:latin typeface="Calibri"/>
                <a:ea typeface="Calibri"/>
                <a:cs typeface="Calibri"/>
                <a:sym typeface="Calibri"/>
              </a:rPr>
              <a:t>Task: Plan and create all of the necessary communication to a variety of audiences, across a range of platforms:</a:t>
            </a:r>
            <a:endParaRPr sz="1000" dirty="0">
              <a:latin typeface="Calibri"/>
              <a:ea typeface="Calibri"/>
              <a:cs typeface="Calibri"/>
              <a:sym typeface="Calibri"/>
            </a:endParaRPr>
          </a:p>
          <a:p>
            <a:pPr marL="114300" indent="0">
              <a:buNone/>
            </a:pPr>
            <a:r>
              <a:rPr lang="en-US" sz="1600" b="1" dirty="0" err="1"/>
              <a:t>NexonTech’s</a:t>
            </a:r>
            <a:r>
              <a:rPr lang="en-US" sz="1600" b="1" dirty="0"/>
              <a:t> ticketing system is down. Repairs will take 3–4 hours.</a:t>
            </a:r>
            <a:endParaRPr lang="en-US" sz="1600" dirty="0"/>
          </a:p>
          <a:p>
            <a:pPr marL="114300" indent="0">
              <a:buNone/>
            </a:pPr>
            <a:r>
              <a:rPr lang="en-US" sz="1600" b="1" dirty="0"/>
              <a:t>1. EMPLOYEES – Email</a:t>
            </a:r>
          </a:p>
          <a:p>
            <a:r>
              <a:rPr lang="en-US" sz="1600" dirty="0"/>
              <a:t>Improve the IT Manager’s message.</a:t>
            </a:r>
          </a:p>
          <a:p>
            <a:pPr marL="114300" indent="0">
              <a:buNone/>
            </a:pPr>
            <a:r>
              <a:rPr lang="en-US" sz="1600" b="1" dirty="0"/>
              <a:t>2. SENIOR MANAGEMENT – Send an Email saying:</a:t>
            </a:r>
          </a:p>
          <a:p>
            <a:pPr lvl="0"/>
            <a:r>
              <a:rPr lang="en-US" sz="1600" dirty="0"/>
              <a:t>What happened </a:t>
            </a:r>
          </a:p>
          <a:p>
            <a:pPr lvl="0"/>
            <a:r>
              <a:rPr lang="en-US" sz="1600" dirty="0"/>
              <a:t>Repair time </a:t>
            </a:r>
          </a:p>
          <a:p>
            <a:pPr lvl="0"/>
            <a:r>
              <a:rPr lang="en-US" sz="1600" dirty="0"/>
              <a:t>Impact </a:t>
            </a:r>
          </a:p>
          <a:p>
            <a:pPr lvl="0"/>
            <a:r>
              <a:rPr lang="en-US" sz="1600" dirty="0"/>
              <a:t>What happens next </a:t>
            </a:r>
          </a:p>
          <a:p>
            <a:pPr marL="114300" lvl="0" indent="0">
              <a:buNone/>
            </a:pPr>
            <a:r>
              <a:rPr lang="en-US" sz="1600" b="1" dirty="0"/>
              <a:t>3. EMPLOYEES – Teams</a:t>
            </a:r>
          </a:p>
          <a:p>
            <a:r>
              <a:rPr lang="en-US" sz="1600" dirty="0"/>
              <a:t>Write a short restoration message and include:</a:t>
            </a:r>
          </a:p>
          <a:p>
            <a:pPr lvl="0"/>
            <a:r>
              <a:rPr lang="en-US" sz="1600" dirty="0"/>
              <a:t>System restored + time </a:t>
            </a:r>
          </a:p>
          <a:p>
            <a:pPr lvl="0"/>
            <a:r>
              <a:rPr lang="en-US" sz="1600" dirty="0"/>
              <a:t>What employees should do </a:t>
            </a:r>
          </a:p>
          <a:p>
            <a:pPr lvl="0"/>
            <a:r>
              <a:rPr lang="en-US" sz="1600" dirty="0"/>
              <a:t>Who to contact if there are problems </a:t>
            </a:r>
          </a:p>
        </p:txBody>
      </p:sp>
      <p:pic>
        <p:nvPicPr>
          <p:cNvPr id="5" name="Picture 4">
            <a:extLst>
              <a:ext uri="{FF2B5EF4-FFF2-40B4-BE49-F238E27FC236}">
                <a16:creationId xmlns:a16="http://schemas.microsoft.com/office/drawing/2014/main" id="{0D5B84D7-982E-9E1C-7D66-A7D7444E28D2}"/>
              </a:ext>
            </a:extLst>
          </p:cNvPr>
          <p:cNvPicPr>
            <a:picLocks noChangeAspect="1"/>
          </p:cNvPicPr>
          <p:nvPr/>
        </p:nvPicPr>
        <p:blipFill>
          <a:blip r:embed="rId3"/>
          <a:stretch>
            <a:fillRect/>
          </a:stretch>
        </p:blipFill>
        <p:spPr>
          <a:xfrm>
            <a:off x="6572813" y="5165001"/>
            <a:ext cx="4563112" cy="438211"/>
          </a:xfrm>
          <a:prstGeom prst="rect">
            <a:avLst/>
          </a:prstGeom>
        </p:spPr>
      </p:pic>
      <p:pic>
        <p:nvPicPr>
          <p:cNvPr id="7" name="Picture 6">
            <a:extLst>
              <a:ext uri="{FF2B5EF4-FFF2-40B4-BE49-F238E27FC236}">
                <a16:creationId xmlns:a16="http://schemas.microsoft.com/office/drawing/2014/main" id="{6BB9E56C-3098-8DD9-16B9-B8B01AEF8C75}"/>
              </a:ext>
            </a:extLst>
          </p:cNvPr>
          <p:cNvPicPr>
            <a:picLocks noChangeAspect="1"/>
          </p:cNvPicPr>
          <p:nvPr/>
        </p:nvPicPr>
        <p:blipFill>
          <a:blip r:embed="rId4"/>
          <a:stretch>
            <a:fillRect/>
          </a:stretch>
        </p:blipFill>
        <p:spPr>
          <a:xfrm>
            <a:off x="7792096" y="2814365"/>
            <a:ext cx="2401437" cy="1897627"/>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6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a:solidFill>
                  <a:schemeClr val="accent5"/>
                </a:solidFill>
              </a:rPr>
              <a:t>NOTICE 1:</a:t>
            </a:r>
            <a:endParaRPr b="1">
              <a:solidFill>
                <a:schemeClr val="accent5"/>
              </a:solidFill>
            </a:endParaRPr>
          </a:p>
        </p:txBody>
      </p:sp>
      <p:sp>
        <p:nvSpPr>
          <p:cNvPr id="328" name="Google Shape;328;p60"/>
          <p:cNvSpPr txBox="1">
            <a:spLocks noGrp="1"/>
          </p:cNvSpPr>
          <p:nvPr>
            <p:ph type="body" idx="1"/>
          </p:nvPr>
        </p:nvSpPr>
        <p:spPr>
          <a:xfrm>
            <a:off x="838199" y="2389505"/>
            <a:ext cx="11198629" cy="4351338"/>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0"/>
              </a:spcBef>
              <a:spcAft>
                <a:spcPts val="0"/>
              </a:spcAft>
              <a:buSzPts val="1800"/>
              <a:buNone/>
            </a:pPr>
            <a:r>
              <a:rPr lang="en-US" sz="2400" b="1" dirty="0"/>
              <a:t>MyCourses Quiz 2: Unit 2 – Digital Communications</a:t>
            </a:r>
            <a:endParaRPr dirty="0"/>
          </a:p>
          <a:p>
            <a:pPr marL="457200" lvl="0" indent="-342900" algn="l" rtl="0">
              <a:lnSpc>
                <a:spcPct val="100000"/>
              </a:lnSpc>
              <a:spcBef>
                <a:spcPts val="0"/>
              </a:spcBef>
              <a:spcAft>
                <a:spcPts val="0"/>
              </a:spcAft>
              <a:buSzPts val="1800"/>
              <a:buChar char="•"/>
            </a:pPr>
            <a:r>
              <a:rPr lang="en-US" sz="2400" dirty="0"/>
              <a:t>Digital Communication Theory (Including Social Media)</a:t>
            </a:r>
            <a:endParaRPr dirty="0"/>
          </a:p>
          <a:p>
            <a:pPr marL="457200" lvl="0" indent="-342900" algn="l" rtl="0">
              <a:lnSpc>
                <a:spcPct val="100000"/>
              </a:lnSpc>
              <a:spcBef>
                <a:spcPts val="0"/>
              </a:spcBef>
              <a:spcAft>
                <a:spcPts val="0"/>
              </a:spcAft>
              <a:buSzPts val="1800"/>
              <a:buChar char="•"/>
            </a:pPr>
            <a:r>
              <a:rPr lang="en-US" sz="2400" dirty="0"/>
              <a:t>Fundamental Business Vocabulary/Phrasing</a:t>
            </a:r>
            <a:endParaRPr dirty="0"/>
          </a:p>
          <a:p>
            <a:pPr marL="457200" lvl="0" indent="-342900" algn="l" rtl="0">
              <a:lnSpc>
                <a:spcPct val="100000"/>
              </a:lnSpc>
              <a:spcBef>
                <a:spcPts val="0"/>
              </a:spcBef>
              <a:spcAft>
                <a:spcPts val="0"/>
              </a:spcAft>
              <a:buSzPts val="1800"/>
              <a:buChar char="•"/>
            </a:pPr>
            <a:r>
              <a:rPr lang="en-US" sz="2400" dirty="0"/>
              <a:t>Message Format/Organization</a:t>
            </a:r>
            <a:endParaRPr dirty="0"/>
          </a:p>
          <a:p>
            <a:pPr marL="457200" lvl="0" indent="-228600" algn="l" rtl="0">
              <a:lnSpc>
                <a:spcPct val="100000"/>
              </a:lnSpc>
              <a:spcBef>
                <a:spcPts val="0"/>
              </a:spcBef>
              <a:spcAft>
                <a:spcPts val="0"/>
              </a:spcAft>
              <a:buSzPts val="1800"/>
              <a:buNone/>
            </a:pPr>
            <a:endParaRPr sz="2400" dirty="0"/>
          </a:p>
          <a:p>
            <a:pPr marL="114300" lvl="0" indent="0" algn="l" rtl="0">
              <a:lnSpc>
                <a:spcPct val="100000"/>
              </a:lnSpc>
              <a:spcBef>
                <a:spcPts val="0"/>
              </a:spcBef>
              <a:spcAft>
                <a:spcPts val="0"/>
              </a:spcAft>
              <a:buSzPts val="1800"/>
              <a:buNone/>
            </a:pPr>
            <a:r>
              <a:rPr lang="en-US" sz="2400" b="1" dirty="0"/>
              <a:t>Quiz Conditions:</a:t>
            </a:r>
            <a:endParaRPr dirty="0"/>
          </a:p>
          <a:p>
            <a:pPr marL="457200" lvl="0" indent="-342900" algn="l" rtl="0">
              <a:lnSpc>
                <a:spcPct val="100000"/>
              </a:lnSpc>
              <a:spcBef>
                <a:spcPts val="0"/>
              </a:spcBef>
              <a:spcAft>
                <a:spcPts val="0"/>
              </a:spcAft>
              <a:buSzPts val="1800"/>
              <a:buChar char="•"/>
            </a:pPr>
            <a:r>
              <a:rPr lang="en-US" sz="2400" dirty="0"/>
              <a:t>Quiz 2 will close at 23:59, Sunday 30 August 2026</a:t>
            </a:r>
            <a:endParaRPr dirty="0"/>
          </a:p>
          <a:p>
            <a:pPr marL="457200" lvl="0" indent="-342900" algn="l" rtl="0">
              <a:lnSpc>
                <a:spcPct val="100000"/>
              </a:lnSpc>
              <a:spcBef>
                <a:spcPts val="0"/>
              </a:spcBef>
              <a:spcAft>
                <a:spcPts val="0"/>
              </a:spcAft>
              <a:buSzPts val="1800"/>
              <a:buChar char="•"/>
            </a:pPr>
            <a:r>
              <a:rPr lang="en-US" sz="2400" dirty="0"/>
              <a:t>Only one attempt allowed</a:t>
            </a:r>
            <a:endParaRPr dirty="0"/>
          </a:p>
          <a:p>
            <a:pPr marL="457200" lvl="0" indent="-342900" algn="l" rtl="0">
              <a:lnSpc>
                <a:spcPct val="100000"/>
              </a:lnSpc>
              <a:spcBef>
                <a:spcPts val="0"/>
              </a:spcBef>
              <a:spcAft>
                <a:spcPts val="0"/>
              </a:spcAft>
              <a:buSzPts val="1800"/>
              <a:buChar char="•"/>
            </a:pPr>
            <a:r>
              <a:rPr lang="en-US" sz="2400" dirty="0"/>
              <a:t>One hour (60 minutes) time limit</a:t>
            </a:r>
            <a:endParaRPr dirty="0"/>
          </a:p>
          <a:p>
            <a:pPr marL="457200" lvl="0" indent="-342900" algn="l" rtl="0">
              <a:lnSpc>
                <a:spcPct val="100000"/>
              </a:lnSpc>
              <a:spcBef>
                <a:spcPts val="0"/>
              </a:spcBef>
              <a:spcAft>
                <a:spcPts val="0"/>
              </a:spcAft>
              <a:buSzPts val="1800"/>
              <a:buChar char="•"/>
            </a:pPr>
            <a:r>
              <a:rPr lang="en-US" sz="2400" dirty="0"/>
              <a:t>Be sure to review lesson notes and Week 3 and 4 resources before your attempt</a:t>
            </a:r>
            <a:endParaRPr dirty="0"/>
          </a:p>
          <a:p>
            <a:pPr marL="114300" lvl="0" indent="0" algn="l" rtl="0">
              <a:lnSpc>
                <a:spcPct val="100000"/>
              </a:lnSpc>
              <a:spcBef>
                <a:spcPts val="0"/>
              </a:spcBef>
              <a:spcAft>
                <a:spcPts val="0"/>
              </a:spcAft>
              <a:buSzPts val="1800"/>
              <a:buNone/>
            </a:pPr>
            <a:endParaRPr sz="2400" dirty="0"/>
          </a:p>
          <a:p>
            <a:pPr marL="114300" lvl="0" indent="0" algn="l" rtl="0">
              <a:lnSpc>
                <a:spcPct val="100000"/>
              </a:lnSpc>
              <a:spcBef>
                <a:spcPts val="0"/>
              </a:spcBef>
              <a:spcAft>
                <a:spcPts val="0"/>
              </a:spcAft>
              <a:buSzPts val="1800"/>
              <a:buNone/>
            </a:pPr>
            <a:r>
              <a:rPr lang="en-US" sz="2400" b="1" dirty="0"/>
              <a:t>GOOD LUCK!</a:t>
            </a:r>
            <a:endParaRPr dirty="0"/>
          </a:p>
        </p:txBody>
      </p:sp>
      <p:pic>
        <p:nvPicPr>
          <p:cNvPr id="3" name="Picture 2">
            <a:extLst>
              <a:ext uri="{FF2B5EF4-FFF2-40B4-BE49-F238E27FC236}">
                <a16:creationId xmlns:a16="http://schemas.microsoft.com/office/drawing/2014/main" id="{7B443964-A2C9-83A1-8EC4-1927F3BD616A}"/>
              </a:ext>
            </a:extLst>
          </p:cNvPr>
          <p:cNvPicPr>
            <a:picLocks noChangeAspect="1"/>
          </p:cNvPicPr>
          <p:nvPr/>
        </p:nvPicPr>
        <p:blipFill>
          <a:blip r:embed="rId3"/>
          <a:stretch>
            <a:fillRect/>
          </a:stretch>
        </p:blipFill>
        <p:spPr>
          <a:xfrm>
            <a:off x="838199" y="1518563"/>
            <a:ext cx="5439534" cy="60968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b="1">
                <a:solidFill>
                  <a:schemeClr val="accent5"/>
                </a:solidFill>
              </a:rPr>
              <a:t>NOTICE 2:</a:t>
            </a:r>
            <a:endParaRPr b="1">
              <a:solidFill>
                <a:schemeClr val="accent5"/>
              </a:solidFill>
            </a:endParaRPr>
          </a:p>
        </p:txBody>
      </p:sp>
      <p:sp>
        <p:nvSpPr>
          <p:cNvPr id="335" name="Google Shape;335;p16"/>
          <p:cNvSpPr txBox="1">
            <a:spLocks noGrp="1"/>
          </p:cNvSpPr>
          <p:nvPr>
            <p:ph type="body" idx="1"/>
          </p:nvPr>
        </p:nvSpPr>
        <p:spPr>
          <a:xfrm>
            <a:off x="838200" y="1825624"/>
            <a:ext cx="10947400" cy="4829175"/>
          </a:xfrm>
          <a:prstGeom prst="rect">
            <a:avLst/>
          </a:prstGeom>
          <a:noFill/>
          <a:ln>
            <a:noFill/>
          </a:ln>
        </p:spPr>
        <p:txBody>
          <a:bodyPr spcFirstLastPara="1" wrap="square" lIns="91425" tIns="45700" rIns="91425" bIns="45700" anchor="t" anchorCtr="0">
            <a:normAutofit fontScale="62500" lnSpcReduction="20000"/>
          </a:bodyPr>
          <a:lstStyle/>
          <a:p>
            <a:pPr marL="0" lvl="0" indent="0" algn="l" rtl="0">
              <a:lnSpc>
                <a:spcPct val="100000"/>
              </a:lnSpc>
              <a:spcBef>
                <a:spcPts val="600"/>
              </a:spcBef>
              <a:spcAft>
                <a:spcPts val="0"/>
              </a:spcAft>
              <a:buSzPts val="1800"/>
              <a:buNone/>
            </a:pPr>
            <a:r>
              <a:rPr lang="en-US" sz="2400" b="1" dirty="0"/>
              <a:t>Week 5: Formal Evaluation - Assessment 1</a:t>
            </a:r>
            <a:endParaRPr dirty="0"/>
          </a:p>
          <a:p>
            <a:pPr marL="114300" indent="0">
              <a:buNone/>
            </a:pPr>
            <a:r>
              <a:rPr lang="en-US" sz="2400" b="1" dirty="0"/>
              <a:t>What will you do?</a:t>
            </a:r>
            <a:endParaRPr lang="en-US" sz="2400" dirty="0"/>
          </a:p>
          <a:p>
            <a:pPr lvl="0"/>
            <a:r>
              <a:rPr lang="en-US" sz="2400" dirty="0"/>
              <a:t>Complete an </a:t>
            </a:r>
            <a:r>
              <a:rPr lang="en-US" sz="2400" b="1" dirty="0"/>
              <a:t>in-class business communication writing task</a:t>
            </a:r>
            <a:r>
              <a:rPr lang="en-US" sz="2400" dirty="0"/>
              <a:t> </a:t>
            </a:r>
          </a:p>
          <a:p>
            <a:pPr lvl="0"/>
            <a:r>
              <a:rPr lang="en-US" sz="2400" dirty="0"/>
              <a:t>Use appropriate </a:t>
            </a:r>
            <a:r>
              <a:rPr lang="en-US" sz="2400" b="1" dirty="0"/>
              <a:t>audience, purpose, tone and message format</a:t>
            </a:r>
            <a:r>
              <a:rPr lang="en-US" sz="2400" dirty="0"/>
              <a:t> </a:t>
            </a:r>
          </a:p>
          <a:p>
            <a:pPr lvl="0"/>
            <a:r>
              <a:rPr lang="en-US" sz="2400" dirty="0"/>
              <a:t>Plan and Write </a:t>
            </a:r>
            <a:r>
              <a:rPr lang="en-US" sz="2400" b="1" dirty="0"/>
              <a:t>clear, accurate and readable</a:t>
            </a:r>
            <a:r>
              <a:rPr lang="en-US" sz="2400" dirty="0"/>
              <a:t> business messages for the correct platform</a:t>
            </a:r>
          </a:p>
          <a:p>
            <a:endParaRPr lang="en-US" sz="2400" b="1" dirty="0"/>
          </a:p>
          <a:p>
            <a:pPr marL="114300" indent="0">
              <a:buNone/>
            </a:pPr>
            <a:r>
              <a:rPr lang="en-US" sz="2400" dirty="0"/>
              <a:t>You will have  2 hours to complete the assessment</a:t>
            </a:r>
          </a:p>
          <a:p>
            <a:pPr lvl="0"/>
            <a:r>
              <a:rPr lang="en-US" sz="2400" dirty="0"/>
              <a:t>Bring: </a:t>
            </a:r>
            <a:r>
              <a:rPr lang="en-US" sz="2400" b="1" dirty="0"/>
              <a:t>pen / pencil / eraser</a:t>
            </a:r>
            <a:r>
              <a:rPr lang="en-US" sz="2400" dirty="0"/>
              <a:t> </a:t>
            </a:r>
          </a:p>
          <a:p>
            <a:pPr lvl="0"/>
            <a:r>
              <a:rPr lang="en-US" sz="2400" b="1" dirty="0"/>
              <a:t>An English-to-English paperback dictionary is allowed</a:t>
            </a:r>
            <a:r>
              <a:rPr lang="en-US" sz="2400" dirty="0"/>
              <a:t> </a:t>
            </a:r>
          </a:p>
          <a:p>
            <a:endParaRPr lang="en-US" sz="2400" b="1" dirty="0"/>
          </a:p>
          <a:p>
            <a:pPr marL="114300" indent="0">
              <a:buNone/>
            </a:pPr>
            <a:r>
              <a:rPr lang="en-US" sz="2400" b="1" dirty="0"/>
              <a:t>You may NOT use:</a:t>
            </a:r>
            <a:endParaRPr lang="en-US" sz="2400" dirty="0"/>
          </a:p>
          <a:p>
            <a:r>
              <a:rPr lang="en-US" sz="2400" dirty="0"/>
              <a:t> Mobile phones or other devices </a:t>
            </a:r>
          </a:p>
          <a:p>
            <a:pPr lvl="0"/>
            <a:r>
              <a:rPr lang="en-US" sz="2400" dirty="0"/>
              <a:t>The Internet </a:t>
            </a:r>
          </a:p>
          <a:p>
            <a:pPr lvl="0"/>
            <a:r>
              <a:rPr lang="en-US" sz="2400" dirty="0"/>
              <a:t>AI tools </a:t>
            </a:r>
          </a:p>
          <a:p>
            <a:pPr lvl="0"/>
            <a:r>
              <a:rPr lang="en-US" sz="2400" dirty="0"/>
              <a:t>Class notes </a:t>
            </a:r>
          </a:p>
          <a:p>
            <a:pPr lvl="0"/>
            <a:r>
              <a:rPr lang="en-US" sz="2400" dirty="0"/>
              <a:t>Other sources or assistance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24"/>
          <p:cNvSpPr txBox="1">
            <a:spLocks noGrp="1"/>
          </p:cNvSpPr>
          <p:nvPr>
            <p:ph type="title"/>
          </p:nvPr>
        </p:nvSpPr>
        <p:spPr>
          <a:xfrm>
            <a:off x="808722" y="2153266"/>
            <a:ext cx="10519678" cy="410943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accent5"/>
              </a:buClr>
              <a:buSzPct val="100000"/>
              <a:buFont typeface="Calibri"/>
              <a:buNone/>
            </a:pPr>
            <a:r>
              <a:rPr lang="en-US" sz="3600" b="1">
                <a:solidFill>
                  <a:schemeClr val="dk1"/>
                </a:solidFill>
                <a:latin typeface="Calibri"/>
                <a:ea typeface="Calibri"/>
                <a:cs typeface="Calibri"/>
                <a:sym typeface="Calibri"/>
              </a:rPr>
              <a:t>Congratulations </a:t>
            </a:r>
            <a:r>
              <a:rPr lang="en-US" sz="3600" b="1">
                <a:latin typeface="Calibri"/>
                <a:ea typeface="Calibri"/>
                <a:cs typeface="Calibri"/>
                <a:sym typeface="Calibri"/>
              </a:rPr>
              <a:t>on surviving another class</a:t>
            </a:r>
            <a:br>
              <a:rPr lang="en-US" sz="3600" b="1">
                <a:solidFill>
                  <a:schemeClr val="accent5"/>
                </a:solidFill>
                <a:latin typeface="Calibri"/>
                <a:ea typeface="Calibri"/>
                <a:cs typeface="Calibri"/>
                <a:sym typeface="Calibri"/>
              </a:rPr>
            </a:br>
            <a:br>
              <a:rPr lang="en-US" sz="3600" b="1">
                <a:solidFill>
                  <a:schemeClr val="accent5"/>
                </a:solidFill>
                <a:latin typeface="Calibri"/>
                <a:ea typeface="Calibri"/>
                <a:cs typeface="Calibri"/>
                <a:sym typeface="Calibri"/>
              </a:rPr>
            </a:br>
            <a:r>
              <a:rPr lang="en-US" sz="3600" b="1">
                <a:solidFill>
                  <a:schemeClr val="accent5"/>
                </a:solidFill>
                <a:latin typeface="Calibri"/>
                <a:ea typeface="Calibri"/>
                <a:cs typeface="Calibri"/>
                <a:sym typeface="Calibri"/>
              </a:rPr>
              <a:t>THANK YOU </a:t>
            </a:r>
            <a:r>
              <a:rPr lang="en-US" sz="3600" b="1">
                <a:latin typeface="Calibri"/>
                <a:ea typeface="Calibri"/>
                <a:cs typeface="Calibri"/>
                <a:sym typeface="Calibri"/>
              </a:rPr>
              <a:t>for your participation today</a:t>
            </a:r>
            <a:br>
              <a:rPr lang="en-US" sz="4400" b="1">
                <a:solidFill>
                  <a:schemeClr val="accent1"/>
                </a:solidFill>
                <a:latin typeface="Calibri"/>
                <a:ea typeface="Calibri"/>
                <a:cs typeface="Calibri"/>
                <a:sym typeface="Calibri"/>
              </a:rPr>
            </a:br>
            <a:br>
              <a:rPr lang="en-US" sz="4400" b="1">
                <a:solidFill>
                  <a:schemeClr val="accent1"/>
                </a:solidFill>
                <a:latin typeface="Calibri"/>
                <a:ea typeface="Calibri"/>
                <a:cs typeface="Calibri"/>
                <a:sym typeface="Calibri"/>
              </a:rPr>
            </a:br>
            <a:br>
              <a:rPr lang="en-US" sz="3000" b="1">
                <a:solidFill>
                  <a:schemeClr val="accent1"/>
                </a:solidFill>
                <a:latin typeface="Calibri"/>
                <a:ea typeface="Calibri"/>
                <a:cs typeface="Calibri"/>
                <a:sym typeface="Calibri"/>
              </a:rPr>
            </a:br>
            <a:r>
              <a:rPr lang="en-US" sz="3000" b="1">
                <a:latin typeface="Calibri"/>
                <a:ea typeface="Calibri"/>
                <a:cs typeface="Calibri"/>
                <a:sym typeface="Calibri"/>
              </a:rPr>
              <a:t>Have a great week everyone!</a:t>
            </a:r>
            <a:br>
              <a:rPr lang="en-US" sz="3000" b="1">
                <a:latin typeface="Calibri"/>
                <a:ea typeface="Calibri"/>
                <a:cs typeface="Calibri"/>
                <a:sym typeface="Calibri"/>
              </a:rPr>
            </a:br>
            <a:br>
              <a:rPr lang="en-US" sz="3000" b="1">
                <a:latin typeface="Calibri"/>
                <a:ea typeface="Calibri"/>
                <a:cs typeface="Calibri"/>
                <a:sym typeface="Calibri"/>
              </a:rPr>
            </a:br>
            <a:r>
              <a:rPr lang="en-US" sz="3000" b="1">
                <a:latin typeface="Calibri"/>
                <a:ea typeface="Calibri"/>
                <a:cs typeface="Calibri"/>
                <a:sym typeface="Calibri"/>
              </a:rPr>
              <a:t>See you next week</a:t>
            </a:r>
            <a:br>
              <a:rPr lang="en-US" sz="3000" b="1">
                <a:latin typeface="Calibri"/>
                <a:ea typeface="Calibri"/>
                <a:cs typeface="Calibri"/>
                <a:sym typeface="Calibri"/>
              </a:rPr>
            </a:br>
            <a:r>
              <a:rPr lang="en-US" sz="3000" b="1">
                <a:latin typeface="Calibri"/>
                <a:ea typeface="Calibri"/>
                <a:cs typeface="Calibri"/>
                <a:sym typeface="Calibri"/>
              </a:rPr>
              <a:t>Until then, Take Care &amp; Stay Safe</a:t>
            </a:r>
            <a:endParaRPr sz="3000" b="1">
              <a:latin typeface="Calibri"/>
              <a:ea typeface="Calibri"/>
              <a:cs typeface="Calibri"/>
              <a:sym typeface="Calibri"/>
            </a:endParaRPr>
          </a:p>
        </p:txBody>
      </p:sp>
      <p:sp>
        <p:nvSpPr>
          <p:cNvPr id="341" name="Google Shape;341;p24"/>
          <p:cNvSpPr txBox="1"/>
          <p:nvPr/>
        </p:nvSpPr>
        <p:spPr>
          <a:xfrm>
            <a:off x="808722" y="408341"/>
            <a:ext cx="78867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accent5"/>
              </a:buClr>
              <a:buSzPts val="4400"/>
              <a:buFont typeface="Calibri"/>
              <a:buNone/>
            </a:pPr>
            <a:r>
              <a:rPr lang="en-US" sz="4400" b="1" i="0" u="none" strike="noStrike" cap="none">
                <a:solidFill>
                  <a:schemeClr val="accent5"/>
                </a:solidFill>
                <a:latin typeface="Calibri"/>
                <a:ea typeface="Calibri"/>
                <a:cs typeface="Calibri"/>
                <a:sym typeface="Calibri"/>
              </a:rPr>
              <a:t>Finally….</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653</TotalTime>
  <Words>3010</Words>
  <Application>Microsoft Macintosh PowerPoint</Application>
  <PresentationFormat>Widescreen</PresentationFormat>
  <Paragraphs>363</Paragraphs>
  <Slides>29</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Noto Sans Symbols</vt:lpstr>
      <vt:lpstr>Arial</vt:lpstr>
      <vt:lpstr>Calibri</vt:lpstr>
      <vt:lpstr>Office Theme</vt:lpstr>
      <vt:lpstr>ITLG311 - Business Communication</vt:lpstr>
      <vt:lpstr>Previously:</vt:lpstr>
      <vt:lpstr>Homework/Feedback:</vt:lpstr>
      <vt:lpstr>This Week:</vt:lpstr>
      <vt:lpstr>Today’s Reference Materials/Resources</vt:lpstr>
      <vt:lpstr>Messaging Types</vt:lpstr>
      <vt:lpstr>1. Types of Digital Messaging Platforms</vt:lpstr>
      <vt:lpstr>1.1: Instant Messaging</vt:lpstr>
      <vt:lpstr>1.1: Instant Messaging (Extended)</vt:lpstr>
      <vt:lpstr>1.1: Professional Messaging Platforms</vt:lpstr>
      <vt:lpstr>1.2: Social Media</vt:lpstr>
      <vt:lpstr>1.3: Emails</vt:lpstr>
      <vt:lpstr>1.4: Website Press Releases</vt:lpstr>
      <vt:lpstr>2: Using Digital Platforms</vt:lpstr>
      <vt:lpstr>3: Adapting the message for Various Platforms</vt:lpstr>
      <vt:lpstr>4: Responding to Digital Messaging</vt:lpstr>
      <vt:lpstr>5. Activity: Examples of Digital Communications </vt:lpstr>
      <vt:lpstr>5.1: Scenario: Internet Service Disruption</vt:lpstr>
      <vt:lpstr>6. Accuracy Matters</vt:lpstr>
      <vt:lpstr>6.1 How can you be more accurate?</vt:lpstr>
      <vt:lpstr>6.2 Test your accuracy:</vt:lpstr>
      <vt:lpstr>7. Technical Language and Audience</vt:lpstr>
      <vt:lpstr>7.1 Technical vs Non- Technical Examples</vt:lpstr>
      <vt:lpstr>7.2 Technical vs Non- Technical Exercise</vt:lpstr>
      <vt:lpstr>Key Takeaways:</vt:lpstr>
      <vt:lpstr>Activity: Now You Try It</vt:lpstr>
      <vt:lpstr>NOTICE 1:</vt:lpstr>
      <vt:lpstr>NOTICE 2:</vt:lpstr>
      <vt:lpstr>Congratulations on surviving another class  THANK YOU for your participation today   Have a great week everyone!  See you next week Until then, Take Care &amp; Stay Safe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MUICT</dc:creator>
  <cp:lastModifiedBy>QIMIN ZHU</cp:lastModifiedBy>
  <cp:revision>8</cp:revision>
  <dcterms:created xsi:type="dcterms:W3CDTF">2018-08-21T03:27:20Z</dcterms:created>
  <dcterms:modified xsi:type="dcterms:W3CDTF">2026-08-25T07:05:12Z</dcterms:modified>
</cp:coreProperties>
</file>