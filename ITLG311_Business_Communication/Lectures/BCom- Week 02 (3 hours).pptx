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83" r:id="rId6"/>
    <p:sldId id="284" r:id="rId7"/>
    <p:sldId id="264" r:id="rId8"/>
    <p:sldId id="265" r:id="rId9"/>
    <p:sldId id="289" r:id="rId10"/>
    <p:sldId id="285" r:id="rId11"/>
    <p:sldId id="286" r:id="rId12"/>
    <p:sldId id="288" r:id="rId13"/>
    <p:sldId id="271" r:id="rId14"/>
    <p:sldId id="261" r:id="rId15"/>
    <p:sldId id="273" r:id="rId16"/>
    <p:sldId id="311" r:id="rId17"/>
    <p:sldId id="275" r:id="rId18"/>
  </p:sldIdLst>
  <p:sldSz cx="12192000" cy="6858000"/>
  <p:notesSz cx="9926638" cy="67976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vTlMsjxbcuR3VPZjF/xLJoGR2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0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54750" y="509825"/>
            <a:ext cx="6618075" cy="2549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8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9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8533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45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Verbally – quick updates or simple requests, and easy to resolve situations.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Clarification, confirmation, situations that involve time-sensitive information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 writing – most situations that require written responses, or it is important to create a ’paper-trail’ as a record: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Formal requests/provision of specific detailed information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6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FORMAL: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Definition </a:t>
            </a:r>
            <a:r>
              <a:rPr lang="en-US" dirty="0"/>
              <a:t>Professional and carefully structured language used when communicating with </a:t>
            </a:r>
            <a:r>
              <a:rPr lang="en-US" b="1" dirty="0"/>
              <a:t>people you do not know well, senior staff, clients, or external organizations</a:t>
            </a:r>
            <a:r>
              <a:rPr lang="en-US" dirty="0"/>
              <a:t>. Avoid slang, contractions, and overly casual expressions.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Examples: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Greetings: "Dear Sir/Madam,"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Requests: "Could you please provide the necessary documentation?"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Closings: "Yours sincerely,"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Vocabulary: Utilize (instead of use), commence (instead of start), inquire (instead of ask)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Tone: Polite, respectful, and distant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NEUTRAL/SEMI-FORMAL: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Definition: </a:t>
            </a:r>
            <a:r>
              <a:rPr lang="en-US" dirty="0"/>
              <a:t>Professional but more natural and friendly language used when communicating with </a:t>
            </a:r>
            <a:r>
              <a:rPr lang="en-US" b="1" dirty="0"/>
              <a:t>colleagues, regular clients, or people you already have a working relationship with</a:t>
            </a:r>
            <a:r>
              <a:rPr lang="en-US" dirty="0"/>
              <a:t>. Some less formal expressions and contractions may be acceptable.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Examples: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Greetings: "Hello [Name],"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Requests: "Could you send me the report when you get a chance?"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Closings: "Best regards,"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Vocabulary: Use (instead of utilize), start (instead of commence), ask (instead of inquire)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Tone: Polite, friendly, and straightforward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INFORMAL: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Definition: </a:t>
            </a:r>
            <a:r>
              <a:rPr lang="en-US" dirty="0"/>
              <a:t>Casual and relaxed language used when communicating with </a:t>
            </a:r>
            <a:r>
              <a:rPr lang="en-US" b="1" dirty="0"/>
              <a:t>people you know well and have a close or familiar relationship with</a:t>
            </a:r>
            <a:r>
              <a:rPr lang="en-US" dirty="0"/>
              <a:t>. Contractions, simple expressions, and conversational language are common.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Examples: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Greetings: "Hey [Name],"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Requests: "Can you send me the report?"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Closings: "Cheers,"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Vocabulary: Use (instead of utilize), start (instead of commence), ask (instead of inquire), chat (instead of discuss)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Tone: Relaxed, friendly, and personal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Connect to 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Intelligent Business Style Guide P7, P9-11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Email English: P6-7, P8-9, P91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559D1B95-6094-A3E1-6791-F3BE91EDE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6:notes">
            <a:extLst>
              <a:ext uri="{FF2B5EF4-FFF2-40B4-BE49-F238E27FC236}">
                <a16:creationId xmlns:a16="http://schemas.microsoft.com/office/drawing/2014/main" id="{70AF5640-9177-D6D8-8675-CB46A9722B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6:notes">
            <a:extLst>
              <a:ext uri="{FF2B5EF4-FFF2-40B4-BE49-F238E27FC236}">
                <a16:creationId xmlns:a16="http://schemas.microsoft.com/office/drawing/2014/main" id="{ECC08B0F-6B8E-A0B4-37A0-0E57758B5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FORMAL: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Definition </a:t>
            </a:r>
            <a:r>
              <a:rPr lang="en-US" dirty="0"/>
              <a:t>Professional and carefully structured language used when communicating with </a:t>
            </a:r>
            <a:r>
              <a:rPr lang="en-US" b="1" dirty="0"/>
              <a:t>people you do not know well, senior staff, clients, or external organizations</a:t>
            </a:r>
            <a:r>
              <a:rPr lang="en-US" dirty="0"/>
              <a:t>. Avoid slang, contractions, and overly casual expressions.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Examples: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Greetings: "Dear Sir/Madam,"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Requests: "Could you please provide the necessary documentation?"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Closings: "Yours sincerely,"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Vocabulary: Utilize (instead of use), commence (instead of start), inquire (instead of ask)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Tone: Polite, respectful, and distant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NEUTRAL/SEMI-FORMAL: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Definition: </a:t>
            </a:r>
            <a:r>
              <a:rPr lang="en-US" dirty="0"/>
              <a:t>Professional but more natural and friendly language used when communicating with </a:t>
            </a:r>
            <a:r>
              <a:rPr lang="en-US" b="1" dirty="0"/>
              <a:t>colleagues, regular clients, or people you already have a working relationship with</a:t>
            </a:r>
            <a:r>
              <a:rPr lang="en-US" dirty="0"/>
              <a:t>. Some less formal expressions and contractions may be acceptable.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Examples: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Greetings: "Hello [Name],"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Requests: "Could you send me the report when you get a chance?"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Closings: "Best regards,"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Vocabulary: Use (instead of utilize), start (instead of commence), ask (instead of inquire)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Tone: Polite, friendly, and straightforward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INFORMAL: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Definition: </a:t>
            </a:r>
            <a:r>
              <a:rPr lang="en-US" dirty="0"/>
              <a:t>Casual and relaxed language used when communicating with </a:t>
            </a:r>
            <a:r>
              <a:rPr lang="en-US" b="1" dirty="0"/>
              <a:t>people you know well and have a close or familiar relationship with</a:t>
            </a:r>
            <a:r>
              <a:rPr lang="en-US" dirty="0"/>
              <a:t>. Contractions, simple expressions, and conversational language are common.</a:t>
            </a: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Examples: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Greetings: "Hey [Name],"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Requests: "Can you send me the report?"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Closings: "Cheers,"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Vocabulary: Use (instead of utilize), start (instead of commence), ask (instead of inquire), chat (instead of discuss)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0" dirty="0"/>
              <a:t>Tone: Relaxed, friendly, and personal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 dirty="0"/>
              <a:t>Connect to 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Intelligent Business Style Guide P7, P9-11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/>
              <a:t>Email English: P6-7, P8-9, P91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8798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2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54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5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:notes"/>
          <p:cNvSpPr txBox="1">
            <a:spLocks noGrp="1"/>
          </p:cNvSpPr>
          <p:nvPr>
            <p:ph type="body" idx="1"/>
          </p:nvPr>
        </p:nvSpPr>
        <p:spPr>
          <a:xfrm>
            <a:off x="992650" y="3228875"/>
            <a:ext cx="7941300" cy="305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 txBox="1">
            <a:spLocks noGrp="1"/>
          </p:cNvSpPr>
          <p:nvPr>
            <p:ph type="ctrTitle"/>
          </p:nvPr>
        </p:nvSpPr>
        <p:spPr>
          <a:xfrm>
            <a:off x="0" y="1122364"/>
            <a:ext cx="12192000" cy="131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libri"/>
              <a:buNone/>
            </a:pPr>
            <a:r>
              <a:rPr lang="en-US" sz="60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ITLG3</a:t>
            </a:r>
            <a:r>
              <a:rPr lang="en-US" b="1">
                <a:solidFill>
                  <a:schemeClr val="accent5"/>
                </a:solidFill>
              </a:rPr>
              <a:t>1</a:t>
            </a:r>
            <a:r>
              <a:rPr lang="en-US" sz="60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1 - Business </a:t>
            </a:r>
            <a:r>
              <a:rPr lang="en-US" b="1">
                <a:solidFill>
                  <a:schemeClr val="accent5"/>
                </a:solidFill>
              </a:rPr>
              <a:t>Communication</a:t>
            </a:r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subTitle" idx="1"/>
          </p:nvPr>
        </p:nvSpPr>
        <p:spPr>
          <a:xfrm>
            <a:off x="0" y="3353680"/>
            <a:ext cx="12192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/>
              <a:t>Faculty of ICT, Mahidol University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/>
              <a:t>Semester 1, 2026-27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/>
              <a:t>Session 02: Getting Started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b="1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solidFill>
                  <a:schemeClr val="accent5"/>
                </a:solidFill>
              </a:rPr>
              <a:t>WRITTEN BUSINESS COMMUNICATION</a:t>
            </a:r>
            <a:endParaRPr sz="28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>
                <a:solidFill>
                  <a:schemeClr val="accent5"/>
                </a:solidFill>
              </a:rPr>
              <a:t>Last Week: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85" name="Google Shape;85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Getting Started: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Useful resources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The purpose and goals of the course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Lesson structures, Activities &amp; Evaluations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Fundamental aspects of effective communication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The audience and adapting communicative needs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Main Principles of Business Communication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>
                <a:solidFill>
                  <a:schemeClr val="accent5"/>
                </a:solidFill>
              </a:rPr>
              <a:t>This Week: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91" name="Google Shape;91;p39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800806" cy="503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1" dirty="0"/>
              <a:t>Objectives:</a:t>
            </a:r>
            <a:endParaRPr dirty="0"/>
          </a:p>
          <a:p>
            <a:r>
              <a:rPr lang="en-US" sz="2400" dirty="0"/>
              <a:t>Differentiate between internal and external audiences</a:t>
            </a:r>
          </a:p>
          <a:p>
            <a:r>
              <a:rPr lang="en-US" sz="2400" dirty="0"/>
              <a:t>Adapt tone and language for different audiences</a:t>
            </a:r>
          </a:p>
          <a:p>
            <a:r>
              <a:rPr lang="en-US" sz="2400" dirty="0"/>
              <a:t>Plan business messages before writing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34290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>
                <a:solidFill>
                  <a:schemeClr val="accent5"/>
                </a:solidFill>
              </a:rPr>
              <a:t>Resources: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8EE7F-1EBF-FFDF-6507-07D9508C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61" y="1298864"/>
            <a:ext cx="5937585" cy="5434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 Audience</a:t>
            </a:r>
            <a:endParaRPr b="1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503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/>
              <a:t>Knowing and understanding your audience will help you communicate effectively</a:t>
            </a:r>
            <a:endParaRPr sz="1800" dirty="0"/>
          </a:p>
          <a:p>
            <a:pPr marL="22860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/>
              <a:t>Consider:</a:t>
            </a:r>
            <a:endParaRPr sz="1800" b="1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Who is the audience?</a:t>
            </a: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How large is the audience?</a:t>
            </a: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What are the backgrounds, genders, ages, jobs, education level and interests?</a:t>
            </a: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What do you think the audience </a:t>
            </a:r>
            <a:r>
              <a:rPr lang="en-US" sz="1800" u="sng" dirty="0"/>
              <a:t>already knows</a:t>
            </a:r>
            <a:r>
              <a:rPr lang="en-US" sz="1800" dirty="0"/>
              <a:t>?</a:t>
            </a: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What do you think the audience </a:t>
            </a:r>
            <a:r>
              <a:rPr lang="en-US" sz="1800" u="sng" dirty="0"/>
              <a:t>needs to know</a:t>
            </a:r>
            <a:r>
              <a:rPr lang="en-US" sz="1800" dirty="0"/>
              <a:t> or </a:t>
            </a:r>
            <a:r>
              <a:rPr lang="en-US" sz="1800" u="sng" dirty="0"/>
              <a:t>wants to know</a:t>
            </a:r>
            <a:r>
              <a:rPr lang="en-US" sz="1800" dirty="0"/>
              <a:t>?</a:t>
            </a: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What communication channel/method will best reach the audience?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sz="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/>
              <a:t>Self Check: 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How would you communicate one-on-one compared to with a large audience.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How would you communicate with someone who is older than you?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Would you communicate differently if you were communicating with your manager instead of a colleague?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Do the same rules/principles apply when communicating electronically?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 b="1" dirty="0">
                <a:solidFill>
                  <a:srgbClr val="FF0000"/>
                </a:solidFill>
              </a:rPr>
              <a:t>Note: </a:t>
            </a:r>
            <a:r>
              <a:rPr lang="en-US" sz="1800" dirty="0">
                <a:solidFill>
                  <a:srgbClr val="FF0000"/>
                </a:solidFill>
              </a:rPr>
              <a:t>Also consider the possibility that someone other than the intended audience might also see your message: </a:t>
            </a:r>
            <a:r>
              <a:rPr lang="en-US" sz="1800" b="1" dirty="0">
                <a:solidFill>
                  <a:srgbClr val="FF0000"/>
                </a:solidFill>
              </a:rPr>
              <a:t>Be careful!</a:t>
            </a:r>
          </a:p>
        </p:txBody>
      </p:sp>
    </p:spTree>
    <p:extLst>
      <p:ext uri="{BB962C8B-B14F-4D97-AF65-F5344CB8AC3E}">
        <p14:creationId xmlns:p14="http://schemas.microsoft.com/office/powerpoint/2010/main" val="211019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Internal Audiences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0490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The Internal Audience can be defined as ‘people within your organization’: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Your co-workers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Your boss/supervisor, and subordinates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This means: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You know the people you work with, so it is easy to evaluate their communicative needs as well as the most appropriate method of communicating with them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endParaRPr lang="en-US" sz="1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/>
              <a:t>You are likely to use a range of methods of communication:</a:t>
            </a:r>
          </a:p>
          <a:p>
            <a:pPr marL="0">
              <a:lnSpc>
                <a:spcPct val="100000"/>
              </a:lnSpc>
              <a:spcBef>
                <a:spcPts val="0"/>
              </a:spcBef>
            </a:pPr>
            <a:endParaRPr lang="en-US" sz="2400" dirty="0"/>
          </a:p>
          <a:p>
            <a:pPr marL="45720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Face-to-face conversations</a:t>
            </a:r>
          </a:p>
          <a:p>
            <a:pPr marL="45720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SMS or Chat Messages</a:t>
            </a:r>
          </a:p>
          <a:p>
            <a:pPr marL="45720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Post-it notes</a:t>
            </a:r>
          </a:p>
          <a:p>
            <a:pPr marL="45720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Telephone Calls</a:t>
            </a:r>
          </a:p>
          <a:p>
            <a:pPr marL="45720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Memos</a:t>
            </a:r>
          </a:p>
          <a:p>
            <a:pPr marL="45720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Emails</a:t>
            </a:r>
          </a:p>
          <a:p>
            <a:pPr marL="45720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Proposals</a:t>
            </a:r>
          </a:p>
          <a:p>
            <a:pPr marL="45720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Reports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46083" y="4795385"/>
            <a:ext cx="625642" cy="1954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24946" y="4917885"/>
            <a:ext cx="622885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  <a:latin typeface="Calibri" panose="020F0502020204030204" pitchFamily="34" charset="0"/>
              </a:rPr>
              <a:t>The complexity of the situation and the method of communication usually relates to the level of formality </a:t>
            </a:r>
          </a:p>
          <a:p>
            <a:pPr algn="ctr"/>
            <a:endParaRPr lang="en-US" sz="1000" b="1" dirty="0">
              <a:solidFill>
                <a:schemeClr val="accent5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</a:rPr>
              <a:t>For example: you would not be likely to send a chat message or a post-it note to you boss when reporting about a serious business situation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3920481" y="5395469"/>
            <a:ext cx="14037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</a:rPr>
              <a:t>complexity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06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accent5"/>
                </a:solidFill>
              </a:rPr>
              <a:t>External Audiences: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133" name="Google Shape;133;p45"/>
          <p:cNvSpPr txBox="1">
            <a:spLocks noGrp="1"/>
          </p:cNvSpPr>
          <p:nvPr>
            <p:ph type="body" idx="1"/>
          </p:nvPr>
        </p:nvSpPr>
        <p:spPr>
          <a:xfrm>
            <a:off x="661220" y="1591128"/>
            <a:ext cx="11212286" cy="51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The External Audience can be defined </a:t>
            </a:r>
            <a:r>
              <a:rPr lang="en-US" sz="2400" b="1" i="1" dirty="0"/>
              <a:t>‘people outside your organization’</a:t>
            </a:r>
            <a:r>
              <a:rPr lang="en-US" sz="2400" b="1" dirty="0"/>
              <a:t>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Suppliers, Distributors, Clients, Customers, Other businesses, etc.</a:t>
            </a:r>
            <a:endParaRPr dirty="0"/>
          </a:p>
          <a:p>
            <a:pPr marL="0" lvl="0" indent="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How you interact with them will be determined by the business situation.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What situations would you communicate: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Verbally: </a:t>
            </a:r>
            <a:endParaRPr sz="2400" dirty="0"/>
          </a:p>
          <a:p>
            <a:pPr marL="0" lvl="0" indent="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0" lvl="0" indent="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In Writing:</a:t>
            </a:r>
            <a:endParaRPr dirty="0"/>
          </a:p>
          <a:p>
            <a:pPr marL="0" lvl="0" indent="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400" dirty="0"/>
          </a:p>
          <a:p>
            <a:pPr marL="0" lvl="0" indent="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>
                <a:solidFill>
                  <a:schemeClr val="accent5"/>
                </a:solidFill>
              </a:rPr>
              <a:t>Remember: </a:t>
            </a:r>
            <a:r>
              <a:rPr lang="en-US" sz="2400" dirty="0">
                <a:solidFill>
                  <a:schemeClr val="accent5"/>
                </a:solidFill>
              </a:rPr>
              <a:t>The underlying purpose of communication with an external audience is to establish and maintain a positive working relationship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</a:rPr>
              <a:t>Week 2 Worksheet Internal vs External Communication PART 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56C8C9-1F02-7447-1C0B-25B841376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244" y="3235688"/>
            <a:ext cx="2126673" cy="1993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6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1144240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accent5"/>
                </a:solidFill>
              </a:rPr>
              <a:t>Audience: Target Language: Tone/Formality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139" name="Google Shape;139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93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/>
              <a:t>Different audiences expect different levels of formality</a:t>
            </a:r>
            <a:endParaRPr sz="24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Define:</a:t>
            </a:r>
            <a:endParaRPr sz="24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Formal:</a:t>
            </a:r>
            <a:endParaRPr sz="24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Neutral/Semi-formal:</a:t>
            </a:r>
            <a:endParaRPr sz="24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000" dirty="0"/>
              <a:t>Informal:</a:t>
            </a:r>
            <a:endParaRPr sz="2400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400" b="1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583C6821-DD56-607A-842F-CE9E4EAE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6">
            <a:extLst>
              <a:ext uri="{FF2B5EF4-FFF2-40B4-BE49-F238E27FC236}">
                <a16:creationId xmlns:a16="http://schemas.microsoft.com/office/drawing/2014/main" id="{FF5ADCF7-EC0A-1FA4-F97E-BDED01AC63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1144240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accent5"/>
                </a:solidFill>
              </a:rPr>
              <a:t>Audience: Target Language: Tone/Formality Exercises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139" name="Google Shape;139;p46">
            <a:extLst>
              <a:ext uri="{FF2B5EF4-FFF2-40B4-BE49-F238E27FC236}">
                <a16:creationId xmlns:a16="http://schemas.microsoft.com/office/drawing/2014/main" id="{CDC94468-20D7-5812-398C-A0F53AF2C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93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</a:rPr>
              <a:t>Week 2 Worksheet Internal vs External Communication PART B</a:t>
            </a:r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400" b="1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  <p:pic>
        <p:nvPicPr>
          <p:cNvPr id="140" name="Google Shape;140;p46">
            <a:extLst>
              <a:ext uri="{FF2B5EF4-FFF2-40B4-BE49-F238E27FC236}">
                <a16:creationId xmlns:a16="http://schemas.microsoft.com/office/drawing/2014/main" id="{8109D2C4-E287-4A91-AA87-AAE3FB08F6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2379" y="2380485"/>
            <a:ext cx="4805976" cy="36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6">
            <a:extLst>
              <a:ext uri="{FF2B5EF4-FFF2-40B4-BE49-F238E27FC236}">
                <a16:creationId xmlns:a16="http://schemas.microsoft.com/office/drawing/2014/main" id="{9E1BE035-3888-A14C-A4D1-7107C29C38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457" y="2839138"/>
            <a:ext cx="4637838" cy="42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6">
            <a:extLst>
              <a:ext uri="{FF2B5EF4-FFF2-40B4-BE49-F238E27FC236}">
                <a16:creationId xmlns:a16="http://schemas.microsoft.com/office/drawing/2014/main" id="{E638C00D-4F5E-A3CF-B48E-C0CB1B5AB25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2379" y="3340509"/>
            <a:ext cx="4665856" cy="462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1853CB-1975-5D8A-869B-EF1FF6144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894" y="3855209"/>
            <a:ext cx="2632365" cy="2712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975C1B-BF7B-10FF-425F-2B20A65035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8235" y="3915296"/>
            <a:ext cx="2821935" cy="2712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1E0A8F-76AE-6E87-3BAD-9930C9BF32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121" y="3937828"/>
            <a:ext cx="2821936" cy="27123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B8B129-7D4D-8171-E04C-E49EFC3A62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70" y="3937828"/>
            <a:ext cx="2126673" cy="255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15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404D-354D-28B0-0CC4-CD62A7CA2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Language Tone/Formality Activity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DC424-CD50-5682-CB35-77FC21F1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dirty="0"/>
              <a:t>Rewrite each message to make it more professional and appropriate</a:t>
            </a:r>
          </a:p>
          <a:p>
            <a:pPr marL="628650" indent="-514350">
              <a:buFont typeface="+mj-lt"/>
              <a:buAutoNum type="arabicPeriod"/>
            </a:pPr>
            <a:endParaRPr lang="en-US" dirty="0"/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Fix this!</a:t>
            </a:r>
          </a:p>
          <a:p>
            <a:pPr marL="628650" indent="-514350">
              <a:buFont typeface="+mj-lt"/>
              <a:buAutoNum type="arabicPeriod"/>
            </a:pPr>
            <a:endParaRPr lang="en-US" dirty="0"/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The app is broken.</a:t>
            </a:r>
          </a:p>
          <a:p>
            <a:pPr marL="628650" indent="-514350">
              <a:buFont typeface="+mj-lt"/>
              <a:buAutoNum type="arabicPeriod"/>
            </a:pPr>
            <a:endParaRPr lang="en-US" dirty="0"/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Send me the report!</a:t>
            </a:r>
          </a:p>
          <a:p>
            <a:pPr marL="628650" indent="-514350">
              <a:buFont typeface="+mj-lt"/>
              <a:buAutoNum type="arabicPeriod"/>
            </a:pPr>
            <a:endParaRPr lang="en-US" dirty="0"/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You made a mistake.</a:t>
            </a:r>
          </a:p>
          <a:p>
            <a:pPr marL="628650" indent="-514350">
              <a:buFont typeface="+mj-lt"/>
              <a:buAutoNum type="arabicPeriod"/>
            </a:pPr>
            <a:endParaRPr lang="en-US" dirty="0"/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Your password is wrong.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32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98274-D123-B6AC-AEBB-CE3E9714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A989-CC63-AC73-4EFE-369A1950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Language Tone/ Formality- Possible Answers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F4353-977D-9F3F-159D-124FC2E2D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Rewrite each message to make it more professional and appropriate</a:t>
            </a:r>
          </a:p>
          <a:p>
            <a:pPr marL="114300" indent="0">
              <a:buNone/>
            </a:pPr>
            <a:endParaRPr lang="en-US" dirty="0"/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Could you please investigate and resolve this issue as soon as possible?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We are currently experiencing a technical issue with the mobile application.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Could you please send me the project report by the end of today?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I noticed a possible error in the document. </a:t>
            </a:r>
          </a:p>
          <a:p>
            <a:pPr marL="628650" indent="-514350">
              <a:buFont typeface="+mj-lt"/>
              <a:buAutoNum type="arabicPeriod"/>
            </a:pPr>
            <a:r>
              <a:rPr lang="en-US" dirty="0"/>
              <a:t>The password you entered is incorrect.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296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D57B-17CE-68D5-763B-942AD3B4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5"/>
                </a:solidFill>
              </a:rPr>
              <a:t>Audience Analysis</a:t>
            </a:r>
            <a:endParaRPr lang="en-US" dirty="0"/>
          </a:p>
        </p:txBody>
      </p:sp>
      <p:sp>
        <p:nvSpPr>
          <p:cNvPr id="151" name="Google Shape;151;p47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427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3000" dirty="0"/>
          </a:p>
          <a:p>
            <a:pPr marL="114300" indent="0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r>
              <a:rPr lang="en-US" sz="3000" dirty="0">
                <a:solidFill>
                  <a:srgbClr val="FF0000"/>
                </a:solidFill>
              </a:rPr>
              <a:t>Week 2 Worksheet Internal vs External Communication PART C</a:t>
            </a:r>
          </a:p>
          <a:p>
            <a:pPr marL="114300" indent="0">
              <a:buNone/>
            </a:pPr>
            <a:endParaRPr lang="en-US" sz="30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6D03B-0BA1-F291-0D81-885E1B0108A8}"/>
              </a:ext>
            </a:extLst>
          </p:cNvPr>
          <p:cNvSpPr txBox="1"/>
          <p:nvPr/>
        </p:nvSpPr>
        <p:spPr>
          <a:xfrm>
            <a:off x="5898573" y="2130137"/>
            <a:ext cx="51331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audiences require different: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Vocabulary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Tone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 of detail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38B24-F6ED-9573-D7A1-993FE21DA32A}"/>
              </a:ext>
            </a:extLst>
          </p:cNvPr>
          <p:cNvSpPr txBox="1"/>
          <p:nvPr/>
        </p:nvSpPr>
        <p:spPr>
          <a:xfrm>
            <a:off x="675409" y="2130137"/>
            <a:ext cx="506037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business communicators plan before they write.</a:t>
            </a:r>
          </a:p>
          <a:p>
            <a:pPr marL="11430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yourself: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will read this message?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they already know?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they need to know?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action do I want them to take?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information should I leave out?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audiences require different messages.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7811B9-4BA9-6D7E-6A7C-DB7650285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244" y="3235688"/>
            <a:ext cx="2126673" cy="199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52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sz="4400" b="1">
              <a:solidFill>
                <a:schemeClr val="accent5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endParaRPr sz="4400" b="1">
              <a:solidFill>
                <a:schemeClr val="accent5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</a:pPr>
            <a:r>
              <a:rPr lang="en-US" sz="4400" b="1">
                <a:solidFill>
                  <a:schemeClr val="accent5"/>
                </a:solidFill>
              </a:rPr>
              <a:t>BREAK TIME</a:t>
            </a:r>
            <a:endParaRPr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accent5"/>
                </a:solidFill>
              </a:rPr>
              <a:t>A Structured Business Message</a:t>
            </a:r>
            <a:endParaRPr dirty="0"/>
          </a:p>
        </p:txBody>
      </p:sp>
      <p:sp>
        <p:nvSpPr>
          <p:cNvPr id="112" name="Google Shape;112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3174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 b="1" dirty="0"/>
              <a:t>Always plan your message before you produce it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lang="en-US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 dirty="0"/>
              <a:t>Define your targeted audience, purpose, and aspects of communicative principles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lang="en-US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lang="en-US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lang="en-US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chemeClr val="accent5"/>
                </a:solidFill>
              </a:rPr>
              <a:t>Put it together: Apply today’s concepts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197" name="Google Shape;197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Audience → Purpose → Information → Tone → Organization → Write</a:t>
            </a: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</a:rPr>
              <a:t>Week 2 Worksheet Internal vs External Communication PART D, E, F, and G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>Using Parts D , E, F, G of your worksheet:</a:t>
            </a:r>
          </a:p>
          <a:p>
            <a:r>
              <a:rPr lang="en-US" sz="2400" dirty="0"/>
              <a:t>Evaluate two business messages. </a:t>
            </a:r>
          </a:p>
          <a:p>
            <a:r>
              <a:rPr lang="en-US" sz="2400" dirty="0"/>
              <a:t>Plan an appropriate message for a company manager. </a:t>
            </a:r>
          </a:p>
          <a:p>
            <a:r>
              <a:rPr lang="en-US" sz="2400" dirty="0"/>
              <a:t>Plan an appropriate message for software developers. </a:t>
            </a:r>
          </a:p>
          <a:p>
            <a:r>
              <a:rPr lang="en-US" sz="2400" dirty="0"/>
              <a:t>Write out one of your planned messages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9D8FC7-A19B-5007-FD26-E52B1DC3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364" y="4183227"/>
            <a:ext cx="2126673" cy="19937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>
                <a:solidFill>
                  <a:schemeClr val="accent5"/>
                </a:solidFill>
              </a:rPr>
              <a:t>NOTICE:  Quiz 1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03" name="Google Shape;203;p55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119862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MyCourses Quiz 1: Business Communication Fundamentals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General Business Communication Theory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Fundamental Business Vocabulary/Phrasing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Quiz Conditions: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Quiz 1 will close at 23:59, Sunday 16 August 2026</a:t>
            </a:r>
            <a:endParaRPr lang="en-US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Only one attempt allowed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One hour (60 minutes) time limit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Be sure to review lesson 1 and 2 notes and resources before your attempt</a:t>
            </a:r>
            <a:endParaRPr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114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GOOD LUCK!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>
            <a:spLocks noGrp="1"/>
          </p:cNvSpPr>
          <p:nvPr>
            <p:ph type="title"/>
          </p:nvPr>
        </p:nvSpPr>
        <p:spPr>
          <a:xfrm>
            <a:off x="808722" y="2153266"/>
            <a:ext cx="10519678" cy="4109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accent5"/>
              </a:buClr>
              <a:buSzPct val="100000"/>
            </a:pPr>
            <a:r>
              <a:rPr lang="en-US" sz="28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Congratulations </a:t>
            </a:r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on surviving another class</a:t>
            </a:r>
            <a:br>
              <a:rPr lang="en-US" sz="28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8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THANK YOU </a:t>
            </a:r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for your participation today</a:t>
            </a:r>
            <a:br>
              <a:rPr lang="en-US" sz="3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Have a great week everyone!</a:t>
            </a:r>
            <a:br>
              <a:rPr lang="en-US" sz="2400" b="1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See you next week</a:t>
            </a:r>
            <a:br>
              <a:rPr lang="en-US" sz="24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Until then, Take Care &amp; Stay Safe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808722" y="40834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Finally….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4574</TotalTime>
  <Words>1536</Words>
  <Application>Microsoft Office PowerPoint</Application>
  <PresentationFormat>Widescreen</PresentationFormat>
  <Paragraphs>252</Paragraphs>
  <Slides>17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ITLG311 - Business Communication</vt:lpstr>
      <vt:lpstr>Last Week:</vt:lpstr>
      <vt:lpstr>This Week:</vt:lpstr>
      <vt:lpstr>Resources:</vt:lpstr>
      <vt:lpstr>The Audience</vt:lpstr>
      <vt:lpstr>Internal Audiences</vt:lpstr>
      <vt:lpstr>External Audiences:</vt:lpstr>
      <vt:lpstr>Audience: Target Language: Tone/Formality</vt:lpstr>
      <vt:lpstr>Audience: Target Language: Tone/Formality Exercises</vt:lpstr>
      <vt:lpstr>Language Tone/Formality Activity </vt:lpstr>
      <vt:lpstr>Language Tone/ Formality- Possible Answers </vt:lpstr>
      <vt:lpstr>Audience Analysis</vt:lpstr>
      <vt:lpstr>PowerPoint Presentation</vt:lpstr>
      <vt:lpstr>A Structured Business Message</vt:lpstr>
      <vt:lpstr>Put it together: Apply today’s concepts</vt:lpstr>
      <vt:lpstr>NOTICE:  Quiz 1</vt:lpstr>
      <vt:lpstr>Congratulations on surviving another class  THANK YOU for your participation today   Have a great week everyone!  See you next week Until then, Take Care &amp; Stay Safe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MUICT</dc:creator>
  <cp:lastModifiedBy>martin willemse</cp:lastModifiedBy>
  <cp:revision>10</cp:revision>
  <dcterms:created xsi:type="dcterms:W3CDTF">2018-08-21T03:27:20Z</dcterms:created>
  <dcterms:modified xsi:type="dcterms:W3CDTF">2026-07-30T04:03:04Z</dcterms:modified>
</cp:coreProperties>
</file>