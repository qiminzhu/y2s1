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80" r:id="rId2"/>
    <p:sldId id="311" r:id="rId3"/>
    <p:sldId id="281" r:id="rId4"/>
    <p:sldId id="314" r:id="rId5"/>
    <p:sldId id="259" r:id="rId6"/>
    <p:sldId id="354" r:id="rId7"/>
    <p:sldId id="315" r:id="rId8"/>
    <p:sldId id="355" r:id="rId9"/>
    <p:sldId id="357" r:id="rId10"/>
    <p:sldId id="320" r:id="rId11"/>
    <p:sldId id="362" r:id="rId12"/>
    <p:sldId id="338" r:id="rId13"/>
    <p:sldId id="379" r:id="rId14"/>
    <p:sldId id="374" r:id="rId15"/>
    <p:sldId id="367" r:id="rId16"/>
    <p:sldId id="271" r:id="rId17"/>
    <p:sldId id="363" r:id="rId18"/>
    <p:sldId id="376" r:id="rId19"/>
    <p:sldId id="375" r:id="rId20"/>
    <p:sldId id="369" r:id="rId21"/>
    <p:sldId id="352" r:id="rId22"/>
    <p:sldId id="370" r:id="rId23"/>
    <p:sldId id="371" r:id="rId24"/>
    <p:sldId id="372" r:id="rId25"/>
    <p:sldId id="373" r:id="rId26"/>
    <p:sldId id="368" r:id="rId27"/>
    <p:sldId id="353" r:id="rId28"/>
    <p:sldId id="377" r:id="rId29"/>
    <p:sldId id="279" r:id="rId30"/>
  </p:sldIdLst>
  <p:sldSz cx="12192000" cy="6858000"/>
  <p:notesSz cx="9926638" cy="67976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jSCHeoZCtWExpjhyH3NR7XLlC4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4" autoAdjust="0"/>
    <p:restoredTop sz="75294" autoAdjust="0"/>
  </p:normalViewPr>
  <p:slideViewPr>
    <p:cSldViewPr snapToGrid="0">
      <p:cViewPr varScale="1">
        <p:scale>
          <a:sx n="62" d="100"/>
          <a:sy n="62" d="100"/>
        </p:scale>
        <p:origin x="12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3A146-6FA8-48C2-A089-25330CE1955B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722C4-B9AA-4E68-BBCA-D16A44F4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08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54750" y="509825"/>
            <a:ext cx="6618075" cy="2549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9400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72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</p:spPr>
        <p:txBody>
          <a:bodyPr spcFirstLastPara="1" wrap="square" lIns="91875" tIns="45925" rIns="91875" bIns="45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1447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E0735FCC-600B-8A9E-867A-167C3083A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>
            <a:extLst>
              <a:ext uri="{FF2B5EF4-FFF2-40B4-BE49-F238E27FC236}">
                <a16:creationId xmlns:a16="http://schemas.microsoft.com/office/drawing/2014/main" id="{E4AA2D53-E1C4-99C9-97E8-980DB9647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</p:spPr>
        <p:txBody>
          <a:bodyPr spcFirstLastPara="1" wrap="square" lIns="91875" tIns="45925" rIns="91875" bIns="45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19:notes">
            <a:extLst>
              <a:ext uri="{FF2B5EF4-FFF2-40B4-BE49-F238E27FC236}">
                <a16:creationId xmlns:a16="http://schemas.microsoft.com/office/drawing/2014/main" id="{379D8927-CAEB-201F-EAD7-C8E80AC018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3715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88E64BB0-5B60-EA75-0291-C8E8A208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>
            <a:extLst>
              <a:ext uri="{FF2B5EF4-FFF2-40B4-BE49-F238E27FC236}">
                <a16:creationId xmlns:a16="http://schemas.microsoft.com/office/drawing/2014/main" id="{C1AC63C5-F6C4-CA72-2A91-5B8F87392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1" y="4787125"/>
            <a:ext cx="5486400" cy="3916740"/>
          </a:xfrm>
          <a:prstGeom prst="rect">
            <a:avLst/>
          </a:prstGeom>
        </p:spPr>
        <p:txBody>
          <a:bodyPr spcFirstLastPara="1" wrap="square" lIns="91875" tIns="45925" rIns="91875" bIns="45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19:notes">
            <a:extLst>
              <a:ext uri="{FF2B5EF4-FFF2-40B4-BE49-F238E27FC236}">
                <a16:creationId xmlns:a16="http://schemas.microsoft.com/office/drawing/2014/main" id="{AA1F6FA4-98E7-E443-9353-3BDF77CBA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7707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398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D179B-7CCC-45B1-0752-63D05513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1CDA9-C974-6F1D-C90B-96DF503FA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01F15-4E2A-5847-188B-B30645E76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485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411C-02DD-8543-B88C-B5C179E1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4EAE6-B16C-CDA9-0E17-3DAD993E1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67066-9A65-C79C-F7B7-AA43365E7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21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CE42-3AAA-7071-FBC2-E1349DB6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E572-D965-8EFA-D587-4A968AE88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81CFA-BE28-409A-730B-88B9A0575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62477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2D8C-47CB-CF36-A81A-37EEED925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53A30-605F-F7CC-5E16-B09597A0E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E3630-93A0-5F0C-F264-A4A7E3F84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40515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6300-0902-A357-1257-0F9EDEC40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8AC4E-7F90-A1AC-2B80-C5EBF0864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69E7A-2C6D-F253-E363-ACFC4C02C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1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5521-769A-596B-E0A6-32D50A20C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F9F3A-DDDD-14B2-A8CE-8B8493894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04724-CE6C-F349-ACCE-42D344972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9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FD67-FE6D-15AF-36D4-5BA520F5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363F1-1F96-268A-E192-355B10602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D6E1F-3AB9-C766-86E0-6D3033894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079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2D53-48A3-56EE-7D46-6CE4665C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DBF38-F9C9-EC89-1086-9786A6FE7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E7B36-2DF6-6D84-656A-E604C2F11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288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B9622-B38E-C537-BD2E-95470867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0D13E-A6C7-5F76-3595-CA7901326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3700C-C019-89F6-7F2E-4111F91CC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987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B6EBC-F47C-1560-06B2-67452A50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F043D-35A4-CE7F-A9AB-B6CCEE85F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11837-09FE-0142-0B30-2AAE4BB1A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RARE Answer Structure:</a:t>
            </a:r>
            <a:endParaRPr lang="en-US" dirty="0"/>
          </a:p>
          <a:p>
            <a:r>
              <a:rPr lang="en-US" b="1" dirty="0"/>
              <a:t>Restate</a:t>
            </a:r>
            <a:r>
              <a:rPr lang="en-US" dirty="0"/>
              <a:t> the question</a:t>
            </a:r>
          </a:p>
          <a:p>
            <a:r>
              <a:rPr lang="en-US" b="1" dirty="0"/>
              <a:t>Answer</a:t>
            </a:r>
            <a:r>
              <a:rPr lang="en-US" dirty="0"/>
              <a:t> it clearly</a:t>
            </a:r>
          </a:p>
          <a:p>
            <a:r>
              <a:rPr lang="en-US" dirty="0"/>
              <a:t>Give a </a:t>
            </a:r>
            <a:r>
              <a:rPr lang="en-US" b="1" dirty="0"/>
              <a:t>Reason</a:t>
            </a:r>
            <a:endParaRPr lang="en-US" dirty="0"/>
          </a:p>
          <a:p>
            <a:r>
              <a:rPr lang="en-US" dirty="0"/>
              <a:t>Give an </a:t>
            </a:r>
            <a:r>
              <a:rPr lang="en-US" b="1" dirty="0"/>
              <a:t>Example</a:t>
            </a: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84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F053-F889-119D-ADCF-5FEE35EF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6BCDF-B1AB-DCC5-06CD-622C7FFCD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D7454-73CB-CE96-41A4-1C828C5F4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35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C78F-FBCA-772C-CDD3-7BC9D73E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7F6C3-5C94-18FA-4C36-0C983E91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BD8BC-F68C-C9BA-2A45-D7E59B2AD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20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5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203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7461-3A3C-71AD-4015-585A75FD3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86196-1A03-9480-2AA9-908F48F5D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1A2A4-AEDF-63B8-78A9-3D743C300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9608E-15E5-D202-EB4F-6B5269989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D3683-D150-49C8-49AE-243235A4E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218AF-F72F-63A4-5F9B-E04C0C3E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BFA2-9EE3-4FAC-87A2-91E50F8B9D9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6B635-9F0E-0044-0773-90D41A3A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05B65-7D17-E3AB-2154-108F1D5D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AB58-BE72-4428-8ECE-68AD1C6A7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1122364"/>
            <a:ext cx="12192000" cy="131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libri"/>
              <a:buNone/>
            </a:pPr>
            <a:r>
              <a:rPr lang="en-US" sz="6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ITLG311 - Business Communication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0" y="3353679"/>
            <a:ext cx="12192000" cy="249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/>
              <a:t>Faculty of ICT, </a:t>
            </a:r>
            <a:r>
              <a:rPr lang="en-US" sz="2800" b="1" dirty="0" err="1"/>
              <a:t>Mahidol</a:t>
            </a:r>
            <a:r>
              <a:rPr lang="en-US" sz="2800" b="1" dirty="0"/>
              <a:t> University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/>
              <a:t>Semester 1, 2026/2027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solidFill>
                  <a:schemeClr val="tx1"/>
                </a:solidFill>
              </a:rPr>
              <a:t>Week 7: Data Analysis and Business Briefing Preparation</a:t>
            </a:r>
            <a:endParaRPr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18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Previously: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197856" cy="4872887"/>
          </a:xfrm>
        </p:spPr>
        <p:txBody>
          <a:bodyPr>
            <a:normAutofit/>
          </a:bodyPr>
          <a:lstStyle/>
          <a:p>
            <a:pPr>
              <a:defRPr sz="2100"/>
            </a:pPr>
            <a:r>
              <a:rPr lang="en-US" sz="2400" dirty="0"/>
              <a:t>Consultation and the role of a consultant</a:t>
            </a:r>
          </a:p>
          <a:p>
            <a:pPr>
              <a:defRPr sz="2100"/>
            </a:pPr>
            <a:r>
              <a:rPr lang="en-US" sz="2400" dirty="0"/>
              <a:t>Business meetings and meeting management</a:t>
            </a:r>
          </a:p>
          <a:p>
            <a:pPr>
              <a:defRPr sz="2100"/>
            </a:pPr>
            <a:r>
              <a:rPr lang="en-US" sz="2400" dirty="0"/>
              <a:t>Agendas, meeting minutes, and action items</a:t>
            </a:r>
          </a:p>
          <a:p>
            <a:pPr>
              <a:defRPr sz="2100"/>
            </a:pPr>
            <a:r>
              <a:rPr lang="en-US" sz="2400" dirty="0"/>
              <a:t>Professional teamwork</a:t>
            </a:r>
          </a:p>
          <a:p>
            <a:pPr>
              <a:defRPr sz="2100"/>
            </a:pPr>
            <a:r>
              <a:rPr lang="en-US" sz="2400" dirty="0"/>
              <a:t>Project Updates</a:t>
            </a:r>
          </a:p>
          <a:p>
            <a:pPr>
              <a:defRPr sz="2100"/>
            </a:pPr>
            <a:r>
              <a:rPr lang="en-US" sz="2400" dirty="0"/>
              <a:t>Collection of questionnaire responses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69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This Week: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800806" cy="5032376"/>
          </a:xfrm>
        </p:spPr>
        <p:txBody>
          <a:bodyPr>
            <a:noAutofit/>
          </a:bodyPr>
          <a:lstStyle/>
          <a:p>
            <a:pPr>
              <a:defRPr sz="2100"/>
            </a:pPr>
            <a:r>
              <a:rPr lang="en-US" sz="2400" dirty="0"/>
              <a:t>Organize and analyze questionnaire responses</a:t>
            </a:r>
          </a:p>
          <a:p>
            <a:pPr>
              <a:defRPr sz="2100"/>
            </a:pPr>
            <a:r>
              <a:rPr lang="en-US" sz="2400" dirty="0"/>
              <a:t>Identify patterns and important results</a:t>
            </a:r>
          </a:p>
          <a:p>
            <a:pPr>
              <a:defRPr sz="2100"/>
            </a:pPr>
            <a:r>
              <a:rPr lang="en-US" sz="2400" dirty="0"/>
              <a:t>Select 3 key findings for management</a:t>
            </a:r>
          </a:p>
          <a:p>
            <a:pPr>
              <a:defRPr sz="2100"/>
            </a:pPr>
            <a:r>
              <a:rPr lang="en-US" sz="2400" dirty="0"/>
              <a:t>Explain findings using evidence</a:t>
            </a:r>
          </a:p>
          <a:p>
            <a:pPr>
              <a:defRPr sz="2100"/>
            </a:pPr>
            <a:r>
              <a:rPr lang="en-US" sz="2400" dirty="0"/>
              <a:t>Interpret what the findings suggest about the problem</a:t>
            </a:r>
          </a:p>
          <a:p>
            <a:pPr>
              <a:defRPr sz="2100"/>
            </a:pPr>
            <a:r>
              <a:rPr lang="en-US" sz="2400" dirty="0"/>
              <a:t>Prepare and organize the Business Information Briefing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87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Resources</a:t>
            </a:r>
            <a:endParaRPr lang="en-GB" b="1" dirty="0">
              <a:solidFill>
                <a:schemeClr val="accent5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698" y="1825625"/>
            <a:ext cx="11331146" cy="4667250"/>
          </a:xfrm>
        </p:spPr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buNone/>
            </a:pP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5CBD11-BAA0-2B4F-5345-A0B7467B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551" y="2934730"/>
            <a:ext cx="6660292" cy="3317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F033C9-0D2C-F956-598A-49C70DFEA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98" y="1825625"/>
            <a:ext cx="4831492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8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Project Status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  <a:defRPr sz="2100"/>
            </a:pPr>
            <a:r>
              <a:rPr b="1" dirty="0"/>
              <a:t>Week 6: </a:t>
            </a:r>
            <a:r>
              <a:rPr dirty="0"/>
              <a:t>Management brief → team meeting → questionnaire → CEO update</a:t>
            </a:r>
            <a:endParaRPr lang="en-US" dirty="0"/>
          </a:p>
          <a:p>
            <a:pPr marL="114300" indent="0">
              <a:buNone/>
              <a:defRPr sz="2100"/>
            </a:pPr>
            <a:endParaRPr dirty="0"/>
          </a:p>
          <a:p>
            <a:pPr marL="114300" indent="0">
              <a:buNone/>
              <a:defRPr sz="2100"/>
            </a:pPr>
            <a:r>
              <a:rPr b="1" dirty="0"/>
              <a:t>Week 7</a:t>
            </a:r>
            <a:r>
              <a:rPr dirty="0"/>
              <a:t>: Analyze responses → identify findings → request briefing → prepare briefing</a:t>
            </a:r>
          </a:p>
          <a:p>
            <a:pPr marL="114300" indent="0">
              <a:buNone/>
              <a:defRPr sz="2100"/>
            </a:pPr>
            <a:endParaRPr lang="en-US" dirty="0"/>
          </a:p>
          <a:p>
            <a:pPr marL="114300" indent="0">
              <a:buNone/>
              <a:defRPr sz="2100"/>
            </a:pPr>
            <a:r>
              <a:rPr b="1" dirty="0"/>
              <a:t>Week 8: </a:t>
            </a:r>
            <a:r>
              <a:rPr dirty="0"/>
              <a:t>Present findings to management</a:t>
            </a:r>
            <a:r>
              <a:rPr lang="en-US" dirty="0"/>
              <a:t> through a Business Information briefing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From Responses to a Business Briefing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114300" indent="0">
              <a:buNone/>
              <a:defRPr sz="2100"/>
            </a:pPr>
            <a:r>
              <a:rPr sz="1600" dirty="0"/>
              <a:t>RAW RESPONSES</a:t>
            </a:r>
          </a:p>
          <a:p>
            <a:pPr marL="114300" indent="0">
              <a:buNone/>
              <a:defRPr sz="2100"/>
            </a:pPr>
            <a:r>
              <a:rPr sz="1600" dirty="0"/>
              <a:t>↓</a:t>
            </a:r>
          </a:p>
          <a:p>
            <a:pPr marL="114300" indent="0">
              <a:buNone/>
              <a:defRPr sz="2100"/>
            </a:pPr>
            <a:r>
              <a:rPr sz="1600" dirty="0"/>
              <a:t>ORGANIZE → group and count responses</a:t>
            </a:r>
          </a:p>
          <a:p>
            <a:pPr marL="114300" indent="0">
              <a:buNone/>
              <a:defRPr sz="2100"/>
            </a:pPr>
            <a:r>
              <a:rPr sz="1600" dirty="0"/>
              <a:t>↓</a:t>
            </a:r>
          </a:p>
          <a:p>
            <a:pPr marL="114300" indent="0">
              <a:buNone/>
              <a:defRPr sz="2100"/>
            </a:pPr>
            <a:r>
              <a:rPr sz="1600" dirty="0"/>
              <a:t>RESULTS → numbers, percentages, patterns</a:t>
            </a:r>
          </a:p>
          <a:p>
            <a:pPr marL="114300" indent="0">
              <a:buNone/>
              <a:defRPr sz="2100"/>
            </a:pPr>
            <a:r>
              <a:rPr sz="1600" dirty="0"/>
              <a:t>↓</a:t>
            </a:r>
          </a:p>
          <a:p>
            <a:pPr marL="114300" indent="0">
              <a:buNone/>
              <a:defRPr sz="2100"/>
            </a:pPr>
            <a:r>
              <a:rPr lang="en-US" sz="1600" dirty="0"/>
              <a:t>PATTERNS AND KEY FINDINGS</a:t>
            </a:r>
          </a:p>
          <a:p>
            <a:pPr marL="114300" indent="0">
              <a:buNone/>
              <a:defRPr sz="2100"/>
            </a:pPr>
            <a:r>
              <a:rPr lang="en-US" sz="1600" dirty="0"/>
              <a:t>↓</a:t>
            </a:r>
          </a:p>
          <a:p>
            <a:pPr marL="114300" indent="0">
              <a:buNone/>
              <a:defRPr sz="2100"/>
            </a:pPr>
            <a:r>
              <a:rPr lang="en-US" sz="1600" dirty="0"/>
              <a:t>EVIDENCE</a:t>
            </a:r>
          </a:p>
          <a:p>
            <a:pPr marL="114300" indent="0">
              <a:buNone/>
              <a:defRPr sz="2100"/>
            </a:pPr>
            <a:r>
              <a:rPr lang="en-US" sz="1600" dirty="0"/>
              <a:t>↓</a:t>
            </a:r>
          </a:p>
          <a:p>
            <a:pPr marL="114300" indent="0">
              <a:buNone/>
              <a:defRPr sz="2100"/>
            </a:pPr>
            <a:r>
              <a:rPr lang="en-US" sz="1600" dirty="0"/>
              <a:t>INTERPRETATION</a:t>
            </a:r>
          </a:p>
          <a:p>
            <a:pPr marL="114300" indent="0">
              <a:buNone/>
              <a:defRPr sz="2100"/>
            </a:pPr>
            <a:r>
              <a:rPr lang="en-US" sz="1600" dirty="0"/>
              <a:t>↓</a:t>
            </a:r>
          </a:p>
          <a:p>
            <a:pPr marL="114300" indent="0">
              <a:buNone/>
              <a:defRPr sz="2100"/>
            </a:pPr>
            <a:r>
              <a:rPr lang="en-US" sz="1600" dirty="0"/>
              <a:t>BUSINESS INFORMATION BRIEFING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400"/>
            </a:pPr>
            <a:r>
              <a:rPr lang="en-US" b="1" dirty="0">
                <a:solidFill>
                  <a:schemeClr val="accent5"/>
                </a:solidFill>
              </a:rPr>
              <a:t>1. Organize the Responses </a:t>
            </a:r>
            <a:endParaRPr dirty="0"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69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defRPr sz="2100"/>
            </a:pPr>
            <a:r>
              <a:rPr lang="en-US" sz="2400" dirty="0"/>
              <a:t>Group similar responses into categories</a:t>
            </a:r>
          </a:p>
          <a:p>
            <a:pPr>
              <a:defRPr sz="2100"/>
            </a:pPr>
            <a:r>
              <a:rPr lang="en-US" sz="2400" dirty="0"/>
              <a:t>Count the number of responses in each category</a:t>
            </a:r>
          </a:p>
          <a:p>
            <a:pPr>
              <a:defRPr sz="2100"/>
            </a:pPr>
            <a:r>
              <a:rPr lang="en-US" sz="2400" dirty="0"/>
              <a:t>Calculate percentages when useful</a:t>
            </a:r>
          </a:p>
          <a:p>
            <a:pPr>
              <a:defRPr sz="2100"/>
            </a:pPr>
            <a:r>
              <a:rPr lang="en-US" sz="2400" dirty="0"/>
              <a:t>Use a table, chart, or figure when it makes the result clearer</a:t>
            </a:r>
          </a:p>
          <a:p>
            <a:pPr>
              <a:defRPr sz="2100"/>
            </a:pPr>
            <a:r>
              <a:rPr lang="en-US" sz="2400" dirty="0"/>
              <a:t>Check that your totals and percentages are accurate</a:t>
            </a:r>
          </a:p>
          <a:p>
            <a:pPr marL="22860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328407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4A6F243E-C052-7FD6-6AD8-F9A08C6D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E966EA5B-E503-029E-C82E-498575968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400"/>
            </a:pPr>
            <a:r>
              <a:rPr lang="en-US" b="1" dirty="0">
                <a:solidFill>
                  <a:schemeClr val="accent5"/>
                </a:solidFill>
              </a:rPr>
              <a:t>1.1 From Categories to Results</a:t>
            </a:r>
            <a:endParaRPr dirty="0"/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7E6854F1-2CA3-E551-D3A1-93E1633AD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69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114300" indent="0">
              <a:buNone/>
            </a:pPr>
            <a:r>
              <a:rPr lang="en-US" sz="2400" b="1" dirty="0"/>
              <a:t>Example Problem: What problems do customers experience when ordering food through</a:t>
            </a:r>
          </a:p>
          <a:p>
            <a:pPr marL="114300" indent="0">
              <a:buNone/>
            </a:pPr>
            <a:r>
              <a:rPr lang="en-US" sz="2400" b="1" dirty="0"/>
              <a:t>delivery apps?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US" sz="2400" b="1" dirty="0"/>
              <a:t>20 customers responded to the questionnaire seeking the reason for this issue  and responses</a:t>
            </a:r>
          </a:p>
          <a:p>
            <a:pPr marL="114300" indent="0">
              <a:buNone/>
            </a:pPr>
            <a:r>
              <a:rPr lang="en-US" sz="2400" b="1" dirty="0"/>
              <a:t>were grouped and counted as followed:</a:t>
            </a:r>
            <a:endParaRPr lang="en-US" sz="2400" dirty="0"/>
          </a:p>
          <a:p>
            <a:pPr lvl="0"/>
            <a:r>
              <a:rPr lang="en-US" sz="2400" b="1" dirty="0"/>
              <a:t>Delivery-time problems:</a:t>
            </a:r>
            <a:r>
              <a:rPr lang="en-US" sz="2400" dirty="0"/>
              <a:t> 8 customers (40%) </a:t>
            </a:r>
          </a:p>
          <a:p>
            <a:pPr lvl="0"/>
            <a:r>
              <a:rPr lang="en-US" sz="2400" b="1" dirty="0"/>
              <a:t>Order accuracy problems:</a:t>
            </a:r>
            <a:r>
              <a:rPr lang="en-US" sz="2400" dirty="0"/>
              <a:t> 7 customers (35%) </a:t>
            </a:r>
          </a:p>
          <a:p>
            <a:pPr lvl="0"/>
            <a:r>
              <a:rPr lang="en-US" sz="2400" b="1" dirty="0"/>
              <a:t>Unavailable-item problems:</a:t>
            </a:r>
            <a:r>
              <a:rPr lang="en-US" sz="2400" dirty="0"/>
              <a:t> 3 customers (15%) </a:t>
            </a:r>
          </a:p>
          <a:p>
            <a:pPr lvl="0"/>
            <a:r>
              <a:rPr lang="en-US" sz="2400" b="1" dirty="0"/>
              <a:t>Other problems:</a:t>
            </a:r>
            <a:r>
              <a:rPr lang="en-US" sz="2400" dirty="0"/>
              <a:t> 2 customers (10%) 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US" sz="2400" b="1" dirty="0"/>
              <a:t>Do not just give the number. Help management see the results clearly:</a:t>
            </a:r>
          </a:p>
          <a:p>
            <a:pPr marL="114300" indent="0">
              <a:buNone/>
            </a:pPr>
            <a:r>
              <a:rPr lang="en-US" sz="2400" b="1" dirty="0"/>
              <a:t>Weak: </a:t>
            </a:r>
            <a:r>
              <a:rPr lang="en-US" sz="2400" dirty="0"/>
              <a:t>40% said this. 35% said this. 15% said this. 10% said this.</a:t>
            </a:r>
          </a:p>
          <a:p>
            <a:pPr marL="114300" indent="0">
              <a:buNone/>
            </a:pPr>
            <a:r>
              <a:rPr lang="en-US" sz="2400" b="1" dirty="0"/>
              <a:t>Better: </a:t>
            </a:r>
            <a:r>
              <a:rPr lang="en-US" sz="2400" dirty="0"/>
              <a:t>Delivery-time problems were the most common issue, reported by 40% of respondents,</a:t>
            </a:r>
          </a:p>
          <a:p>
            <a:pPr marL="114300" indent="0">
              <a:buNone/>
            </a:pPr>
            <a:r>
              <a:rPr lang="en-US" sz="2400" dirty="0"/>
              <a:t>followed by order accuracy problems at 35%.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15797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B48E7C74-12BF-ECB0-06E4-AC167878C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7799DCA3-122B-5A45-9A49-DB5178948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400"/>
            </a:pPr>
            <a:r>
              <a:rPr lang="en-US" b="1" dirty="0">
                <a:solidFill>
                  <a:schemeClr val="accent5"/>
                </a:solidFill>
              </a:rPr>
              <a:t>2  Presenting Results Clearly </a:t>
            </a:r>
            <a:endParaRPr dirty="0"/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3E914E87-EFF3-EF5F-36BE-9FC587578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796930"/>
            <a:ext cx="10515600" cy="506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/>
              <a:t>When you collect questionnaire responses, you will usually have a number of people choosing</a:t>
            </a:r>
          </a:p>
          <a:p>
            <a:pPr marL="114300" indent="0">
              <a:buNone/>
            </a:pPr>
            <a:r>
              <a:rPr lang="en-US" sz="2000" dirty="0"/>
              <a:t>      each answer. Percentages help you show these results.</a:t>
            </a:r>
          </a:p>
          <a:p>
            <a:r>
              <a:rPr lang="en-US" sz="2000" dirty="0"/>
              <a:t>When presenting questionnaire results, you do not always need to give the exact</a:t>
            </a:r>
          </a:p>
          <a:p>
            <a:pPr marL="114300" indent="0">
              <a:buNone/>
            </a:pPr>
            <a:r>
              <a:rPr lang="en-US" sz="2000" dirty="0"/>
              <a:t>      percentage. Choose language that clearly shows the size of the result.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A4E74E-0A37-722B-D716-8EC81154D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953039"/>
              </p:ext>
            </p:extLst>
          </p:nvPr>
        </p:nvGraphicFramePr>
        <p:xfrm>
          <a:off x="1099750" y="3429000"/>
          <a:ext cx="9922476" cy="2872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7492">
                  <a:extLst>
                    <a:ext uri="{9D8B030D-6E8A-4147-A177-3AD203B41FA5}">
                      <a16:colId xmlns:a16="http://schemas.microsoft.com/office/drawing/2014/main" val="859923121"/>
                    </a:ext>
                  </a:extLst>
                </a:gridCol>
                <a:gridCol w="3307492">
                  <a:extLst>
                    <a:ext uri="{9D8B030D-6E8A-4147-A177-3AD203B41FA5}">
                      <a16:colId xmlns:a16="http://schemas.microsoft.com/office/drawing/2014/main" val="472018774"/>
                    </a:ext>
                  </a:extLst>
                </a:gridCol>
                <a:gridCol w="3307492">
                  <a:extLst>
                    <a:ext uri="{9D8B030D-6E8A-4147-A177-3AD203B41FA5}">
                      <a16:colId xmlns:a16="http://schemas.microsoft.com/office/drawing/2014/main" val="2716218638"/>
                    </a:ext>
                  </a:extLst>
                </a:gridCol>
              </a:tblGrid>
              <a:tr h="31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233347"/>
                  </a:ext>
                </a:extLst>
              </a:tr>
              <a:tr h="31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nearly half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close to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47% → Nearly half of respondents…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595973"/>
                  </a:ext>
                </a:extLst>
              </a:tr>
              <a:tr h="31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half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around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51% → About half of respondents…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482273"/>
                  </a:ext>
                </a:extLst>
              </a:tr>
              <a:tr h="53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about one-third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around 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34% → About one-third of respondents…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882065"/>
                  </a:ext>
                </a:extLst>
              </a:tr>
              <a:tr h="53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small minority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small number of respondents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10% → A small minority of respondents…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831077"/>
                  </a:ext>
                </a:extLst>
              </a:tr>
              <a:tr h="318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majority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more than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65% → The majority of respondents…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567602"/>
                  </a:ext>
                </a:extLst>
              </a:tr>
              <a:tr h="53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less than half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below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40% → Less than half of respondents…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025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301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3. Identify Key Findings and Patterns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760242" cy="483184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/>
              <a:t>Once you have organized the results, look across the data to identify patterns and results that are important to your audience.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/>
              <a:t>Focus on results that help you understand the problem.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b="1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/>
              <a:t>Look for: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the most common response: </a:t>
            </a:r>
            <a:r>
              <a:rPr lang="en-US" sz="2400" dirty="0"/>
              <a:t>What did the largest number of respondents report? 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the least common response: </a:t>
            </a:r>
            <a:r>
              <a:rPr lang="en-US" sz="2400" dirty="0"/>
              <a:t>What did the fewest respondents report? 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clear similarities</a:t>
            </a:r>
            <a:r>
              <a:rPr lang="en-US" sz="2400" dirty="0"/>
              <a:t>: Which results are similar in size or show a similar pattern? 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clear differences: </a:t>
            </a:r>
            <a:r>
              <a:rPr lang="en-US" sz="2400" dirty="0"/>
              <a:t>Which results are noticeably higher or lower than others? 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surprising or notable results: </a:t>
            </a:r>
            <a:r>
              <a:rPr lang="en-US" sz="2400" dirty="0"/>
              <a:t>is there anything unexpected or particularly interesting? 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results especially relevant to the management brief: </a:t>
            </a:r>
            <a:r>
              <a:rPr lang="en-US" sz="2400" dirty="0"/>
              <a:t>Which results directly help answer the problem management asked you to investigate?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b="1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/>
              <a:t>Look for patterns that help explain the problem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these can become your key findings.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4916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6FF5-7ADA-9475-2BC2-72C01342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3.1 Findings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3E796-06B6-4929-F4CC-83984D4E3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Result ≠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Finding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B2616-7DCA-98C5-6292-BF110FA351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600" b="1" dirty="0"/>
              <a:t>RESULT = </a:t>
            </a:r>
            <a:r>
              <a:rPr lang="en-US" sz="3600" dirty="0"/>
              <a:t>what the data shows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600" dirty="0"/>
              <a:t>10 out of 20 customers reported delivery delays.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6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600" b="1" dirty="0"/>
              <a:t>FINDING = </a:t>
            </a:r>
            <a:r>
              <a:rPr lang="en-US" sz="3600" dirty="0"/>
              <a:t>the important message from the result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600" dirty="0"/>
              <a:t>Delivery delays were the most common problem reported by customers.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600" dirty="0"/>
              <a:t>A finding tells management why the result matters.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D002F-540B-00A2-6E87-B4190DB92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From Result to Finding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77B29-5EDC-F47E-3BF1-95FE70EC3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784514"/>
          </a:xfrm>
        </p:spPr>
        <p:txBody>
          <a:bodyPr>
            <a:normAutofit fontScale="55000" lnSpcReduction="20000"/>
          </a:bodyPr>
          <a:lstStyle/>
          <a:p>
            <a:pPr marL="50800" indent="0">
              <a:buNone/>
            </a:pPr>
            <a:r>
              <a:rPr lang="en-US" sz="3600" b="1" dirty="0"/>
              <a:t>STEP 1</a:t>
            </a:r>
            <a:r>
              <a:rPr lang="en-US" sz="3600" dirty="0"/>
              <a:t>: Identify the data</a:t>
            </a:r>
          </a:p>
          <a:p>
            <a:r>
              <a:rPr lang="en-US" sz="3600" dirty="0"/>
              <a:t>What does the data show?</a:t>
            </a:r>
          </a:p>
          <a:p>
            <a:pPr marL="50800" indent="0">
              <a:buNone/>
            </a:pPr>
            <a:r>
              <a:rPr lang="en-US" sz="3600" b="1" dirty="0"/>
              <a:t>STEP 2</a:t>
            </a:r>
            <a:r>
              <a:rPr lang="en-US" sz="3600" dirty="0"/>
              <a:t>: Find the Pattern</a:t>
            </a:r>
          </a:p>
          <a:p>
            <a:r>
              <a:rPr lang="en-US" sz="3600" dirty="0"/>
              <a:t>What do you notice when you compare the results?</a:t>
            </a:r>
          </a:p>
          <a:p>
            <a:pPr marL="50800" indent="0">
              <a:buNone/>
            </a:pPr>
            <a:r>
              <a:rPr lang="en-US" sz="3600" b="1" dirty="0"/>
              <a:t>STEP 3</a:t>
            </a:r>
            <a:r>
              <a:rPr lang="en-US" sz="3600" dirty="0"/>
              <a:t>: Describe the pattern</a:t>
            </a:r>
          </a:p>
          <a:p>
            <a:r>
              <a:rPr lang="en-US" sz="3600" dirty="0"/>
              <a:t>What language can you use?</a:t>
            </a:r>
          </a:p>
          <a:p>
            <a:pPr marL="50800" indent="0">
              <a:buNone/>
            </a:pPr>
            <a:r>
              <a:rPr lang="en-US" sz="3600" b="1" dirty="0"/>
              <a:t>STEP 4: </a:t>
            </a:r>
            <a:r>
              <a:rPr lang="en-US" sz="3600" dirty="0"/>
              <a:t>Turn the pattern into a finding</a:t>
            </a:r>
          </a:p>
          <a:p>
            <a:r>
              <a:rPr lang="en-US" sz="3600" dirty="0"/>
              <a:t>What is the important message?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676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897D-D92D-618D-33DA-B18DC3045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70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4. Support Each Finding with Evidence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34FDC-9BD3-EEFE-41D4-22112BD4B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A finding should be supported by evidence from the questionnaire.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Useful evidence includes:</a:t>
            </a:r>
          </a:p>
          <a:p>
            <a:pPr marL="114300" indent="0">
              <a:buNone/>
            </a:pPr>
            <a:r>
              <a:rPr lang="en-US" dirty="0"/>
              <a:t>• numbers</a:t>
            </a:r>
          </a:p>
          <a:p>
            <a:pPr marL="114300" indent="0">
              <a:buNone/>
            </a:pPr>
            <a:r>
              <a:rPr lang="en-US" dirty="0"/>
              <a:t>• percentages</a:t>
            </a:r>
          </a:p>
          <a:p>
            <a:pPr marL="114300" indent="0">
              <a:buNone/>
            </a:pPr>
            <a:r>
              <a:rPr lang="en-US" dirty="0"/>
              <a:t>• relevant opinions or comments from respondents</a:t>
            </a:r>
          </a:p>
          <a:p>
            <a:pPr marL="114300" indent="0">
              <a:buNone/>
            </a:pPr>
            <a:r>
              <a:rPr lang="en-US" dirty="0"/>
              <a:t>• tables or charts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Choose evidence that clearly supports the finding.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2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20AC-7E2C-2A63-F964-99D9BF3E9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Useful Vocabulary When Reporting Results and Findings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AC196-134A-E877-7C4E-4BC0E424B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562818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B5CE4-85FF-6C87-D8F1-A26F1029A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611273" cy="3179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AEDAC7-B2AB-7AC5-65AB-D79392B43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29" y="5005351"/>
            <a:ext cx="1583931" cy="1346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6AC807-A97B-D3AD-F3BB-9DC6D81EF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182" y="5005351"/>
            <a:ext cx="1583931" cy="1346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526491-2A98-114A-168C-561E00AEF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178" y="5005351"/>
            <a:ext cx="1696589" cy="1346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6C4C87-63FF-6B4A-60F9-058E2EA88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708" y="5005351"/>
            <a:ext cx="1696589" cy="134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6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EA39-F752-758D-C742-BD28CC15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7E67E-309B-00C7-8523-9D60601A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Workshop: </a:t>
            </a:r>
            <a:br>
              <a:rPr lang="en-US" b="1" dirty="0">
                <a:solidFill>
                  <a:schemeClr val="accent5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Apply Data Analysis To Your Project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CD586-B530-2602-FF4A-3A392A46C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You have collected your questionnaire responses for your Business Information Briefing.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/>
              <a:t>In your group, perform the following tasks with your data:</a:t>
            </a:r>
          </a:p>
          <a:p>
            <a:pPr indent="-457200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Group similar responses. </a:t>
            </a:r>
          </a:p>
          <a:p>
            <a:pPr indent="-457200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Count how many respondents gave each type of response.</a:t>
            </a:r>
          </a:p>
          <a:p>
            <a:pPr indent="-457200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Calculate percentages. </a:t>
            </a:r>
          </a:p>
          <a:p>
            <a:pPr indent="-457200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Look for important patterns. </a:t>
            </a:r>
          </a:p>
          <a:p>
            <a:pPr indent="-457200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Identify possible findings. </a:t>
            </a:r>
          </a:p>
          <a:p>
            <a:pPr indent="-457200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Choose your 3 strongest findings. </a:t>
            </a:r>
          </a:p>
          <a:p>
            <a:pPr indent="-457200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Find supporting evidence for each finding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36A17-A11A-BEF6-AAC0-4550FD046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94" y="4663488"/>
            <a:ext cx="5906324" cy="523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8C5E85-5225-FD60-8BFC-C8D10DB66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936" y="2434280"/>
            <a:ext cx="2209800" cy="216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20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BA38-EA26-EB32-5E72-6E13299C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Choose Your 3 Main Findings For Briefing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C3051-676E-D5D1-50B1-572A5BEAB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your briefing, you should have 3 strong findings that are: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25655-0570-10C8-78BD-78C1995181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directly relevant to the management problem</a:t>
            </a:r>
          </a:p>
          <a:p>
            <a:r>
              <a:rPr lang="en-US" dirty="0"/>
              <a:t>important for management to know</a:t>
            </a:r>
          </a:p>
          <a:p>
            <a:r>
              <a:rPr lang="en-US" dirty="0"/>
              <a:t>clearly supported by your evidence</a:t>
            </a:r>
          </a:p>
          <a:p>
            <a:r>
              <a:rPr lang="en-US" dirty="0"/>
              <a:t>different enough to avoid repetition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1CCEC-A207-754D-C635-48235B7E7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Ask these questions for each possible finding: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1D26D-A3B8-C5CB-963D-8A53CBF777D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Is it directly related to the problem?</a:t>
            </a:r>
          </a:p>
          <a:p>
            <a:r>
              <a:rPr lang="en-US" dirty="0"/>
              <a:t>Is it important for management?</a:t>
            </a:r>
          </a:p>
          <a:p>
            <a:r>
              <a:rPr lang="en-US" dirty="0"/>
              <a:t>Do we have clear evidence?</a:t>
            </a:r>
          </a:p>
          <a:p>
            <a:r>
              <a:rPr lang="en-US" dirty="0"/>
              <a:t>Does it tell management something useful?</a:t>
            </a:r>
          </a:p>
          <a:p>
            <a:r>
              <a:rPr lang="en-US" dirty="0"/>
              <a:t>Is it different from our other findings?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3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sz="4400" b="1">
              <a:solidFill>
                <a:schemeClr val="accent5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sz="4400" b="1">
              <a:solidFill>
                <a:schemeClr val="accent5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</a:pPr>
            <a:r>
              <a:rPr lang="en-US" sz="4400" b="1">
                <a:solidFill>
                  <a:schemeClr val="accent5"/>
                </a:solidFill>
              </a:rPr>
              <a:t>BREAK TIME</a:t>
            </a:r>
            <a:endParaRPr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5EBFE-499F-FD8B-245B-25BA625C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892C-0A4B-FB63-EB99-591469A7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70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5. Interpretation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693A9-C59C-2B33-0896-09005F775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dirty="0"/>
              <a:t>Interpretation goes beyond repeating the result.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Ask yourself:</a:t>
            </a:r>
          </a:p>
          <a:p>
            <a:pPr marL="114300" indent="0">
              <a:buNone/>
            </a:pPr>
            <a:r>
              <a:rPr lang="en-US" dirty="0"/>
              <a:t>• What does the finding suggest about the problem?</a:t>
            </a:r>
          </a:p>
          <a:p>
            <a:pPr marL="114300" indent="0">
              <a:buNone/>
            </a:pPr>
            <a:r>
              <a:rPr lang="en-US" dirty="0"/>
              <a:t>• Why is this important for management to understand?</a:t>
            </a:r>
          </a:p>
          <a:p>
            <a:pPr marL="114300" indent="0">
              <a:buNone/>
            </a:pPr>
            <a:endParaRPr lang="en-US" b="1" dirty="0"/>
          </a:p>
          <a:p>
            <a:r>
              <a:rPr lang="en-US" b="1" dirty="0"/>
              <a:t>Result: </a:t>
            </a:r>
            <a:r>
              <a:rPr lang="en-US" dirty="0"/>
              <a:t>70% reported that their food order arrived late.</a:t>
            </a:r>
          </a:p>
          <a:p>
            <a:r>
              <a:rPr lang="en-US" b="1" dirty="0"/>
              <a:t>Finding: </a:t>
            </a:r>
            <a:r>
              <a:rPr lang="en-US" dirty="0"/>
              <a:t>Delivery delays were a major problem.</a:t>
            </a:r>
          </a:p>
          <a:p>
            <a:r>
              <a:rPr lang="en-US" b="1" dirty="0"/>
              <a:t>Interpretation: </a:t>
            </a:r>
            <a:r>
              <a:rPr lang="en-US" dirty="0"/>
              <a:t>This suggests that delivery reliability is an important issue for customers.</a:t>
            </a:r>
          </a:p>
          <a:p>
            <a:r>
              <a:rPr lang="en-US" b="1" dirty="0"/>
              <a:t>Possible effect: </a:t>
            </a:r>
            <a:r>
              <a:rPr lang="en-US" dirty="0"/>
              <a:t>This may affect customers' confidence in the service.</a:t>
            </a:r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395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382C-FD14-43B4-AE09-53693CF8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674D-19D0-9EA4-5D6F-451F7919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70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Workshop:</a:t>
            </a:r>
            <a:br>
              <a:rPr lang="en-US" b="1" dirty="0">
                <a:solidFill>
                  <a:schemeClr val="accent5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Apply Interpretation To Your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BB773-CDF8-A054-80A5-BE3457BFF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19263"/>
            <a:ext cx="10515600" cy="435133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Use your 3 findings and evidence. 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For each finding, discuss and write down the following:</a:t>
            </a:r>
          </a:p>
          <a:p>
            <a:r>
              <a:rPr lang="en-US" dirty="0"/>
              <a:t>What does this finding suggest about the problem? </a:t>
            </a:r>
          </a:p>
          <a:p>
            <a:r>
              <a:rPr lang="en-US" dirty="0"/>
              <a:t>What possible effect or impact could this have on the people, service, or organization involved?</a:t>
            </a:r>
          </a:p>
          <a:p>
            <a:r>
              <a:rPr lang="en-US" dirty="0"/>
              <a:t>Why might this matter to management?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Explain why the information matters. Do not give any solutions.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69980-A7B6-9A58-1BA0-C97B8AF21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567" y="1719264"/>
            <a:ext cx="2086233" cy="1901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C2ABDF-D23A-E797-2526-BE88D7147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476" y="4946093"/>
            <a:ext cx="5906324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617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167A-804C-3454-2C9C-CC8BECA6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0F5F-8AFB-01A3-BDE5-BBA625D1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70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What You Have Done So Far: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3975D-E265-0FA0-C2DD-59DAD7F37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Organized and analyzed your questionnaire responses</a:t>
            </a:r>
          </a:p>
          <a:p>
            <a:r>
              <a:rPr lang="en-US" dirty="0"/>
              <a:t>identified important patterns</a:t>
            </a:r>
          </a:p>
          <a:p>
            <a:r>
              <a:rPr lang="en-US" dirty="0"/>
              <a:t>selected 3 findings</a:t>
            </a:r>
          </a:p>
          <a:p>
            <a:r>
              <a:rPr lang="en-US" dirty="0"/>
              <a:t>identified evidence to support each finding</a:t>
            </a:r>
          </a:p>
          <a:p>
            <a:r>
              <a:rPr lang="en-US" dirty="0"/>
              <a:t>Interpreted each finding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Now turn this information into your Business Information Briefing.</a:t>
            </a:r>
          </a:p>
        </p:txBody>
      </p:sp>
    </p:spTree>
    <p:extLst>
      <p:ext uri="{BB962C8B-B14F-4D97-AF65-F5344CB8AC3E}">
        <p14:creationId xmlns:p14="http://schemas.microsoft.com/office/powerpoint/2010/main" val="3063290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2E6E-4ADB-9D8C-1D22-EF058D4B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7796-5E35-C00B-63A4-4F819B40E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Business Information Briefing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FCAD5-A22A-8151-C9DC-9B3610120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3775"/>
            <a:ext cx="11353800" cy="5118873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1. Introduction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2. The Problem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3. Investigation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4. Findings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5. Interpretation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6. Conclusion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b="1" dirty="0"/>
              <a:t>No solutions or recommendations.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18AFA7-7CD4-9A86-640E-95A62AA0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044" y="4383509"/>
            <a:ext cx="5772956" cy="504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E93E57-40AD-6F16-9472-7F063F5C4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476" y="1841370"/>
            <a:ext cx="2728784" cy="207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14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1643-07EC-6CE8-ECB0-5DDEF4A4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32D0-0CA3-4307-E754-0B0C3C95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Presenting Each Finding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B5929-2C57-E2D5-E3CA-5E1F00633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3775"/>
            <a:ext cx="11353800" cy="5118873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000" b="1" dirty="0"/>
              <a:t>1. FINDING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000" dirty="0"/>
              <a:t>What is the important message?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000" b="1" dirty="0"/>
              <a:t>2. EVIDENCE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000" dirty="0"/>
              <a:t>What data supports it?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000" b="1" dirty="0"/>
              <a:t>3. INTERPRETATION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000" dirty="0"/>
              <a:t>What does the evidence suggest?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000" b="1" dirty="0"/>
              <a:t>4. IMPACT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000" dirty="0"/>
              <a:t>Why does this matter to management?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000" dirty="0"/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000" b="1" dirty="0"/>
              <a:t>Keep each finding focused on the problem.</a:t>
            </a:r>
          </a:p>
        </p:txBody>
      </p:sp>
    </p:spTree>
    <p:extLst>
      <p:ext uri="{BB962C8B-B14F-4D97-AF65-F5344CB8AC3E}">
        <p14:creationId xmlns:p14="http://schemas.microsoft.com/office/powerpoint/2010/main" val="228628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C3BA0-EC98-7123-6375-ECA04F80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1C40-CFC3-DD19-3119-507D705A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Slide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0F12E-1988-13B3-88D5-F269DE5EB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3775"/>
            <a:ext cx="11353800" cy="5118873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defRPr sz="1900"/>
            </a:pPr>
            <a:r>
              <a:rPr lang="en-US" sz="2400" dirty="0"/>
              <a:t>One main message per slide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Use short phrases, not a script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Show important numbers clearly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Use a simple chart or table when it helps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Make the finding easy to see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Do not put every questionnaire response on the slide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The speaker explains; the slide supports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42398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56B04-7EF1-03A9-9599-CE38EC06A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257E-A3D5-3483-9E89-594C3EEEE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Check Data Before Briefing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CEC88-CCC6-1D35-F3CB-AEA944B0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3775"/>
            <a:ext cx="11353800" cy="5118873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b="1" dirty="0"/>
              <a:t>Check that: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• totals match the number of respondents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• percentages are calculated correctly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• categories do not overlap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• charts and labels match the data presented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• quotations are accurate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• every finding is supported by evidence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• your interpretation does not go beyond the evidence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4742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7EC3-EFF2-E91A-77E1-65EE93CF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B404-5422-456C-1551-61A1A041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5- Minute Briefing: Plan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D7CEC-34D3-0695-F13B-25AF368CE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3775"/>
            <a:ext cx="11353800" cy="5118873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Your Week 8 Briefing is 5 minutes long, followed by 2 questions from management.</a:t>
            </a:r>
            <a:endParaRPr lang="en-US" sz="2400" b="1" dirty="0"/>
          </a:p>
          <a:p>
            <a:pPr>
              <a:spcAft>
                <a:spcPts val="600"/>
              </a:spcAft>
              <a:defRPr sz="1900"/>
            </a:pPr>
            <a:endParaRPr lang="en-US" sz="2400" b="1" dirty="0"/>
          </a:p>
          <a:p>
            <a:pPr>
              <a:spcAft>
                <a:spcPts val="600"/>
              </a:spcAft>
              <a:defRPr sz="1900"/>
            </a:pPr>
            <a:r>
              <a:rPr lang="en-US" sz="2400" b="1" dirty="0"/>
              <a:t>Introduction + Problem: </a:t>
            </a:r>
            <a:r>
              <a:rPr lang="en-US" sz="2400" dirty="0"/>
              <a:t>about 45–60 seconds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b="1" dirty="0"/>
              <a:t>Investigation: </a:t>
            </a:r>
            <a:r>
              <a:rPr lang="en-US" sz="2400" dirty="0"/>
              <a:t>about 30–45 seconds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b="1" dirty="0"/>
              <a:t>3 Findings + Evidence + Interpretation: </a:t>
            </a:r>
            <a:r>
              <a:rPr lang="en-US" sz="2400" dirty="0"/>
              <a:t>about 3 minutes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b="1" dirty="0"/>
              <a:t>Conclusion: </a:t>
            </a:r>
            <a:r>
              <a:rPr lang="en-US" sz="2400" dirty="0"/>
              <a:t>about 30 seconds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dirty="0"/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dirty="0"/>
              <a:t>Rehearse with a timer.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b="1" dirty="0"/>
              <a:t>Everyone should speak.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89775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47865-AD6B-72C6-EFB3-C2C6C74C3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3A16-AB27-018B-5E51-64A1E16C9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Answering Management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8AE1D-2ADE-38A3-E559-9E385AD8E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3775"/>
            <a:ext cx="11353800" cy="5118873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defRPr sz="1900"/>
            </a:pPr>
            <a:r>
              <a:rPr lang="en-US" sz="2400" dirty="0"/>
              <a:t>Listen to the whole question.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Answer the question directly using the RARE question- answering technique.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Use your investigation as evidence.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If you do not know, say so professionally.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dirty="0"/>
              <a:t>Do not invent information.</a:t>
            </a:r>
          </a:p>
          <a:p>
            <a:pPr>
              <a:spcAft>
                <a:spcPts val="600"/>
              </a:spcAft>
              <a:defRPr sz="1900"/>
            </a:pPr>
            <a:r>
              <a:rPr lang="en-US" sz="2400" b="1" dirty="0"/>
              <a:t>Remember: </a:t>
            </a:r>
            <a:r>
              <a:rPr lang="en-US" sz="2400" dirty="0"/>
              <a:t>management is asking about your investigation and findings.</a:t>
            </a:r>
          </a:p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b="1" dirty="0"/>
              <a:t>What does RARE stand for?</a:t>
            </a:r>
          </a:p>
        </p:txBody>
      </p:sp>
    </p:spTree>
    <p:extLst>
      <p:ext uri="{BB962C8B-B14F-4D97-AF65-F5344CB8AC3E}">
        <p14:creationId xmlns:p14="http://schemas.microsoft.com/office/powerpoint/2010/main" val="841741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9CC66-3669-7E68-F2E2-7957254E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1844-1543-2190-6519-79DCA781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Business Information Briefing Deliverables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03B38-A04E-A2E9-2145-187E7058C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3775"/>
            <a:ext cx="11353800" cy="5118873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None/>
              <a:defRPr sz="1900"/>
            </a:pPr>
            <a:endParaRPr lang="en-US" sz="2400" b="1" dirty="0"/>
          </a:p>
          <a:p>
            <a:pPr marL="114300" indent="0">
              <a:spcAft>
                <a:spcPts val="600"/>
              </a:spcAft>
              <a:buNone/>
              <a:defRPr sz="1900"/>
            </a:pPr>
            <a:r>
              <a:rPr lang="en-US" sz="2400" b="1" dirty="0"/>
              <a:t>Submit the following 2 days before your next class:</a:t>
            </a:r>
          </a:p>
          <a:p>
            <a:pPr>
              <a:defRPr sz="2100"/>
            </a:pPr>
            <a:r>
              <a:rPr lang="en-US" sz="2400" dirty="0"/>
              <a:t>Meeting Request</a:t>
            </a:r>
          </a:p>
          <a:p>
            <a:pPr>
              <a:defRPr sz="2100"/>
            </a:pPr>
            <a:r>
              <a:rPr lang="en-US" sz="2400" dirty="0"/>
              <a:t>Business Briefing Planning Template</a:t>
            </a:r>
          </a:p>
          <a:p>
            <a:pPr>
              <a:defRPr sz="2100"/>
            </a:pPr>
            <a:r>
              <a:rPr lang="en-US" sz="2400" dirty="0"/>
              <a:t>Final Update to the CEO</a:t>
            </a:r>
          </a:p>
          <a:p>
            <a:pPr>
              <a:defRPr sz="2100"/>
            </a:pPr>
            <a:r>
              <a:rPr lang="en-US" sz="2400" dirty="0"/>
              <a:t>Presentation Slides</a:t>
            </a:r>
          </a:p>
          <a:p>
            <a:pPr>
              <a:defRPr sz="2100"/>
            </a:pPr>
            <a:endParaRPr lang="en-US" sz="2400" dirty="0"/>
          </a:p>
          <a:p>
            <a:pPr marL="114300" indent="0">
              <a:buNone/>
              <a:defRPr sz="2100"/>
            </a:pPr>
            <a:r>
              <a:rPr lang="en-US" sz="2400" dirty="0"/>
              <a:t>Submit ONE set of documents per group 2 days before the next class.</a:t>
            </a:r>
          </a:p>
        </p:txBody>
      </p:sp>
    </p:spTree>
    <p:extLst>
      <p:ext uri="{BB962C8B-B14F-4D97-AF65-F5344CB8AC3E}">
        <p14:creationId xmlns:p14="http://schemas.microsoft.com/office/powerpoint/2010/main" val="178641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6E21C-36B2-443D-AF8C-966E3B45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A5D9-6DF9-1200-280F-6AFC7D93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Lesson Recap: Key Takeaways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73D29-AD9A-1D54-C8CC-9D9CCDD84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353800" cy="4667252"/>
          </a:xfrm>
        </p:spPr>
        <p:txBody>
          <a:bodyPr>
            <a:noAutofit/>
          </a:bodyPr>
          <a:lstStyle/>
          <a:p>
            <a:pPr>
              <a:defRPr sz="2100"/>
            </a:pPr>
            <a:r>
              <a:rPr lang="en-US" sz="2000" dirty="0"/>
              <a:t>Good business briefings do not simply report data.</a:t>
            </a:r>
          </a:p>
          <a:p>
            <a:pPr>
              <a:defRPr sz="2100"/>
            </a:pPr>
            <a:r>
              <a:rPr lang="en-US" sz="2000" dirty="0"/>
              <a:t>They turn information into clear findings, explain what those findings suggest, and help management understand the problem.</a:t>
            </a:r>
          </a:p>
          <a:p>
            <a:pPr>
              <a:defRPr sz="2100"/>
            </a:pPr>
            <a:endParaRPr lang="en-US" sz="2000" dirty="0"/>
          </a:p>
          <a:p>
            <a:pPr marL="114300" indent="0">
              <a:buNone/>
              <a:defRPr sz="2100"/>
            </a:pPr>
            <a:r>
              <a:rPr lang="en-US" sz="2000" dirty="0"/>
              <a:t>DATA → FINDINGS → INTERPRETATION → CLEAR BUSINESS MESSAGE</a:t>
            </a:r>
          </a:p>
        </p:txBody>
      </p:sp>
    </p:spTree>
    <p:extLst>
      <p:ext uri="{BB962C8B-B14F-4D97-AF65-F5344CB8AC3E}">
        <p14:creationId xmlns:p14="http://schemas.microsoft.com/office/powerpoint/2010/main" val="70084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accent5"/>
                </a:solidFill>
              </a:rPr>
              <a:t>NOTICE:  Quiz 3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203" name="Google Shape;203;p55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119862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MyCourses Quiz 3: Business Information Briefing</a:t>
            </a:r>
            <a:endParaRPr sz="24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Consultancy Theory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Meeting Management Theory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Questionnaire Theory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Data Analysis Theory</a:t>
            </a:r>
            <a:endParaRPr sz="24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Fundamental Business Vocabulary/Phrasing</a:t>
            </a:r>
            <a:endParaRPr sz="24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Quiz Conditions:</a:t>
            </a:r>
            <a:endParaRPr sz="24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Quiz 3 will close at 23:59, Sunday 20 September 2026</a:t>
            </a:r>
            <a:endParaRPr lang="en-US" sz="24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Only one attempt allowed</a:t>
            </a:r>
            <a:endParaRPr sz="24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One hour (60 minutes) time limit</a:t>
            </a:r>
            <a:endParaRPr sz="24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Be sure to review week 6 and 7 notes and resources before your attempt</a:t>
            </a:r>
            <a:endParaRPr sz="24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GOOD LUCK!</a:t>
            </a:r>
            <a:endParaRPr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>
            <a:spLocks noGrp="1"/>
          </p:cNvSpPr>
          <p:nvPr>
            <p:ph type="title"/>
          </p:nvPr>
        </p:nvSpPr>
        <p:spPr>
          <a:xfrm>
            <a:off x="808722" y="2153266"/>
            <a:ext cx="10519678" cy="410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Calibri"/>
              <a:buNone/>
            </a:pPr>
            <a:r>
              <a:rPr lang="en-US" sz="3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Congratulations </a:t>
            </a:r>
            <a:r>
              <a:rPr lang="en-US" sz="3600" b="1" dirty="0">
                <a:latin typeface="Calibri"/>
                <a:ea typeface="Calibri"/>
                <a:cs typeface="Calibri"/>
                <a:sym typeface="Calibri"/>
              </a:rPr>
              <a:t>on surviving another class</a:t>
            </a:r>
            <a:br>
              <a:rPr lang="en-US" sz="3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THANK YOU </a:t>
            </a:r>
            <a:r>
              <a:rPr lang="en-US" sz="3600" b="1" dirty="0">
                <a:latin typeface="Calibri"/>
                <a:ea typeface="Calibri"/>
                <a:cs typeface="Calibri"/>
                <a:sym typeface="Calibri"/>
              </a:rPr>
              <a:t>for your participation today</a:t>
            </a:r>
            <a:br>
              <a:rPr lang="en-US" sz="4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4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latin typeface="Calibri"/>
                <a:ea typeface="Calibri"/>
                <a:cs typeface="Calibri"/>
                <a:sym typeface="Calibri"/>
              </a:rPr>
              <a:t>Have a great week everyone!</a:t>
            </a:r>
            <a:br>
              <a:rPr lang="en-US" sz="3000" b="1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30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latin typeface="Calibri"/>
                <a:ea typeface="Calibri"/>
                <a:cs typeface="Calibri"/>
                <a:sym typeface="Calibri"/>
              </a:rPr>
              <a:t>See you next week</a:t>
            </a:r>
            <a:br>
              <a:rPr lang="en-US" sz="30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latin typeface="Calibri"/>
                <a:ea typeface="Calibri"/>
                <a:cs typeface="Calibri"/>
                <a:sym typeface="Calibri"/>
              </a:rPr>
              <a:t>Until then, Take Care &amp; Stay Safe</a:t>
            </a:r>
            <a:endParaRPr sz="3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808722" y="40834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Finally….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4364</TotalTime>
  <Words>1653</Words>
  <Application>Microsoft Office PowerPoint</Application>
  <PresentationFormat>Widescreen</PresentationFormat>
  <Paragraphs>278</Paragraphs>
  <Slides>29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Wingdings</vt:lpstr>
      <vt:lpstr>Office Theme</vt:lpstr>
      <vt:lpstr>ITLG311 - Business Communication</vt:lpstr>
      <vt:lpstr>Previously:</vt:lpstr>
      <vt:lpstr>This Week:</vt:lpstr>
      <vt:lpstr>Resources</vt:lpstr>
      <vt:lpstr>Project Status</vt:lpstr>
      <vt:lpstr>From Responses to a Business Briefing</vt:lpstr>
      <vt:lpstr>1. Organize the Responses </vt:lpstr>
      <vt:lpstr>1.1 From Categories to Results</vt:lpstr>
      <vt:lpstr>2  Presenting Results Clearly </vt:lpstr>
      <vt:lpstr>3. Identify Key Findings and Patterns</vt:lpstr>
      <vt:lpstr>3.1 Findings</vt:lpstr>
      <vt:lpstr>4. Support Each Finding with Evidence</vt:lpstr>
      <vt:lpstr>Useful Vocabulary When Reporting Results and Findings</vt:lpstr>
      <vt:lpstr>Workshop:  Apply Data Analysis To Your Project</vt:lpstr>
      <vt:lpstr>Choose Your 3 Main Findings For Briefing</vt:lpstr>
      <vt:lpstr>PowerPoint Presentation</vt:lpstr>
      <vt:lpstr>5. Interpretation</vt:lpstr>
      <vt:lpstr>Workshop: Apply Interpretation To Your Project</vt:lpstr>
      <vt:lpstr>What You Have Done So Far:</vt:lpstr>
      <vt:lpstr>Business Information Briefing Structure</vt:lpstr>
      <vt:lpstr>Presenting Each Finding</vt:lpstr>
      <vt:lpstr>Slide Format</vt:lpstr>
      <vt:lpstr>Check Data Before Briefing</vt:lpstr>
      <vt:lpstr>5- Minute Briefing: Plan Your Time</vt:lpstr>
      <vt:lpstr>Answering Management Questions</vt:lpstr>
      <vt:lpstr>Business Information Briefing Deliverables for Next Week</vt:lpstr>
      <vt:lpstr>Lesson Recap: Key Takeaways </vt:lpstr>
      <vt:lpstr>NOTICE:  Quiz 3</vt:lpstr>
      <vt:lpstr>Congratulations on surviving another class  THANK YOU for your participation today   Have a great week everyone!  See you next week Until then, Take Care &amp; Stay Safe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ITLG301 - Business Writing</dc:title>
  <dc:creator>MUICT</dc:creator>
  <cp:lastModifiedBy>martin willemse</cp:lastModifiedBy>
  <cp:revision>91</cp:revision>
  <cp:lastPrinted>2024-08-14T07:19:40Z</cp:lastPrinted>
  <dcterms:created xsi:type="dcterms:W3CDTF">2018-08-21T03:27:20Z</dcterms:created>
  <dcterms:modified xsi:type="dcterms:W3CDTF">2026-09-14T12:08:28Z</dcterms:modified>
</cp:coreProperties>
</file>